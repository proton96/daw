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3" r:id="rId3"/>
    <p:sldId id="264" r:id="rId4"/>
    <p:sldId id="257" r:id="rId5"/>
    <p:sldId id="267" r:id="rId6"/>
    <p:sldId id="265" r:id="rId7"/>
    <p:sldId id="268" r:id="rId8"/>
    <p:sldId id="270" r:id="rId9"/>
    <p:sldId id="284" r:id="rId10"/>
    <p:sldId id="258" r:id="rId11"/>
    <p:sldId id="269" r:id="rId12"/>
    <p:sldId id="271" r:id="rId13"/>
    <p:sldId id="266" r:id="rId14"/>
    <p:sldId id="259" r:id="rId15"/>
    <p:sldId id="272" r:id="rId16"/>
    <p:sldId id="273" r:id="rId17"/>
    <p:sldId id="274" r:id="rId18"/>
    <p:sldId id="275" r:id="rId19"/>
    <p:sldId id="281" r:id="rId20"/>
    <p:sldId id="282" r:id="rId21"/>
    <p:sldId id="283" r:id="rId22"/>
    <p:sldId id="276" r:id="rId23"/>
    <p:sldId id="277" r:id="rId24"/>
    <p:sldId id="278" r:id="rId25"/>
    <p:sldId id="279"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10/22/2023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10/22/2023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smtClean="0"/>
              <a:t>TEMA 3,1</a:t>
            </a:r>
            <a:endParaRPr lang="es-ES" dirty="0"/>
          </a:p>
        </p:txBody>
      </p:sp>
      <p:sp>
        <p:nvSpPr>
          <p:cNvPr id="3" name="Subtítulo 2"/>
          <p:cNvSpPr>
            <a:spLocks noGrp="1"/>
          </p:cNvSpPr>
          <p:nvPr>
            <p:ph type="subTitle" idx="1"/>
          </p:nvPr>
        </p:nvSpPr>
        <p:spPr/>
        <p:txBody>
          <a:bodyPr/>
          <a:lstStyle/>
          <a:p>
            <a:r>
              <a:rPr lang="es-ES" dirty="0" smtClean="0"/>
              <a:t>EL MODELO RELACIONAL</a:t>
            </a:r>
            <a:endParaRPr lang="es-ES" dirty="0"/>
          </a:p>
        </p:txBody>
      </p:sp>
    </p:spTree>
    <p:extLst>
      <p:ext uri="{BB962C8B-B14F-4D97-AF65-F5344CB8AC3E}">
        <p14:creationId xmlns:p14="http://schemas.microsoft.com/office/powerpoint/2010/main" val="36035879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OBJETIVOS</a:t>
            </a:r>
            <a:endParaRPr lang="es-ES" dirty="0"/>
          </a:p>
        </p:txBody>
      </p:sp>
      <p:sp>
        <p:nvSpPr>
          <p:cNvPr id="3" name="Marcador de contenido 2"/>
          <p:cNvSpPr>
            <a:spLocks noGrp="1"/>
          </p:cNvSpPr>
          <p:nvPr>
            <p:ph idx="1"/>
          </p:nvPr>
        </p:nvSpPr>
        <p:spPr>
          <a:xfrm>
            <a:off x="677333" y="2160589"/>
            <a:ext cx="9246595" cy="690187"/>
          </a:xfrm>
        </p:spPr>
        <p:txBody>
          <a:bodyPr>
            <a:normAutofit/>
          </a:bodyPr>
          <a:lstStyle/>
          <a:p>
            <a:pPr algn="just"/>
            <a:r>
              <a:rPr lang="es-ES" sz="2800" dirty="0"/>
              <a:t>Conocer los elementos básicos del modelo relacional</a:t>
            </a:r>
            <a:r>
              <a:rPr lang="es-ES" sz="2800" dirty="0" smtClean="0"/>
              <a:t>.</a:t>
            </a:r>
            <a:endParaRPr lang="es-ES" sz="2800" dirty="0"/>
          </a:p>
        </p:txBody>
      </p:sp>
    </p:spTree>
    <p:extLst>
      <p:ext uri="{BB962C8B-B14F-4D97-AF65-F5344CB8AC3E}">
        <p14:creationId xmlns:p14="http://schemas.microsoft.com/office/powerpoint/2010/main" val="156625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GLOSARIO</a:t>
            </a:r>
            <a:endParaRPr lang="es-ES" dirty="0"/>
          </a:p>
        </p:txBody>
      </p:sp>
      <p:sp>
        <p:nvSpPr>
          <p:cNvPr id="3" name="Marcador de contenido 2"/>
          <p:cNvSpPr>
            <a:spLocks noGrp="1"/>
          </p:cNvSpPr>
          <p:nvPr>
            <p:ph idx="1"/>
          </p:nvPr>
        </p:nvSpPr>
        <p:spPr>
          <a:xfrm>
            <a:off x="349135" y="1263535"/>
            <a:ext cx="10424160" cy="5261956"/>
          </a:xfrm>
        </p:spPr>
        <p:txBody>
          <a:bodyPr>
            <a:normAutofit/>
          </a:bodyPr>
          <a:lstStyle/>
          <a:p>
            <a:r>
              <a:rPr lang="es-ES" dirty="0" smtClean="0"/>
              <a:t>Clave ajena ÑE, Clave Foránea, Clave Secundaria o </a:t>
            </a:r>
            <a:r>
              <a:rPr lang="es-ES" b="1" dirty="0" err="1" smtClean="0"/>
              <a:t>Foreign</a:t>
            </a:r>
            <a:r>
              <a:rPr lang="es-ES" b="1" dirty="0" smtClean="0"/>
              <a:t> KEY (FK):</a:t>
            </a:r>
          </a:p>
          <a:p>
            <a:pPr lvl="1"/>
            <a:r>
              <a:rPr lang="es-ES" dirty="0" smtClean="0"/>
              <a:t>En </a:t>
            </a:r>
            <a:r>
              <a:rPr lang="es-ES" dirty="0"/>
              <a:t>una base de datos relacional, presencia en una tabla de un campo que ejerce de clave primaria en otra tabla distinta</a:t>
            </a:r>
            <a:r>
              <a:rPr lang="es-ES" dirty="0" smtClean="0"/>
              <a:t>.</a:t>
            </a:r>
          </a:p>
          <a:p>
            <a:r>
              <a:rPr lang="es-ES" b="1" dirty="0"/>
              <a:t>Normalización</a:t>
            </a:r>
            <a:r>
              <a:rPr lang="es-ES" dirty="0"/>
              <a:t>. </a:t>
            </a:r>
            <a:endParaRPr lang="es-ES" dirty="0" smtClean="0"/>
          </a:p>
          <a:p>
            <a:pPr lvl="1"/>
            <a:r>
              <a:rPr lang="es-ES" dirty="0" smtClean="0"/>
              <a:t>Técnica </a:t>
            </a:r>
            <a:r>
              <a:rPr lang="es-ES" dirty="0"/>
              <a:t>para eliminar redundancias en una base de datos relacional.</a:t>
            </a:r>
          </a:p>
          <a:p>
            <a:r>
              <a:rPr lang="es-ES" b="1" dirty="0"/>
              <a:t>Perfil</a:t>
            </a:r>
            <a:r>
              <a:rPr lang="es-ES" dirty="0"/>
              <a:t>. </a:t>
            </a:r>
            <a:endParaRPr lang="es-ES" dirty="0" smtClean="0"/>
          </a:p>
          <a:p>
            <a:pPr lvl="1"/>
            <a:r>
              <a:rPr lang="es-ES" dirty="0" smtClean="0"/>
              <a:t>Patrón </a:t>
            </a:r>
            <a:r>
              <a:rPr lang="es-ES" dirty="0"/>
              <a:t>de características comunes a varios usuarios de una base de </a:t>
            </a:r>
            <a:r>
              <a:rPr lang="es-ES" dirty="0" smtClean="0"/>
              <a:t>datos (</a:t>
            </a:r>
            <a:r>
              <a:rPr lang="es-ES" dirty="0" err="1" smtClean="0"/>
              <a:t>Adm</a:t>
            </a:r>
            <a:r>
              <a:rPr lang="es-ES" dirty="0" smtClean="0"/>
              <a:t>, </a:t>
            </a:r>
            <a:r>
              <a:rPr lang="es-ES" dirty="0" err="1" smtClean="0"/>
              <a:t>user</a:t>
            </a:r>
            <a:r>
              <a:rPr lang="es-ES" dirty="0" smtClean="0"/>
              <a:t>,..).</a:t>
            </a:r>
            <a:endParaRPr lang="es-ES" dirty="0"/>
          </a:p>
          <a:p>
            <a:r>
              <a:rPr lang="es-ES" b="1" dirty="0"/>
              <a:t>Tabla</a:t>
            </a:r>
            <a:r>
              <a:rPr lang="es-ES" dirty="0"/>
              <a:t>. </a:t>
            </a:r>
            <a:endParaRPr lang="es-ES" dirty="0" smtClean="0"/>
          </a:p>
          <a:p>
            <a:pPr lvl="1"/>
            <a:r>
              <a:rPr lang="es-ES" dirty="0" smtClean="0"/>
              <a:t>Estructura </a:t>
            </a:r>
            <a:r>
              <a:rPr lang="es-ES" dirty="0"/>
              <a:t>bidimensional de almacenamiento de información presente en una base de datos relacional.</a:t>
            </a:r>
          </a:p>
          <a:p>
            <a:r>
              <a:rPr lang="es-ES" b="1" dirty="0"/>
              <a:t>Tipo de datos</a:t>
            </a:r>
            <a:r>
              <a:rPr lang="es-ES" dirty="0"/>
              <a:t>. </a:t>
            </a:r>
            <a:endParaRPr lang="es-ES" dirty="0" smtClean="0"/>
          </a:p>
          <a:p>
            <a:pPr lvl="1"/>
            <a:r>
              <a:rPr lang="es-ES" dirty="0" smtClean="0"/>
              <a:t>Definición </a:t>
            </a:r>
            <a:r>
              <a:rPr lang="es-ES" dirty="0"/>
              <a:t>de los posibles valores que puede tomar un campo de una tabla relacional.</a:t>
            </a:r>
          </a:p>
          <a:p>
            <a:r>
              <a:rPr lang="es-ES" b="1" dirty="0"/>
              <a:t>Variable</a:t>
            </a:r>
            <a:r>
              <a:rPr lang="es-ES" dirty="0"/>
              <a:t>. </a:t>
            </a:r>
            <a:endParaRPr lang="es-ES" dirty="0" smtClean="0"/>
          </a:p>
          <a:p>
            <a:pPr lvl="1"/>
            <a:r>
              <a:rPr lang="es-ES" dirty="0" smtClean="0"/>
              <a:t>Datos </a:t>
            </a:r>
            <a:r>
              <a:rPr lang="es-ES" dirty="0"/>
              <a:t>almacenados en memoria temporal cuyo contenido puede cambiar a lo largo de la ejecución de un programa.</a:t>
            </a:r>
          </a:p>
        </p:txBody>
      </p:sp>
    </p:spTree>
    <p:extLst>
      <p:ext uri="{BB962C8B-B14F-4D97-AF65-F5344CB8AC3E}">
        <p14:creationId xmlns:p14="http://schemas.microsoft.com/office/powerpoint/2010/main" val="335758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 MODELO RELACIONAL</a:t>
            </a:r>
            <a:endParaRPr lang="es-ES" dirty="0"/>
          </a:p>
        </p:txBody>
      </p:sp>
      <p:sp>
        <p:nvSpPr>
          <p:cNvPr id="3" name="Marcador de contenido 2"/>
          <p:cNvSpPr>
            <a:spLocks noGrp="1"/>
          </p:cNvSpPr>
          <p:nvPr>
            <p:ph idx="1"/>
          </p:nvPr>
        </p:nvSpPr>
        <p:spPr>
          <a:xfrm>
            <a:off x="677334" y="1676495"/>
            <a:ext cx="9936878" cy="1550798"/>
          </a:xfrm>
        </p:spPr>
        <p:txBody>
          <a:bodyPr>
            <a:normAutofit/>
          </a:bodyPr>
          <a:lstStyle/>
          <a:p>
            <a:r>
              <a:rPr lang="es-ES" dirty="0" smtClean="0"/>
              <a:t>Independiza los datos de su tratamiento.</a:t>
            </a:r>
          </a:p>
          <a:p>
            <a:r>
              <a:rPr lang="es-ES" dirty="0" smtClean="0"/>
              <a:t>Su elemento básico es la RELACION y su representación en TABLA.</a:t>
            </a:r>
          </a:p>
          <a:p>
            <a:r>
              <a:rPr lang="es-ES" dirty="0" smtClean="0"/>
              <a:t>Cada fila es una </a:t>
            </a:r>
            <a:r>
              <a:rPr lang="es-ES" dirty="0" err="1" smtClean="0"/>
              <a:t>Tupla</a:t>
            </a:r>
            <a:r>
              <a:rPr lang="es-ES" dirty="0" smtClean="0"/>
              <a:t>, que corresponden a las ocurrencias.</a:t>
            </a:r>
          </a:p>
          <a:p>
            <a:endParaRPr lang="es-ES" dirty="0" smtClean="0"/>
          </a:p>
          <a:p>
            <a:endParaRPr lang="es-ES" dirty="0"/>
          </a:p>
        </p:txBody>
      </p:sp>
      <p:pic>
        <p:nvPicPr>
          <p:cNvPr id="4" name="Imagen 3"/>
          <p:cNvPicPr>
            <a:picLocks noChangeAspect="1"/>
          </p:cNvPicPr>
          <p:nvPr/>
        </p:nvPicPr>
        <p:blipFill>
          <a:blip r:embed="rId2"/>
          <a:stretch>
            <a:fillRect/>
          </a:stretch>
        </p:blipFill>
        <p:spPr>
          <a:xfrm>
            <a:off x="677334" y="3227293"/>
            <a:ext cx="9753600" cy="3581400"/>
          </a:xfrm>
          <a:prstGeom prst="rect">
            <a:avLst/>
          </a:prstGeom>
        </p:spPr>
      </p:pic>
    </p:spTree>
    <p:extLst>
      <p:ext uri="{BB962C8B-B14F-4D97-AF65-F5344CB8AC3E}">
        <p14:creationId xmlns:p14="http://schemas.microsoft.com/office/powerpoint/2010/main" val="185465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37358" y="814898"/>
            <a:ext cx="2671693" cy="369332"/>
          </a:xfrm>
          <a:prstGeom prst="rect">
            <a:avLst/>
          </a:prstGeom>
        </p:spPr>
        <p:txBody>
          <a:bodyPr wrap="none">
            <a:spAutoFit/>
          </a:bodyPr>
          <a:lstStyle/>
          <a:p>
            <a:r>
              <a:rPr lang="es-ES" dirty="0" smtClean="0"/>
              <a:t>NOMBRE: </a:t>
            </a:r>
            <a:r>
              <a:rPr lang="es-ES" dirty="0" err="1" smtClean="0"/>
              <a:t>Tablita_Bonita</a:t>
            </a:r>
            <a:endParaRPr lang="es-ES" dirty="0"/>
          </a:p>
        </p:txBody>
      </p:sp>
      <p:pic>
        <p:nvPicPr>
          <p:cNvPr id="5" name="Imagen 4"/>
          <p:cNvPicPr>
            <a:picLocks noChangeAspect="1"/>
          </p:cNvPicPr>
          <p:nvPr/>
        </p:nvPicPr>
        <p:blipFill>
          <a:blip r:embed="rId2"/>
          <a:stretch>
            <a:fillRect/>
          </a:stretch>
        </p:blipFill>
        <p:spPr>
          <a:xfrm>
            <a:off x="4247309" y="502024"/>
            <a:ext cx="6467904" cy="1474924"/>
          </a:xfrm>
          <a:prstGeom prst="rect">
            <a:avLst/>
          </a:prstGeom>
        </p:spPr>
      </p:pic>
      <p:sp>
        <p:nvSpPr>
          <p:cNvPr id="7" name="Rectángulo 6"/>
          <p:cNvSpPr/>
          <p:nvPr/>
        </p:nvSpPr>
        <p:spPr>
          <a:xfrm>
            <a:off x="630350" y="2778169"/>
            <a:ext cx="8723424" cy="2585323"/>
          </a:xfrm>
          <a:prstGeom prst="rect">
            <a:avLst/>
          </a:prstGeom>
        </p:spPr>
        <p:txBody>
          <a:bodyPr wrap="square">
            <a:spAutoFit/>
          </a:bodyPr>
          <a:lstStyle/>
          <a:p>
            <a:pPr marL="285750" indent="-285750">
              <a:buFont typeface="Arial" panose="020B0604020202020204" pitchFamily="34" charset="0"/>
              <a:buChar char="•"/>
            </a:pPr>
            <a:r>
              <a:rPr lang="es-ES" b="1" dirty="0" smtClean="0"/>
              <a:t>En ella podemos distinguir:</a:t>
            </a:r>
          </a:p>
          <a:p>
            <a:pPr marL="742950" lvl="1" indent="-285750">
              <a:buFont typeface="Arial" panose="020B0604020202020204" pitchFamily="34" charset="0"/>
              <a:buChar char="•"/>
            </a:pPr>
            <a:r>
              <a:rPr lang="es-ES" dirty="0" smtClean="0"/>
              <a:t>Nombre de tabla.</a:t>
            </a:r>
          </a:p>
          <a:p>
            <a:pPr marL="742950" lvl="1" indent="-285750">
              <a:buFont typeface="Arial" panose="020B0604020202020204" pitchFamily="34" charset="0"/>
              <a:buChar char="•"/>
            </a:pPr>
            <a:r>
              <a:rPr lang="es-ES" dirty="0" smtClean="0"/>
              <a:t>Un conjunto de columnas denominadas </a:t>
            </a:r>
            <a:r>
              <a:rPr lang="es-ES" b="1" dirty="0" smtClean="0"/>
              <a:t>atributos o campos </a:t>
            </a:r>
            <a:r>
              <a:rPr lang="es-ES" dirty="0" smtClean="0"/>
              <a:t>que representan propiedades de la tabla </a:t>
            </a:r>
          </a:p>
          <a:p>
            <a:pPr marL="742950" lvl="1" indent="-285750">
              <a:buFont typeface="Arial" panose="020B0604020202020204" pitchFamily="34" charset="0"/>
              <a:buChar char="•"/>
            </a:pPr>
            <a:r>
              <a:rPr lang="es-ES" dirty="0" smtClean="0"/>
              <a:t>Un conjunto de filas llamadas </a:t>
            </a:r>
            <a:r>
              <a:rPr lang="es-ES" b="1" dirty="0" smtClean="0">
                <a:solidFill>
                  <a:srgbClr val="FF0000"/>
                </a:solidFill>
              </a:rPr>
              <a:t>TUPLAS</a:t>
            </a:r>
            <a:r>
              <a:rPr lang="es-ES" dirty="0" smtClean="0"/>
              <a:t> o registros que contienen valores que toma cada uno de los atributos para cada elemento de la relación </a:t>
            </a:r>
          </a:p>
          <a:p>
            <a:pPr marL="742950" lvl="1" indent="-285750">
              <a:buFont typeface="Arial" panose="020B0604020202020204" pitchFamily="34" charset="0"/>
              <a:buChar char="•"/>
            </a:pPr>
            <a:r>
              <a:rPr lang="es-ES" dirty="0" smtClean="0"/>
              <a:t>Los </a:t>
            </a:r>
            <a:r>
              <a:rPr lang="es-ES" b="1" dirty="0" smtClean="0">
                <a:solidFill>
                  <a:srgbClr val="FF0000"/>
                </a:solidFill>
              </a:rPr>
              <a:t>dominios</a:t>
            </a:r>
            <a:r>
              <a:rPr lang="es-ES" dirty="0" smtClean="0"/>
              <a:t>, de donde los atributos toman sus valores; varios atributos pueden tomar valores del mismo dominio</a:t>
            </a:r>
          </a:p>
          <a:p>
            <a:pPr marL="742950" lvl="1" indent="-285750">
              <a:buFont typeface="Arial" panose="020B0604020202020204" pitchFamily="34" charset="0"/>
              <a:buChar char="•"/>
            </a:pPr>
            <a:r>
              <a:rPr lang="es-ES" dirty="0" smtClean="0"/>
              <a:t>El </a:t>
            </a:r>
            <a:r>
              <a:rPr lang="es-ES" b="1" dirty="0" smtClean="0">
                <a:solidFill>
                  <a:srgbClr val="FF0000"/>
                </a:solidFill>
              </a:rPr>
              <a:t>grado</a:t>
            </a:r>
            <a:r>
              <a:rPr lang="es-ES" dirty="0" smtClean="0"/>
              <a:t>, que es el número de atributos, campos o columnas </a:t>
            </a:r>
          </a:p>
        </p:txBody>
      </p:sp>
    </p:spTree>
    <p:extLst>
      <p:ext uri="{BB962C8B-B14F-4D97-AF65-F5344CB8AC3E}">
        <p14:creationId xmlns:p14="http://schemas.microsoft.com/office/powerpoint/2010/main" val="35861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DOMINIO</a:t>
            </a:r>
            <a:endParaRPr lang="es-ES" dirty="0"/>
          </a:p>
        </p:txBody>
      </p:sp>
      <p:sp>
        <p:nvSpPr>
          <p:cNvPr id="3" name="Marcador de contenido 2"/>
          <p:cNvSpPr>
            <a:spLocks noGrp="1"/>
          </p:cNvSpPr>
          <p:nvPr>
            <p:ph idx="1"/>
          </p:nvPr>
        </p:nvSpPr>
        <p:spPr>
          <a:xfrm>
            <a:off x="677334" y="1452378"/>
            <a:ext cx="10555442" cy="2587716"/>
          </a:xfrm>
        </p:spPr>
        <p:txBody>
          <a:bodyPr>
            <a:normAutofit/>
          </a:bodyPr>
          <a:lstStyle/>
          <a:p>
            <a:r>
              <a:rPr lang="es-ES" dirty="0" smtClean="0"/>
              <a:t>Conjunto de valores que puede tomar un atributo.</a:t>
            </a:r>
          </a:p>
          <a:p>
            <a:pPr lvl="1"/>
            <a:r>
              <a:rPr lang="es-ES" dirty="0" smtClean="0"/>
              <a:t>En apellido, podría ser el conjunto de caracteres alfanuméricos que podrían entrar en la celda, según el numero de caracteres permitidos.</a:t>
            </a:r>
          </a:p>
          <a:p>
            <a:pPr lvl="1"/>
            <a:r>
              <a:rPr lang="es-ES" dirty="0" smtClean="0"/>
              <a:t>Día Semana.</a:t>
            </a:r>
          </a:p>
          <a:p>
            <a:pPr lvl="1"/>
            <a:r>
              <a:rPr lang="es-ES" dirty="0" smtClean="0"/>
              <a:t>DNI: Formado por 9 caracteres alfanuméricos los 8 primeros deben ser números.</a:t>
            </a:r>
          </a:p>
          <a:p>
            <a:pPr lvl="1"/>
            <a:r>
              <a:rPr lang="es-ES" dirty="0" smtClean="0"/>
              <a:t>Booleano: Si un equipo esta encendido o apagado tendrá 2 dominios.</a:t>
            </a:r>
          </a:p>
          <a:p>
            <a:r>
              <a:rPr lang="es-ES" dirty="0" smtClean="0"/>
              <a:t>También se le asigna DOMINIO a aquellos valores ya predefinidos en un atributo.</a:t>
            </a:r>
          </a:p>
          <a:p>
            <a:pPr lvl="1"/>
            <a:endParaRPr lang="es-ES" dirty="0"/>
          </a:p>
        </p:txBody>
      </p:sp>
      <p:sp>
        <p:nvSpPr>
          <p:cNvPr id="5" name="Rectángulo 4"/>
          <p:cNvSpPr/>
          <p:nvPr/>
        </p:nvSpPr>
        <p:spPr>
          <a:xfrm>
            <a:off x="2500334" y="4697602"/>
            <a:ext cx="4465242" cy="1754326"/>
          </a:xfrm>
          <a:prstGeom prst="rect">
            <a:avLst/>
          </a:prstGeom>
        </p:spPr>
        <p:txBody>
          <a:bodyPr wrap="square">
            <a:spAutoFit/>
          </a:bodyPr>
          <a:lstStyle/>
          <a:p>
            <a:pPr marL="285750" indent="-285750">
              <a:buFont typeface="Arial" panose="020B0604020202020204" pitchFamily="34" charset="0"/>
              <a:buChar char="•"/>
            </a:pPr>
            <a:r>
              <a:rPr lang="es-ES" dirty="0"/>
              <a:t>Números enteros.</a:t>
            </a:r>
          </a:p>
          <a:p>
            <a:pPr marL="285750" indent="-285750">
              <a:buFont typeface="Arial" panose="020B0604020202020204" pitchFamily="34" charset="0"/>
              <a:buChar char="•"/>
            </a:pPr>
            <a:r>
              <a:rPr lang="es-ES" dirty="0"/>
              <a:t>Números decimales.</a:t>
            </a:r>
          </a:p>
          <a:p>
            <a:pPr marL="285750" indent="-285750">
              <a:buFont typeface="Arial" panose="020B0604020202020204" pitchFamily="34" charset="0"/>
              <a:buChar char="•"/>
            </a:pPr>
            <a:r>
              <a:rPr lang="es-ES" dirty="0"/>
              <a:t>Cadenas de caracteres.</a:t>
            </a:r>
          </a:p>
          <a:p>
            <a:pPr marL="285750" indent="-285750">
              <a:buFont typeface="Arial" panose="020B0604020202020204" pitchFamily="34" charset="0"/>
              <a:buChar char="•"/>
            </a:pPr>
            <a:r>
              <a:rPr lang="es-ES" dirty="0"/>
              <a:t>Fechas y horas.</a:t>
            </a:r>
          </a:p>
          <a:p>
            <a:pPr marL="285750" indent="-285750">
              <a:buFont typeface="Arial" panose="020B0604020202020204" pitchFamily="34" charset="0"/>
              <a:buChar char="•"/>
            </a:pPr>
            <a:r>
              <a:rPr lang="es-ES" dirty="0"/>
              <a:t>Valores lógicos (verdadero o falso).</a:t>
            </a:r>
          </a:p>
          <a:p>
            <a:pPr marL="285750" indent="-285750">
              <a:buFont typeface="Arial" panose="020B0604020202020204" pitchFamily="34" charset="0"/>
              <a:buChar char="•"/>
            </a:pPr>
            <a:r>
              <a:rPr lang="es-ES" dirty="0"/>
              <a:t>Objetos (ficheros binarios).</a:t>
            </a:r>
          </a:p>
        </p:txBody>
      </p:sp>
      <p:sp>
        <p:nvSpPr>
          <p:cNvPr id="6" name="Rectángulo 5"/>
          <p:cNvSpPr/>
          <p:nvPr/>
        </p:nvSpPr>
        <p:spPr>
          <a:xfrm>
            <a:off x="677334" y="4184182"/>
            <a:ext cx="1905971" cy="369332"/>
          </a:xfrm>
          <a:prstGeom prst="rect">
            <a:avLst/>
          </a:prstGeom>
        </p:spPr>
        <p:txBody>
          <a:bodyPr wrap="none">
            <a:spAutoFit/>
          </a:bodyPr>
          <a:lstStyle/>
          <a:p>
            <a:r>
              <a:rPr lang="es-ES" b="1" dirty="0" smtClean="0"/>
              <a:t>TIPOS DE DATOS</a:t>
            </a:r>
            <a:endParaRPr lang="es-ES" b="1" dirty="0"/>
          </a:p>
        </p:txBody>
      </p:sp>
    </p:spTree>
    <p:extLst>
      <p:ext uri="{BB962C8B-B14F-4D97-AF65-F5344CB8AC3E}">
        <p14:creationId xmlns:p14="http://schemas.microsoft.com/office/powerpoint/2010/main" val="420346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animEffect transition="in" filter="fade">
                                      <p:cBhvr>
                                        <p:cTn id="37" dur="500"/>
                                        <p:tgtEl>
                                          <p:spTgt spid="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Effect transition="in" filter="fade">
                                      <p:cBhvr>
                                        <p:cTn id="47" dur="500"/>
                                        <p:tgtEl>
                                          <p:spTgt spid="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fade">
                                      <p:cBhvr>
                                        <p:cTn id="52" dur="500"/>
                                        <p:tgtEl>
                                          <p:spTgt spid="5">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3" end="3"/>
                                            </p:txEl>
                                          </p:spTgt>
                                        </p:tgtEl>
                                        <p:attrNameLst>
                                          <p:attrName>style.visibility</p:attrName>
                                        </p:attrNameLst>
                                      </p:cBhvr>
                                      <p:to>
                                        <p:strVal val="visible"/>
                                      </p:to>
                                    </p:set>
                                    <p:animEffect transition="in" filter="fade">
                                      <p:cBhvr>
                                        <p:cTn id="57" dur="500"/>
                                        <p:tgtEl>
                                          <p:spTgt spid="5">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4" end="4"/>
                                            </p:txEl>
                                          </p:spTgt>
                                        </p:tgtEl>
                                        <p:attrNameLst>
                                          <p:attrName>style.visibility</p:attrName>
                                        </p:attrNameLst>
                                      </p:cBhvr>
                                      <p:to>
                                        <p:strVal val="visible"/>
                                      </p:to>
                                    </p:set>
                                    <p:animEffect transition="in" filter="fade">
                                      <p:cBhvr>
                                        <p:cTn id="62" dur="500"/>
                                        <p:tgtEl>
                                          <p:spTgt spid="5">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animEffect transition="in" filter="fade">
                                      <p:cBhvr>
                                        <p:cTn id="6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001805" y="279865"/>
            <a:ext cx="9603441" cy="6382485"/>
          </a:xfrm>
          <a:prstGeom prst="rect">
            <a:avLst/>
          </a:prstGeom>
        </p:spPr>
      </p:pic>
      <p:sp>
        <p:nvSpPr>
          <p:cNvPr id="2" name="Rectángulo 1"/>
          <p:cNvSpPr/>
          <p:nvPr/>
        </p:nvSpPr>
        <p:spPr>
          <a:xfrm>
            <a:off x="7855527" y="4181302"/>
            <a:ext cx="1454727" cy="15212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40745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CLAVES</a:t>
            </a:r>
            <a:endParaRPr lang="es-ES" dirty="0"/>
          </a:p>
        </p:txBody>
      </p:sp>
      <p:sp>
        <p:nvSpPr>
          <p:cNvPr id="3" name="Marcador de contenido 2"/>
          <p:cNvSpPr>
            <a:spLocks noGrp="1"/>
          </p:cNvSpPr>
          <p:nvPr>
            <p:ph idx="1"/>
          </p:nvPr>
        </p:nvSpPr>
        <p:spPr>
          <a:xfrm>
            <a:off x="677334" y="1445695"/>
            <a:ext cx="8596668" cy="2793796"/>
          </a:xfrm>
        </p:spPr>
        <p:txBody>
          <a:bodyPr/>
          <a:lstStyle/>
          <a:p>
            <a:pPr algn="just"/>
            <a:r>
              <a:rPr lang="es-ES" dirty="0"/>
              <a:t>U</a:t>
            </a:r>
            <a:r>
              <a:rPr lang="es-ES" dirty="0" smtClean="0"/>
              <a:t>na </a:t>
            </a:r>
            <a:r>
              <a:rPr lang="es-ES" b="1" dirty="0"/>
              <a:t>clave candidata </a:t>
            </a:r>
            <a:r>
              <a:rPr lang="es-ES" dirty="0"/>
              <a:t>de una relación es un </a:t>
            </a:r>
            <a:r>
              <a:rPr lang="es-ES" dirty="0" smtClean="0"/>
              <a:t>atributo o conjunto </a:t>
            </a:r>
            <a:r>
              <a:rPr lang="es-ES" dirty="0"/>
              <a:t>de atributos que identifican de forma única y mínimamente cada </a:t>
            </a:r>
            <a:r>
              <a:rPr lang="es-ES" dirty="0" err="1"/>
              <a:t>tupla</a:t>
            </a:r>
            <a:r>
              <a:rPr lang="es-ES" dirty="0"/>
              <a:t> de la relación. </a:t>
            </a:r>
            <a:endParaRPr lang="es-ES" dirty="0" smtClean="0"/>
          </a:p>
          <a:p>
            <a:pPr lvl="1" algn="just"/>
            <a:r>
              <a:rPr lang="es-ES" dirty="0" smtClean="0"/>
              <a:t>Por </a:t>
            </a:r>
            <a:r>
              <a:rPr lang="es-ES" dirty="0"/>
              <a:t>la propia definición de relación, siempre hay, al menos, una clave candidata. </a:t>
            </a:r>
            <a:endParaRPr lang="es-ES" dirty="0" smtClean="0"/>
          </a:p>
          <a:p>
            <a:pPr algn="just"/>
            <a:r>
              <a:rPr lang="es-ES" dirty="0"/>
              <a:t>se debe distinguir</a:t>
            </a:r>
            <a:r>
              <a:rPr lang="es-ES" dirty="0" smtClean="0"/>
              <a:t>:</a:t>
            </a:r>
          </a:p>
          <a:p>
            <a:pPr lvl="1" algn="just"/>
            <a:r>
              <a:rPr lang="es-ES" dirty="0" smtClean="0"/>
              <a:t>Clave </a:t>
            </a:r>
            <a:r>
              <a:rPr lang="es-ES" dirty="0"/>
              <a:t>primaria o principal: es aquella clave candidata que el usuario </a:t>
            </a:r>
            <a:r>
              <a:rPr lang="es-ES" dirty="0" smtClean="0"/>
              <a:t>escogerá, para </a:t>
            </a:r>
            <a:r>
              <a:rPr lang="es-ES" dirty="0"/>
              <a:t>identificar las </a:t>
            </a:r>
            <a:r>
              <a:rPr lang="es-ES" dirty="0" err="1"/>
              <a:t>tuplas</a:t>
            </a:r>
            <a:r>
              <a:rPr lang="es-ES" dirty="0"/>
              <a:t> de la relación</a:t>
            </a:r>
            <a:r>
              <a:rPr lang="es-ES" dirty="0" smtClean="0"/>
              <a:t>.</a:t>
            </a:r>
          </a:p>
          <a:p>
            <a:pPr lvl="1" algn="just"/>
            <a:r>
              <a:rPr lang="es-ES" dirty="0"/>
              <a:t>Claves alternativas: son aquellas candidatas que no han sido escogidas como clave primaria</a:t>
            </a:r>
            <a:r>
              <a:rPr lang="es-ES" dirty="0" smtClean="0"/>
              <a:t>.</a:t>
            </a:r>
          </a:p>
          <a:p>
            <a:endParaRPr lang="es-ES" dirty="0"/>
          </a:p>
        </p:txBody>
      </p:sp>
      <p:sp>
        <p:nvSpPr>
          <p:cNvPr id="4" name="Rectángulo 3"/>
          <p:cNvSpPr/>
          <p:nvPr/>
        </p:nvSpPr>
        <p:spPr>
          <a:xfrm>
            <a:off x="677334" y="4802435"/>
            <a:ext cx="9761912"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ES" b="1" dirty="0" smtClean="0"/>
              <a:t>FOREIGN KEY</a:t>
            </a:r>
          </a:p>
          <a:p>
            <a:pPr algn="just"/>
            <a:r>
              <a:rPr lang="es-ES" dirty="0" smtClean="0"/>
              <a:t>Se </a:t>
            </a:r>
            <a:r>
              <a:rPr lang="es-ES" dirty="0"/>
              <a:t>denomina </a:t>
            </a:r>
            <a:r>
              <a:rPr lang="es-ES" dirty="0" smtClean="0"/>
              <a:t>‘’</a:t>
            </a:r>
            <a:r>
              <a:rPr lang="es-ES" dirty="0" err="1" smtClean="0"/>
              <a:t>Foreign</a:t>
            </a:r>
            <a:r>
              <a:rPr lang="es-ES" dirty="0" smtClean="0"/>
              <a:t> Key’’ de </a:t>
            </a:r>
            <a:r>
              <a:rPr lang="es-ES" dirty="0"/>
              <a:t>una relación R2 a un conjunto no vacío de atributos cuyos valores han de coincidir con los valores de la clave candidata de una relación R1. La clave ajena y la correspondiente clave candidata han de estar definidas sobre el mismo </a:t>
            </a:r>
            <a:r>
              <a:rPr lang="es-ES" dirty="0" smtClean="0"/>
              <a:t>dominio.</a:t>
            </a:r>
            <a:endParaRPr lang="es-ES" dirty="0"/>
          </a:p>
        </p:txBody>
      </p:sp>
    </p:spTree>
    <p:extLst>
      <p:ext uri="{BB962C8B-B14F-4D97-AF65-F5344CB8AC3E}">
        <p14:creationId xmlns:p14="http://schemas.microsoft.com/office/powerpoint/2010/main" val="186420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ccess 2007: Tipos de relaciones en Ac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899" y="869747"/>
            <a:ext cx="5276850" cy="280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25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NORMALIZACION</a:t>
            </a:r>
            <a:endParaRPr lang="es-ES" dirty="0"/>
          </a:p>
        </p:txBody>
      </p:sp>
      <p:sp>
        <p:nvSpPr>
          <p:cNvPr id="3" name="Marcador de contenido 2"/>
          <p:cNvSpPr>
            <a:spLocks noGrp="1"/>
          </p:cNvSpPr>
          <p:nvPr>
            <p:ph idx="1"/>
          </p:nvPr>
        </p:nvSpPr>
        <p:spPr>
          <a:xfrm>
            <a:off x="517891" y="1470634"/>
            <a:ext cx="8509731" cy="2384190"/>
          </a:xfrm>
        </p:spPr>
        <p:txBody>
          <a:bodyPr>
            <a:normAutofit/>
          </a:bodyPr>
          <a:lstStyle/>
          <a:p>
            <a:r>
              <a:rPr lang="es-ES" dirty="0" smtClean="0"/>
              <a:t>Consiste en llevar todas las relaciones a sus estados normales.</a:t>
            </a:r>
          </a:p>
          <a:p>
            <a:r>
              <a:rPr lang="es-ES" dirty="0" smtClean="0"/>
              <a:t>Esto se hace para cumplir las restricciones inherentes al modelo Relacional.</a:t>
            </a:r>
          </a:p>
          <a:p>
            <a:r>
              <a:rPr lang="es-ES" dirty="0" smtClean="0"/>
              <a:t>Normas </a:t>
            </a:r>
            <a:r>
              <a:rPr lang="es-ES" dirty="0"/>
              <a:t>de eliminación de redundancias:</a:t>
            </a:r>
          </a:p>
          <a:p>
            <a:pPr lvl="1"/>
            <a:r>
              <a:rPr lang="es-ES" dirty="0" smtClean="0"/>
              <a:t>Primera </a:t>
            </a:r>
            <a:r>
              <a:rPr lang="es-ES" dirty="0"/>
              <a:t>forma normal (1FN).</a:t>
            </a:r>
          </a:p>
          <a:p>
            <a:pPr lvl="1"/>
            <a:r>
              <a:rPr lang="es-ES" dirty="0"/>
              <a:t>Segunda forma normal (2FN).</a:t>
            </a:r>
          </a:p>
          <a:p>
            <a:pPr lvl="1"/>
            <a:r>
              <a:rPr lang="es-ES" dirty="0" smtClean="0"/>
              <a:t>Tercera </a:t>
            </a:r>
            <a:r>
              <a:rPr lang="es-ES" dirty="0"/>
              <a:t>forma normal (3FN</a:t>
            </a:r>
            <a:r>
              <a:rPr lang="es-ES" dirty="0" smtClean="0"/>
              <a:t>).</a:t>
            </a:r>
            <a:endParaRPr lang="es-ES" dirty="0"/>
          </a:p>
        </p:txBody>
      </p:sp>
      <p:sp>
        <p:nvSpPr>
          <p:cNvPr id="7" name="Marcador de contenido 2"/>
          <p:cNvSpPr txBox="1">
            <a:spLocks/>
          </p:cNvSpPr>
          <p:nvPr/>
        </p:nvSpPr>
        <p:spPr>
          <a:xfrm>
            <a:off x="3504931" y="4327082"/>
            <a:ext cx="8509731" cy="279379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s-ES" dirty="0"/>
              <a:t>Las restricciones inherentes del modelo relacional son las siguientes:</a:t>
            </a:r>
          </a:p>
          <a:p>
            <a:pPr lvl="1">
              <a:buFont typeface="Wingdings" panose="05000000000000000000" pitchFamily="2" charset="2"/>
              <a:buChar char="Ø"/>
            </a:pPr>
            <a:r>
              <a:rPr lang="es-ES" dirty="0"/>
              <a:t>No hay dos </a:t>
            </a:r>
            <a:r>
              <a:rPr lang="es-ES" dirty="0" err="1"/>
              <a:t>tuplas</a:t>
            </a:r>
            <a:r>
              <a:rPr lang="es-ES" dirty="0"/>
              <a:t> iguales.</a:t>
            </a:r>
          </a:p>
          <a:p>
            <a:pPr lvl="1">
              <a:buFont typeface="Wingdings" panose="05000000000000000000" pitchFamily="2" charset="2"/>
              <a:buChar char="Ø"/>
            </a:pPr>
            <a:r>
              <a:rPr lang="es-ES" dirty="0"/>
              <a:t>El orden de las </a:t>
            </a:r>
            <a:r>
              <a:rPr lang="es-ES" dirty="0" err="1"/>
              <a:t>tuplas</a:t>
            </a:r>
            <a:r>
              <a:rPr lang="es-ES" dirty="0"/>
              <a:t> no es significativo.</a:t>
            </a:r>
          </a:p>
          <a:p>
            <a:pPr lvl="1">
              <a:buFont typeface="Wingdings" panose="05000000000000000000" pitchFamily="2" charset="2"/>
              <a:buChar char="Ø"/>
            </a:pPr>
            <a:r>
              <a:rPr lang="es-ES" dirty="0"/>
              <a:t>El orden de los atributos no es significativo.</a:t>
            </a:r>
          </a:p>
          <a:p>
            <a:pPr lvl="1">
              <a:buFont typeface="Wingdings" panose="05000000000000000000" pitchFamily="2" charset="2"/>
              <a:buChar char="Ø"/>
            </a:pPr>
            <a:r>
              <a:rPr lang="es-ES" b="1" dirty="0"/>
              <a:t>Cada atributo sólo puede tomar un único valor del dominio sobre el que está definido, no admitiéndose por tanto los grupos repetitivos. Se dice que una tabla que cumple esta condición está en </a:t>
            </a:r>
            <a:r>
              <a:rPr lang="es-ES" b="1" dirty="0">
                <a:solidFill>
                  <a:srgbClr val="FF0000"/>
                </a:solidFill>
              </a:rPr>
              <a:t>primera forma normal</a:t>
            </a:r>
            <a:r>
              <a:rPr lang="es-ES" b="1" dirty="0"/>
              <a:t>.</a:t>
            </a:r>
          </a:p>
        </p:txBody>
      </p:sp>
    </p:spTree>
    <p:extLst>
      <p:ext uri="{BB962C8B-B14F-4D97-AF65-F5344CB8AC3E}">
        <p14:creationId xmlns:p14="http://schemas.microsoft.com/office/powerpoint/2010/main" val="267942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fade">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fade">
                                      <p:cBhvr>
                                        <p:cTn id="42" dur="500"/>
                                        <p:tgtEl>
                                          <p:spTgt spid="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Effect transition="in" filter="fade">
                                      <p:cBhvr>
                                        <p:cTn id="47" dur="500"/>
                                        <p:tgtEl>
                                          <p:spTgt spid="7">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3" end="3"/>
                                            </p:txEl>
                                          </p:spTgt>
                                        </p:tgtEl>
                                        <p:attrNameLst>
                                          <p:attrName>style.visibility</p:attrName>
                                        </p:attrNameLst>
                                      </p:cBhvr>
                                      <p:to>
                                        <p:strVal val="visible"/>
                                      </p:to>
                                    </p:set>
                                    <p:animEffect transition="in" filter="fade">
                                      <p:cBhvr>
                                        <p:cTn id="52" dur="500"/>
                                        <p:tgtEl>
                                          <p:spTgt spid="7">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4" end="4"/>
                                            </p:txEl>
                                          </p:spTgt>
                                        </p:tgtEl>
                                        <p:attrNameLst>
                                          <p:attrName>style.visibility</p:attrName>
                                        </p:attrNameLst>
                                      </p:cBhvr>
                                      <p:to>
                                        <p:strVal val="visible"/>
                                      </p:to>
                                    </p:set>
                                    <p:animEffect transition="in" filter="fade">
                                      <p:cBhvr>
                                        <p:cTn id="5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62000"/>
          </a:xfrm>
        </p:spPr>
        <p:txBody>
          <a:bodyPr/>
          <a:lstStyle/>
          <a:p>
            <a:r>
              <a:rPr lang="es-ES" dirty="0" smtClean="0"/>
              <a:t>PRIMERA FORMA NORMAL (1FN)</a:t>
            </a:r>
            <a:endParaRPr lang="es-ES" dirty="0"/>
          </a:p>
        </p:txBody>
      </p:sp>
      <p:pic>
        <p:nvPicPr>
          <p:cNvPr id="4" name="Imagen 3"/>
          <p:cNvPicPr>
            <a:picLocks noChangeAspect="1"/>
          </p:cNvPicPr>
          <p:nvPr/>
        </p:nvPicPr>
        <p:blipFill>
          <a:blip r:embed="rId2"/>
          <a:stretch>
            <a:fillRect/>
          </a:stretch>
        </p:blipFill>
        <p:spPr>
          <a:xfrm>
            <a:off x="499574" y="2647625"/>
            <a:ext cx="4686300" cy="2171700"/>
          </a:xfrm>
          <a:prstGeom prst="rect">
            <a:avLst/>
          </a:prstGeom>
        </p:spPr>
      </p:pic>
      <p:cxnSp>
        <p:nvCxnSpPr>
          <p:cNvPr id="6" name="Conector recto de flecha 5"/>
          <p:cNvCxnSpPr/>
          <p:nvPr/>
        </p:nvCxnSpPr>
        <p:spPr>
          <a:xfrm>
            <a:off x="5377240" y="3584885"/>
            <a:ext cx="433357" cy="47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Imagen 6"/>
          <p:cNvPicPr>
            <a:picLocks noChangeAspect="1"/>
          </p:cNvPicPr>
          <p:nvPr/>
        </p:nvPicPr>
        <p:blipFill>
          <a:blip r:embed="rId3"/>
          <a:stretch>
            <a:fillRect/>
          </a:stretch>
        </p:blipFill>
        <p:spPr>
          <a:xfrm>
            <a:off x="6001963" y="2647625"/>
            <a:ext cx="4743450" cy="2276475"/>
          </a:xfrm>
          <a:prstGeom prst="rect">
            <a:avLst/>
          </a:prstGeom>
        </p:spPr>
      </p:pic>
      <p:sp>
        <p:nvSpPr>
          <p:cNvPr id="8" name="CuadroTexto 7"/>
          <p:cNvSpPr txBox="1"/>
          <p:nvPr/>
        </p:nvSpPr>
        <p:spPr>
          <a:xfrm>
            <a:off x="6118167" y="2535382"/>
            <a:ext cx="1246909" cy="369332"/>
          </a:xfrm>
          <a:prstGeom prst="rect">
            <a:avLst/>
          </a:prstGeom>
          <a:noFill/>
        </p:spPr>
        <p:txBody>
          <a:bodyPr wrap="square" rtlCol="0">
            <a:spAutoFit/>
          </a:bodyPr>
          <a:lstStyle/>
          <a:p>
            <a:r>
              <a:rPr lang="es-ES" dirty="0" smtClean="0"/>
              <a:t>1F</a:t>
            </a:r>
            <a:endParaRPr lang="es-ES" dirty="0"/>
          </a:p>
        </p:txBody>
      </p:sp>
      <p:sp>
        <p:nvSpPr>
          <p:cNvPr id="9" name="CuadroTexto 8"/>
          <p:cNvSpPr txBox="1"/>
          <p:nvPr/>
        </p:nvSpPr>
        <p:spPr>
          <a:xfrm>
            <a:off x="5876021" y="4998976"/>
            <a:ext cx="4995333"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dirty="0" smtClean="0"/>
              <a:t>Pero tenemos a ‘’</a:t>
            </a:r>
            <a:r>
              <a:rPr lang="es-ES" dirty="0" err="1" smtClean="0"/>
              <a:t>petit</a:t>
            </a:r>
            <a:r>
              <a:rPr lang="es-ES" dirty="0" smtClean="0"/>
              <a:t>’’ problema, además del ‘’humor’’ del profe.</a:t>
            </a:r>
            <a:endParaRPr lang="es-ES" dirty="0"/>
          </a:p>
        </p:txBody>
      </p:sp>
      <p:sp>
        <p:nvSpPr>
          <p:cNvPr id="12" name="Rectángulo 11"/>
          <p:cNvSpPr/>
          <p:nvPr/>
        </p:nvSpPr>
        <p:spPr>
          <a:xfrm>
            <a:off x="677334" y="1710030"/>
            <a:ext cx="6995313" cy="369332"/>
          </a:xfrm>
          <a:prstGeom prst="rect">
            <a:avLst/>
          </a:prstGeom>
        </p:spPr>
        <p:txBody>
          <a:bodyPr wrap="square">
            <a:spAutoFit/>
          </a:bodyPr>
          <a:lstStyle/>
          <a:p>
            <a:pPr marL="285750" indent="-285750">
              <a:buFont typeface="Wingdings" panose="05000000000000000000" pitchFamily="2" charset="2"/>
              <a:buChar char="Ø"/>
            </a:pPr>
            <a:r>
              <a:rPr lang="es-ES" dirty="0" smtClean="0"/>
              <a:t>Se considera que esta en 1FN si todos sus valores son atómicos.</a:t>
            </a:r>
            <a:endParaRPr lang="es-ES" dirty="0"/>
          </a:p>
        </p:txBody>
      </p:sp>
      <p:pic>
        <p:nvPicPr>
          <p:cNvPr id="1026" name="Picture 2" descr="Radioactive Man (superhéroe) | Simpson Wiki en Español | Fand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4902" y="47214"/>
            <a:ext cx="1884477" cy="2345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42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fade">
                                      <p:cBhvr>
                                        <p:cTn id="23" dur="500"/>
                                        <p:tgtEl>
                                          <p:spTgt spid="10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randombar(horizontal)">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86938"/>
          </a:xfrm>
        </p:spPr>
        <p:txBody>
          <a:bodyPr/>
          <a:lstStyle/>
          <a:p>
            <a:r>
              <a:rPr lang="es-ES" dirty="0" smtClean="0"/>
              <a:t>Una solución posible seria:</a:t>
            </a:r>
            <a:endParaRPr lang="es-ES" dirty="0"/>
          </a:p>
        </p:txBody>
      </p:sp>
      <p:pic>
        <p:nvPicPr>
          <p:cNvPr id="4" name="Imagen 3"/>
          <p:cNvPicPr>
            <a:picLocks noChangeAspect="1"/>
          </p:cNvPicPr>
          <p:nvPr/>
        </p:nvPicPr>
        <p:blipFill>
          <a:blip r:embed="rId2"/>
          <a:stretch>
            <a:fillRect/>
          </a:stretch>
        </p:blipFill>
        <p:spPr>
          <a:xfrm>
            <a:off x="836381" y="1697095"/>
            <a:ext cx="3686175" cy="1285875"/>
          </a:xfrm>
          <a:prstGeom prst="rect">
            <a:avLst/>
          </a:prstGeom>
        </p:spPr>
      </p:pic>
      <p:sp>
        <p:nvSpPr>
          <p:cNvPr id="5" name="CuadroTexto 4"/>
          <p:cNvSpPr txBox="1"/>
          <p:nvPr/>
        </p:nvSpPr>
        <p:spPr>
          <a:xfrm>
            <a:off x="1862051" y="3098861"/>
            <a:ext cx="1289135" cy="369332"/>
          </a:xfrm>
          <a:prstGeom prst="rect">
            <a:avLst/>
          </a:prstGeom>
          <a:noFill/>
        </p:spPr>
        <p:txBody>
          <a:bodyPr wrap="none" rtlCol="0">
            <a:spAutoFit/>
          </a:bodyPr>
          <a:lstStyle/>
          <a:p>
            <a:r>
              <a:rPr lang="es-ES" dirty="0" smtClean="0"/>
              <a:t>Empleados</a:t>
            </a:r>
            <a:endParaRPr lang="es-ES" dirty="0"/>
          </a:p>
        </p:txBody>
      </p:sp>
      <p:pic>
        <p:nvPicPr>
          <p:cNvPr id="6" name="Imagen 5"/>
          <p:cNvPicPr>
            <a:picLocks noChangeAspect="1"/>
          </p:cNvPicPr>
          <p:nvPr/>
        </p:nvPicPr>
        <p:blipFill>
          <a:blip r:embed="rId3"/>
          <a:stretch>
            <a:fillRect/>
          </a:stretch>
        </p:blipFill>
        <p:spPr>
          <a:xfrm>
            <a:off x="6940694" y="4100946"/>
            <a:ext cx="2466975" cy="1981200"/>
          </a:xfrm>
          <a:prstGeom prst="rect">
            <a:avLst/>
          </a:prstGeom>
        </p:spPr>
      </p:pic>
      <p:sp>
        <p:nvSpPr>
          <p:cNvPr id="7" name="CuadroTexto 6"/>
          <p:cNvSpPr txBox="1"/>
          <p:nvPr/>
        </p:nvSpPr>
        <p:spPr>
          <a:xfrm>
            <a:off x="7010401" y="3674723"/>
            <a:ext cx="2295950" cy="369332"/>
          </a:xfrm>
          <a:prstGeom prst="rect">
            <a:avLst/>
          </a:prstGeom>
          <a:noFill/>
        </p:spPr>
        <p:txBody>
          <a:bodyPr wrap="none" rtlCol="0">
            <a:spAutoFit/>
          </a:bodyPr>
          <a:lstStyle/>
          <a:p>
            <a:r>
              <a:rPr lang="es-ES" dirty="0" err="1" smtClean="0"/>
              <a:t>Empleados_Telefono</a:t>
            </a:r>
            <a:endParaRPr lang="es-ES" dirty="0"/>
          </a:p>
        </p:txBody>
      </p:sp>
      <p:sp>
        <p:nvSpPr>
          <p:cNvPr id="8" name="CuadroTexto 7"/>
          <p:cNvSpPr txBox="1"/>
          <p:nvPr/>
        </p:nvSpPr>
        <p:spPr>
          <a:xfrm>
            <a:off x="6566592" y="2637196"/>
            <a:ext cx="3215177"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s-ES" dirty="0" smtClean="0"/>
              <a:t>Como el libro no lo explica el profe no lo sabe, que esta mal en esta tabla.</a:t>
            </a:r>
            <a:endParaRPr lang="es-ES" dirty="0"/>
          </a:p>
        </p:txBody>
      </p:sp>
      <p:graphicFrame>
        <p:nvGraphicFramePr>
          <p:cNvPr id="9" name="Tabla 8"/>
          <p:cNvGraphicFramePr>
            <a:graphicFrameLocks noGrp="1"/>
          </p:cNvGraphicFramePr>
          <p:nvPr>
            <p:extLst>
              <p:ext uri="{D42A27DB-BD31-4B8C-83A1-F6EECF244321}">
                <p14:modId xmlns:p14="http://schemas.microsoft.com/office/powerpoint/2010/main" val="2453108345"/>
              </p:ext>
            </p:extLst>
          </p:nvPr>
        </p:nvGraphicFramePr>
        <p:xfrm>
          <a:off x="5881668" y="4238106"/>
          <a:ext cx="1188000" cy="170688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1667035196"/>
                    </a:ext>
                  </a:extLst>
                </a:gridCol>
              </a:tblGrid>
              <a:tr h="195459">
                <a:tc>
                  <a:txBody>
                    <a:bodyPr/>
                    <a:lstStyle/>
                    <a:p>
                      <a:r>
                        <a:rPr lang="es-ES" sz="1000" dirty="0" smtClean="0"/>
                        <a:t>ID</a:t>
                      </a:r>
                    </a:p>
                  </a:txBody>
                  <a:tcPr/>
                </a:tc>
                <a:extLst>
                  <a:ext uri="{0D108BD9-81ED-4DB2-BD59-A6C34878D82A}">
                    <a16:rowId xmlns:a16="http://schemas.microsoft.com/office/drawing/2014/main" val="3089224674"/>
                  </a:ext>
                </a:extLst>
              </a:tr>
              <a:tr h="195459">
                <a:tc>
                  <a:txBody>
                    <a:bodyPr/>
                    <a:lstStyle/>
                    <a:p>
                      <a:r>
                        <a:rPr lang="es-ES" sz="1000" dirty="0" smtClean="0"/>
                        <a:t>1</a:t>
                      </a:r>
                      <a:endParaRPr lang="es-ES" sz="1000" dirty="0"/>
                    </a:p>
                  </a:txBody>
                  <a:tcPr/>
                </a:tc>
                <a:extLst>
                  <a:ext uri="{0D108BD9-81ED-4DB2-BD59-A6C34878D82A}">
                    <a16:rowId xmlns:a16="http://schemas.microsoft.com/office/drawing/2014/main" val="2504897136"/>
                  </a:ext>
                </a:extLst>
              </a:tr>
              <a:tr h="195459">
                <a:tc>
                  <a:txBody>
                    <a:bodyPr/>
                    <a:lstStyle/>
                    <a:p>
                      <a:r>
                        <a:rPr lang="es-ES" sz="1000" dirty="0" smtClean="0"/>
                        <a:t>2</a:t>
                      </a:r>
                      <a:endParaRPr lang="es-ES" sz="1000" dirty="0"/>
                    </a:p>
                  </a:txBody>
                  <a:tcPr/>
                </a:tc>
                <a:extLst>
                  <a:ext uri="{0D108BD9-81ED-4DB2-BD59-A6C34878D82A}">
                    <a16:rowId xmlns:a16="http://schemas.microsoft.com/office/drawing/2014/main" val="854218202"/>
                  </a:ext>
                </a:extLst>
              </a:tr>
              <a:tr h="195459">
                <a:tc>
                  <a:txBody>
                    <a:bodyPr/>
                    <a:lstStyle/>
                    <a:p>
                      <a:r>
                        <a:rPr lang="es-ES" sz="1000" dirty="0" smtClean="0"/>
                        <a:t>3</a:t>
                      </a:r>
                      <a:endParaRPr lang="es-ES" sz="1000" dirty="0"/>
                    </a:p>
                  </a:txBody>
                  <a:tcPr/>
                </a:tc>
                <a:extLst>
                  <a:ext uri="{0D108BD9-81ED-4DB2-BD59-A6C34878D82A}">
                    <a16:rowId xmlns:a16="http://schemas.microsoft.com/office/drawing/2014/main" val="1173369034"/>
                  </a:ext>
                </a:extLst>
              </a:tr>
              <a:tr h="195459">
                <a:tc>
                  <a:txBody>
                    <a:bodyPr/>
                    <a:lstStyle/>
                    <a:p>
                      <a:r>
                        <a:rPr lang="es-ES" sz="1000" dirty="0" smtClean="0"/>
                        <a:t>4</a:t>
                      </a:r>
                      <a:endParaRPr lang="es-ES" sz="1000" dirty="0"/>
                    </a:p>
                  </a:txBody>
                  <a:tcPr/>
                </a:tc>
                <a:extLst>
                  <a:ext uri="{0D108BD9-81ED-4DB2-BD59-A6C34878D82A}">
                    <a16:rowId xmlns:a16="http://schemas.microsoft.com/office/drawing/2014/main" val="1596317152"/>
                  </a:ext>
                </a:extLst>
              </a:tr>
              <a:tr h="195459">
                <a:tc>
                  <a:txBody>
                    <a:bodyPr/>
                    <a:lstStyle/>
                    <a:p>
                      <a:r>
                        <a:rPr lang="es-ES" sz="1000" dirty="0" smtClean="0"/>
                        <a:t>5</a:t>
                      </a:r>
                      <a:endParaRPr lang="es-ES" sz="1000" dirty="0"/>
                    </a:p>
                  </a:txBody>
                  <a:tcPr/>
                </a:tc>
                <a:extLst>
                  <a:ext uri="{0D108BD9-81ED-4DB2-BD59-A6C34878D82A}">
                    <a16:rowId xmlns:a16="http://schemas.microsoft.com/office/drawing/2014/main" val="4033442356"/>
                  </a:ext>
                </a:extLst>
              </a:tr>
              <a:tr h="195459">
                <a:tc>
                  <a:txBody>
                    <a:bodyPr/>
                    <a:lstStyle/>
                    <a:p>
                      <a:r>
                        <a:rPr lang="es-ES" sz="1000" dirty="0" smtClean="0"/>
                        <a:t>6</a:t>
                      </a:r>
                      <a:endParaRPr lang="es-ES" sz="1000" dirty="0"/>
                    </a:p>
                  </a:txBody>
                  <a:tcPr/>
                </a:tc>
                <a:extLst>
                  <a:ext uri="{0D108BD9-81ED-4DB2-BD59-A6C34878D82A}">
                    <a16:rowId xmlns:a16="http://schemas.microsoft.com/office/drawing/2014/main" val="1315921731"/>
                  </a:ext>
                </a:extLst>
              </a:tr>
            </a:tbl>
          </a:graphicData>
        </a:graphic>
      </p:graphicFrame>
      <p:sp>
        <p:nvSpPr>
          <p:cNvPr id="10" name="CuadroTexto 9"/>
          <p:cNvSpPr txBox="1"/>
          <p:nvPr/>
        </p:nvSpPr>
        <p:spPr>
          <a:xfrm>
            <a:off x="6940694" y="6125183"/>
            <a:ext cx="151794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s-ES" dirty="0" smtClean="0"/>
              <a:t>SOLUCIONAO</a:t>
            </a:r>
            <a:endParaRPr lang="es-ES" dirty="0"/>
          </a:p>
        </p:txBody>
      </p:sp>
    </p:spTree>
    <p:extLst>
      <p:ext uri="{BB962C8B-B14F-4D97-AF65-F5344CB8AC3E}">
        <p14:creationId xmlns:p14="http://schemas.microsoft.com/office/powerpoint/2010/main" val="258785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80">
                                          <p:stCondLst>
                                            <p:cond delay="0"/>
                                          </p:stCondLst>
                                        </p:cTn>
                                        <p:tgtEl>
                                          <p:spTgt spid="10"/>
                                        </p:tgtEl>
                                      </p:cBhvr>
                                    </p:animEffect>
                                    <p:anim calcmode="lin" valueType="num">
                                      <p:cBhvr>
                                        <p:cTn id="3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41" dur="26">
                                          <p:stCondLst>
                                            <p:cond delay="650"/>
                                          </p:stCondLst>
                                        </p:cTn>
                                        <p:tgtEl>
                                          <p:spTgt spid="10"/>
                                        </p:tgtEl>
                                      </p:cBhvr>
                                      <p:to x="100000" y="60000"/>
                                    </p:animScale>
                                    <p:animScale>
                                      <p:cBhvr>
                                        <p:cTn id="42" dur="166" decel="50000">
                                          <p:stCondLst>
                                            <p:cond delay="676"/>
                                          </p:stCondLst>
                                        </p:cTn>
                                        <p:tgtEl>
                                          <p:spTgt spid="10"/>
                                        </p:tgtEl>
                                      </p:cBhvr>
                                      <p:to x="100000" y="100000"/>
                                    </p:animScale>
                                    <p:animScale>
                                      <p:cBhvr>
                                        <p:cTn id="43" dur="26">
                                          <p:stCondLst>
                                            <p:cond delay="1312"/>
                                          </p:stCondLst>
                                        </p:cTn>
                                        <p:tgtEl>
                                          <p:spTgt spid="10"/>
                                        </p:tgtEl>
                                      </p:cBhvr>
                                      <p:to x="100000" y="80000"/>
                                    </p:animScale>
                                    <p:animScale>
                                      <p:cBhvr>
                                        <p:cTn id="44" dur="166" decel="50000">
                                          <p:stCondLst>
                                            <p:cond delay="1338"/>
                                          </p:stCondLst>
                                        </p:cTn>
                                        <p:tgtEl>
                                          <p:spTgt spid="10"/>
                                        </p:tgtEl>
                                      </p:cBhvr>
                                      <p:to x="100000" y="100000"/>
                                    </p:animScale>
                                    <p:animScale>
                                      <p:cBhvr>
                                        <p:cTn id="45" dur="26">
                                          <p:stCondLst>
                                            <p:cond delay="1642"/>
                                          </p:stCondLst>
                                        </p:cTn>
                                        <p:tgtEl>
                                          <p:spTgt spid="10"/>
                                        </p:tgtEl>
                                      </p:cBhvr>
                                      <p:to x="100000" y="90000"/>
                                    </p:animScale>
                                    <p:animScale>
                                      <p:cBhvr>
                                        <p:cTn id="46" dur="166" decel="50000">
                                          <p:stCondLst>
                                            <p:cond delay="1668"/>
                                          </p:stCondLst>
                                        </p:cTn>
                                        <p:tgtEl>
                                          <p:spTgt spid="10"/>
                                        </p:tgtEl>
                                      </p:cBhvr>
                                      <p:to x="100000" y="100000"/>
                                    </p:animScale>
                                    <p:animScale>
                                      <p:cBhvr>
                                        <p:cTn id="47" dur="26">
                                          <p:stCondLst>
                                            <p:cond delay="1808"/>
                                          </p:stCondLst>
                                        </p:cTn>
                                        <p:tgtEl>
                                          <p:spTgt spid="10"/>
                                        </p:tgtEl>
                                      </p:cBhvr>
                                      <p:to x="100000" y="95000"/>
                                    </p:animScale>
                                    <p:animScale>
                                      <p:cBhvr>
                                        <p:cTn id="48"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20436"/>
          </a:xfrm>
        </p:spPr>
        <p:txBody>
          <a:bodyPr/>
          <a:lstStyle/>
          <a:p>
            <a:r>
              <a:rPr lang="es-ES" dirty="0" smtClean="0"/>
              <a:t>OS TOCA: ACTIVIDAD 3,1</a:t>
            </a:r>
            <a:endParaRPr lang="es-ES" dirty="0"/>
          </a:p>
        </p:txBody>
      </p:sp>
      <p:pic>
        <p:nvPicPr>
          <p:cNvPr id="4" name="Imagen 3"/>
          <p:cNvPicPr>
            <a:picLocks noChangeAspect="1"/>
          </p:cNvPicPr>
          <p:nvPr/>
        </p:nvPicPr>
        <p:blipFill>
          <a:blip r:embed="rId2"/>
          <a:stretch>
            <a:fillRect/>
          </a:stretch>
        </p:blipFill>
        <p:spPr>
          <a:xfrm>
            <a:off x="677334" y="1452822"/>
            <a:ext cx="6962775" cy="2838450"/>
          </a:xfrm>
          <a:prstGeom prst="rect">
            <a:avLst/>
          </a:prstGeom>
        </p:spPr>
      </p:pic>
      <p:sp>
        <p:nvSpPr>
          <p:cNvPr id="5" name="CuadroTexto 4"/>
          <p:cNvSpPr txBox="1"/>
          <p:nvPr/>
        </p:nvSpPr>
        <p:spPr>
          <a:xfrm>
            <a:off x="6219345" y="4414058"/>
            <a:ext cx="3215177"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s-ES" dirty="0" smtClean="0"/>
              <a:t>Actividad 3,1</a:t>
            </a:r>
          </a:p>
          <a:p>
            <a:pPr algn="just"/>
            <a:r>
              <a:rPr lang="es-ES" dirty="0" smtClean="0"/>
              <a:t>Arreglarme esta aberración.</a:t>
            </a:r>
            <a:endParaRPr lang="es-ES" dirty="0"/>
          </a:p>
        </p:txBody>
      </p:sp>
    </p:spTree>
    <p:extLst>
      <p:ext uri="{BB962C8B-B14F-4D97-AF65-F5344CB8AC3E}">
        <p14:creationId xmlns:p14="http://schemas.microsoft.com/office/powerpoint/2010/main" val="157775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SEGUNDA FORMA NORMAL (2FN)</a:t>
            </a:r>
            <a:endParaRPr lang="es-ES" dirty="0"/>
          </a:p>
        </p:txBody>
      </p:sp>
      <p:sp>
        <p:nvSpPr>
          <p:cNvPr id="3" name="Marcador de contenido 2"/>
          <p:cNvSpPr>
            <a:spLocks noGrp="1"/>
          </p:cNvSpPr>
          <p:nvPr>
            <p:ph idx="1"/>
          </p:nvPr>
        </p:nvSpPr>
        <p:spPr>
          <a:xfrm>
            <a:off x="677334" y="1810967"/>
            <a:ext cx="8596668" cy="1281858"/>
          </a:xfrm>
        </p:spPr>
        <p:txBody>
          <a:bodyPr/>
          <a:lstStyle/>
          <a:p>
            <a:r>
              <a:rPr lang="es-ES" dirty="0" smtClean="0"/>
              <a:t>Esta en 2FN:</a:t>
            </a:r>
          </a:p>
          <a:p>
            <a:pPr lvl="1"/>
            <a:r>
              <a:rPr lang="es-ES" dirty="0" smtClean="0"/>
              <a:t>Cumple 1FN</a:t>
            </a:r>
          </a:p>
          <a:p>
            <a:pPr lvl="1"/>
            <a:r>
              <a:rPr lang="es-ES" dirty="0" smtClean="0"/>
              <a:t>Todos los atributos que no pertenecen a la PK dependen de ella por completo.</a:t>
            </a:r>
            <a:endParaRPr lang="es-ES" dirty="0"/>
          </a:p>
        </p:txBody>
      </p:sp>
      <p:pic>
        <p:nvPicPr>
          <p:cNvPr id="4" name="Imagen 3"/>
          <p:cNvPicPr>
            <a:picLocks noChangeAspect="1"/>
          </p:cNvPicPr>
          <p:nvPr/>
        </p:nvPicPr>
        <p:blipFill>
          <a:blip r:embed="rId2"/>
          <a:stretch>
            <a:fillRect/>
          </a:stretch>
        </p:blipFill>
        <p:spPr>
          <a:xfrm>
            <a:off x="677334" y="4229661"/>
            <a:ext cx="5010150" cy="1733550"/>
          </a:xfrm>
          <a:prstGeom prst="rect">
            <a:avLst/>
          </a:prstGeom>
        </p:spPr>
      </p:pic>
      <p:pic>
        <p:nvPicPr>
          <p:cNvPr id="5" name="Imagen 4"/>
          <p:cNvPicPr>
            <a:picLocks noChangeAspect="1"/>
          </p:cNvPicPr>
          <p:nvPr/>
        </p:nvPicPr>
        <p:blipFill>
          <a:blip r:embed="rId3"/>
          <a:stretch>
            <a:fillRect/>
          </a:stretch>
        </p:blipFill>
        <p:spPr>
          <a:xfrm>
            <a:off x="7099206" y="3515286"/>
            <a:ext cx="3228975" cy="3162300"/>
          </a:xfrm>
          <a:prstGeom prst="rect">
            <a:avLst/>
          </a:prstGeom>
        </p:spPr>
      </p:pic>
      <p:cxnSp>
        <p:nvCxnSpPr>
          <p:cNvPr id="7" name="Conector recto de flecha 6"/>
          <p:cNvCxnSpPr/>
          <p:nvPr/>
        </p:nvCxnSpPr>
        <p:spPr>
          <a:xfrm flipV="1">
            <a:off x="5687484" y="4132729"/>
            <a:ext cx="1322916" cy="75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a:stCxn id="4" idx="3"/>
          </p:cNvCxnSpPr>
          <p:nvPr/>
        </p:nvCxnSpPr>
        <p:spPr>
          <a:xfrm>
            <a:off x="5687484" y="5096436"/>
            <a:ext cx="1475316" cy="1008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45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Actividad 3,2</a:t>
            </a:r>
            <a:endParaRPr lang="es-ES" dirty="0"/>
          </a:p>
        </p:txBody>
      </p:sp>
      <p:pic>
        <p:nvPicPr>
          <p:cNvPr id="4" name="Imagen 3"/>
          <p:cNvPicPr>
            <a:picLocks noChangeAspect="1"/>
          </p:cNvPicPr>
          <p:nvPr/>
        </p:nvPicPr>
        <p:blipFill>
          <a:blip r:embed="rId2"/>
          <a:stretch>
            <a:fillRect/>
          </a:stretch>
        </p:blipFill>
        <p:spPr>
          <a:xfrm>
            <a:off x="921403" y="1666314"/>
            <a:ext cx="10490668" cy="4514503"/>
          </a:xfrm>
          <a:prstGeom prst="rect">
            <a:avLst/>
          </a:prstGeom>
        </p:spPr>
      </p:pic>
    </p:spTree>
    <p:extLst>
      <p:ext uri="{BB962C8B-B14F-4D97-AF65-F5344CB8AC3E}">
        <p14:creationId xmlns:p14="http://schemas.microsoft.com/office/powerpoint/2010/main" val="2365633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860612"/>
          </a:xfrm>
        </p:spPr>
        <p:txBody>
          <a:bodyPr/>
          <a:lstStyle/>
          <a:p>
            <a:r>
              <a:rPr lang="es-ES" dirty="0" smtClean="0"/>
              <a:t>TERCERA FORMA NORMAL (3FN)</a:t>
            </a:r>
            <a:endParaRPr lang="es-ES" dirty="0"/>
          </a:p>
        </p:txBody>
      </p:sp>
      <p:sp>
        <p:nvSpPr>
          <p:cNvPr id="3" name="Marcador de contenido 2"/>
          <p:cNvSpPr>
            <a:spLocks noGrp="1"/>
          </p:cNvSpPr>
          <p:nvPr>
            <p:ph idx="1"/>
          </p:nvPr>
        </p:nvSpPr>
        <p:spPr>
          <a:xfrm>
            <a:off x="677334" y="1658472"/>
            <a:ext cx="8596668" cy="1467114"/>
          </a:xfrm>
        </p:spPr>
        <p:txBody>
          <a:bodyPr/>
          <a:lstStyle/>
          <a:p>
            <a:pPr algn="just"/>
            <a:r>
              <a:rPr lang="es-ES" dirty="0"/>
              <a:t>Esta en </a:t>
            </a:r>
            <a:r>
              <a:rPr lang="es-ES" dirty="0" smtClean="0"/>
              <a:t>3FN</a:t>
            </a:r>
            <a:r>
              <a:rPr lang="es-ES" dirty="0"/>
              <a:t>:</a:t>
            </a:r>
          </a:p>
          <a:p>
            <a:pPr lvl="1" algn="just"/>
            <a:r>
              <a:rPr lang="es-ES" dirty="0"/>
              <a:t>Cumple </a:t>
            </a:r>
            <a:r>
              <a:rPr lang="es-ES" dirty="0" smtClean="0"/>
              <a:t>2FN</a:t>
            </a:r>
            <a:endParaRPr lang="es-ES" dirty="0"/>
          </a:p>
          <a:p>
            <a:pPr lvl="1" algn="just"/>
            <a:r>
              <a:rPr lang="es-ES" dirty="0"/>
              <a:t>Todos los atributos que no forman parte de la clave primaria son independientes entre sí, es decir, no dan información sobre otros atributos de la relación.</a:t>
            </a:r>
          </a:p>
        </p:txBody>
      </p:sp>
      <p:pic>
        <p:nvPicPr>
          <p:cNvPr id="4" name="Imagen 3"/>
          <p:cNvPicPr>
            <a:picLocks noChangeAspect="1"/>
          </p:cNvPicPr>
          <p:nvPr/>
        </p:nvPicPr>
        <p:blipFill>
          <a:blip r:embed="rId2"/>
          <a:stretch>
            <a:fillRect/>
          </a:stretch>
        </p:blipFill>
        <p:spPr>
          <a:xfrm>
            <a:off x="162704" y="3904477"/>
            <a:ext cx="5731019" cy="1508163"/>
          </a:xfrm>
          <a:prstGeom prst="rect">
            <a:avLst/>
          </a:prstGeom>
        </p:spPr>
      </p:pic>
      <p:pic>
        <p:nvPicPr>
          <p:cNvPr id="5" name="Imagen 4"/>
          <p:cNvPicPr>
            <a:picLocks noChangeAspect="1"/>
          </p:cNvPicPr>
          <p:nvPr/>
        </p:nvPicPr>
        <p:blipFill>
          <a:blip r:embed="rId3"/>
          <a:stretch>
            <a:fillRect/>
          </a:stretch>
        </p:blipFill>
        <p:spPr>
          <a:xfrm>
            <a:off x="6371387" y="3135294"/>
            <a:ext cx="5524125" cy="3046527"/>
          </a:xfrm>
          <a:prstGeom prst="rect">
            <a:avLst/>
          </a:prstGeom>
        </p:spPr>
      </p:pic>
    </p:spTree>
    <p:extLst>
      <p:ext uri="{BB962C8B-B14F-4D97-AF65-F5344CB8AC3E}">
        <p14:creationId xmlns:p14="http://schemas.microsoft.com/office/powerpoint/2010/main" val="216639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88894"/>
          </a:xfrm>
        </p:spPr>
        <p:txBody>
          <a:bodyPr/>
          <a:lstStyle/>
          <a:p>
            <a:r>
              <a:rPr lang="es-ES" dirty="0" smtClean="0"/>
              <a:t>RESTRICCIONES INHERENTES</a:t>
            </a:r>
            <a:endParaRPr lang="es-ES" dirty="0"/>
          </a:p>
        </p:txBody>
      </p:sp>
      <p:sp>
        <p:nvSpPr>
          <p:cNvPr id="3" name="Marcador de contenido 2"/>
          <p:cNvSpPr>
            <a:spLocks noGrp="1"/>
          </p:cNvSpPr>
          <p:nvPr>
            <p:ph idx="1"/>
          </p:nvPr>
        </p:nvSpPr>
        <p:spPr>
          <a:xfrm>
            <a:off x="677334" y="1649507"/>
            <a:ext cx="9130054" cy="2581834"/>
          </a:xfrm>
        </p:spPr>
        <p:txBody>
          <a:bodyPr/>
          <a:lstStyle/>
          <a:p>
            <a:r>
              <a:rPr lang="es-ES" dirty="0" smtClean="0"/>
              <a:t>Además de las restricciones anteriores:</a:t>
            </a:r>
          </a:p>
          <a:p>
            <a:pPr lvl="1" algn="just">
              <a:buFont typeface="Wingdings" panose="05000000000000000000" pitchFamily="2" charset="2"/>
              <a:buChar char="Ø"/>
            </a:pPr>
            <a:r>
              <a:rPr lang="es-ES" dirty="0" smtClean="0"/>
              <a:t>No </a:t>
            </a:r>
            <a:r>
              <a:rPr lang="es-ES" dirty="0"/>
              <a:t>hay dos </a:t>
            </a:r>
            <a:r>
              <a:rPr lang="es-ES" dirty="0" err="1"/>
              <a:t>tuplas</a:t>
            </a:r>
            <a:r>
              <a:rPr lang="es-ES" dirty="0"/>
              <a:t> iguales.</a:t>
            </a:r>
          </a:p>
          <a:p>
            <a:pPr lvl="1" algn="just">
              <a:buFont typeface="Wingdings" panose="05000000000000000000" pitchFamily="2" charset="2"/>
              <a:buChar char="Ø"/>
            </a:pPr>
            <a:r>
              <a:rPr lang="es-ES" dirty="0"/>
              <a:t>El orden de las </a:t>
            </a:r>
            <a:r>
              <a:rPr lang="es-ES" dirty="0" err="1"/>
              <a:t>tuplas</a:t>
            </a:r>
            <a:r>
              <a:rPr lang="es-ES" dirty="0"/>
              <a:t> no es significativo.</a:t>
            </a:r>
          </a:p>
          <a:p>
            <a:pPr lvl="1" algn="just">
              <a:buFont typeface="Wingdings" panose="05000000000000000000" pitchFamily="2" charset="2"/>
              <a:buChar char="Ø"/>
            </a:pPr>
            <a:r>
              <a:rPr lang="es-ES" dirty="0"/>
              <a:t>El orden de los atributos no es significativo.</a:t>
            </a:r>
          </a:p>
          <a:p>
            <a:pPr lvl="1" algn="just">
              <a:buFont typeface="Wingdings" panose="05000000000000000000" pitchFamily="2" charset="2"/>
              <a:buChar char="Ø"/>
            </a:pPr>
            <a:r>
              <a:rPr lang="es-ES" b="1" dirty="0"/>
              <a:t>Cada atributo sólo puede tomar un único valor del dominio sobre el que está definido, no admitiéndose por tanto los grupos repetitivos. Se dice que una tabla que cumple esta condición está en </a:t>
            </a:r>
            <a:r>
              <a:rPr lang="es-ES" b="1" dirty="0">
                <a:solidFill>
                  <a:srgbClr val="FF0000"/>
                </a:solidFill>
              </a:rPr>
              <a:t>primera forma normal</a:t>
            </a:r>
            <a:r>
              <a:rPr lang="es-ES" b="1" dirty="0"/>
              <a:t>.</a:t>
            </a:r>
          </a:p>
          <a:p>
            <a:pPr lvl="1"/>
            <a:endParaRPr lang="es-ES" dirty="0"/>
          </a:p>
        </p:txBody>
      </p:sp>
      <p:sp>
        <p:nvSpPr>
          <p:cNvPr id="5" name="Rectángulo 4"/>
          <p:cNvSpPr/>
          <p:nvPr/>
        </p:nvSpPr>
        <p:spPr>
          <a:xfrm>
            <a:off x="677335" y="4697508"/>
            <a:ext cx="5831042"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s-ES" b="1" dirty="0"/>
              <a:t>REGLA DE INTEGRIDAD DE ENTIDAD</a:t>
            </a:r>
          </a:p>
          <a:p>
            <a:r>
              <a:rPr lang="es-ES" dirty="0"/>
              <a:t>"Ningún atributo que forme parte de la clave primaria de una relación puede tomar un valor nulo (desconocido o inexistente)"</a:t>
            </a:r>
          </a:p>
        </p:txBody>
      </p:sp>
      <p:pic>
        <p:nvPicPr>
          <p:cNvPr id="6" name="Imagen 5"/>
          <p:cNvPicPr>
            <a:picLocks noChangeAspect="1"/>
          </p:cNvPicPr>
          <p:nvPr/>
        </p:nvPicPr>
        <p:blipFill>
          <a:blip r:embed="rId2"/>
          <a:stretch>
            <a:fillRect/>
          </a:stretch>
        </p:blipFill>
        <p:spPr>
          <a:xfrm>
            <a:off x="6885357" y="4401670"/>
            <a:ext cx="4777289" cy="1666496"/>
          </a:xfrm>
          <a:prstGeom prst="rect">
            <a:avLst/>
          </a:prstGeom>
        </p:spPr>
      </p:pic>
      <p:sp>
        <p:nvSpPr>
          <p:cNvPr id="7" name="Rectángulo 6"/>
          <p:cNvSpPr/>
          <p:nvPr/>
        </p:nvSpPr>
        <p:spPr>
          <a:xfrm>
            <a:off x="7288306" y="5297672"/>
            <a:ext cx="1057835" cy="1439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6" name="Picture 2" descr="Lámina fotográfica for Sale con la obra «I caca, emoji gracioso, meme» de  Special-Art1 | Redbub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9121" y="2940424"/>
            <a:ext cx="893525" cy="1191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92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26"/>
                                        </p:tgtEl>
                                        <p:attrNameLst>
                                          <p:attrName>style.visibility</p:attrName>
                                        </p:attrNameLst>
                                      </p:cBhvr>
                                      <p:to>
                                        <p:strVal val="visible"/>
                                      </p:to>
                                    </p:set>
                                    <p:animEffect transition="in" filter="fade">
                                      <p:cBhvr>
                                        <p:cTn id="44"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44071"/>
          </a:xfrm>
        </p:spPr>
        <p:txBody>
          <a:bodyPr/>
          <a:lstStyle/>
          <a:p>
            <a:r>
              <a:rPr lang="es-ES" dirty="0" smtClean="0"/>
              <a:t>RESTRICCIONES SEMANTICAS</a:t>
            </a:r>
            <a:endParaRPr lang="es-ES" dirty="0"/>
          </a:p>
        </p:txBody>
      </p:sp>
      <p:sp>
        <p:nvSpPr>
          <p:cNvPr id="3" name="Marcador de contenido 2"/>
          <p:cNvSpPr>
            <a:spLocks noGrp="1"/>
          </p:cNvSpPr>
          <p:nvPr>
            <p:ph idx="1"/>
          </p:nvPr>
        </p:nvSpPr>
        <p:spPr>
          <a:xfrm>
            <a:off x="677334" y="1497107"/>
            <a:ext cx="9174878" cy="4544256"/>
          </a:xfrm>
        </p:spPr>
        <p:txBody>
          <a:bodyPr/>
          <a:lstStyle/>
          <a:p>
            <a:r>
              <a:rPr lang="es-ES" dirty="0" smtClean="0"/>
              <a:t>Principales restricciones:</a:t>
            </a:r>
          </a:p>
          <a:p>
            <a:pPr algn="just"/>
            <a:r>
              <a:rPr lang="es-ES" b="1" dirty="0"/>
              <a:t>Clave primaria</a:t>
            </a:r>
            <a:r>
              <a:rPr lang="es-ES" dirty="0"/>
              <a:t>. </a:t>
            </a:r>
            <a:endParaRPr lang="es-ES" dirty="0" smtClean="0"/>
          </a:p>
          <a:p>
            <a:pPr lvl="1" algn="just"/>
            <a:r>
              <a:rPr lang="es-ES" dirty="0" smtClean="0"/>
              <a:t>Permite </a:t>
            </a:r>
            <a:r>
              <a:rPr lang="es-ES" dirty="0"/>
              <a:t>declarar un atributo o un conjunto de </a:t>
            </a:r>
            <a:r>
              <a:rPr lang="es-ES" dirty="0" smtClean="0"/>
              <a:t>atributos.</a:t>
            </a:r>
          </a:p>
          <a:p>
            <a:pPr lvl="1" algn="just"/>
            <a:r>
              <a:rPr lang="es-ES" dirty="0" smtClean="0"/>
              <a:t>La </a:t>
            </a:r>
            <a:r>
              <a:rPr lang="es-ES" dirty="0"/>
              <a:t>obligatoriedad de la clave primaria es una restricción inherente del modelo </a:t>
            </a:r>
            <a:r>
              <a:rPr lang="es-ES" dirty="0" smtClean="0"/>
              <a:t>relacional.</a:t>
            </a:r>
          </a:p>
          <a:p>
            <a:pPr lvl="1" algn="just"/>
            <a:r>
              <a:rPr lang="es-ES" dirty="0" smtClean="0"/>
              <a:t>La clave </a:t>
            </a:r>
            <a:r>
              <a:rPr lang="es-ES" dirty="0"/>
              <a:t>primaria </a:t>
            </a:r>
            <a:r>
              <a:rPr lang="es-ES" dirty="0" smtClean="0"/>
              <a:t>no se puede repetir ni </a:t>
            </a:r>
            <a:r>
              <a:rPr lang="es-ES" dirty="0"/>
              <a:t>tampoco </a:t>
            </a:r>
            <a:r>
              <a:rPr lang="es-ES" dirty="0" smtClean="0"/>
              <a:t>puede tomar </a:t>
            </a:r>
            <a:r>
              <a:rPr lang="es-ES" dirty="0"/>
              <a:t>valores nulos.</a:t>
            </a:r>
          </a:p>
          <a:p>
            <a:pPr algn="just"/>
            <a:r>
              <a:rPr lang="es-ES" b="1" dirty="0"/>
              <a:t>Integridad referencial</a:t>
            </a:r>
            <a:r>
              <a:rPr lang="es-ES" dirty="0"/>
              <a:t>. </a:t>
            </a:r>
            <a:endParaRPr lang="es-ES" dirty="0" smtClean="0"/>
          </a:p>
          <a:p>
            <a:pPr lvl="1" algn="just"/>
            <a:r>
              <a:rPr lang="es-ES" dirty="0" smtClean="0"/>
              <a:t>Si </a:t>
            </a:r>
            <a:r>
              <a:rPr lang="es-ES" dirty="0"/>
              <a:t>una relación R2 (relación que referencia) tiene un descriptor que es una clave candidata de la relación R1 (relación referenciada), todo valor de dicho descriptor debe concordar con un valor de la clave candidata referenciada de R1 o bien ser nulo. El descriptor es, por tanto, una clave ajena de la relación R2.</a:t>
            </a:r>
          </a:p>
        </p:txBody>
      </p:sp>
    </p:spTree>
    <p:extLst>
      <p:ext uri="{BB962C8B-B14F-4D97-AF65-F5344CB8AC3E}">
        <p14:creationId xmlns:p14="http://schemas.microsoft.com/office/powerpoint/2010/main" val="422003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811876"/>
          </a:xfrm>
        </p:spPr>
        <p:txBody>
          <a:bodyPr>
            <a:normAutofit fontScale="90000"/>
          </a:bodyPr>
          <a:lstStyle/>
          <a:p>
            <a:r>
              <a:rPr lang="es-ES" dirty="0"/>
              <a:t>Restricciones sobre campos.</a:t>
            </a:r>
            <a:br>
              <a:rPr lang="es-ES" dirty="0"/>
            </a:br>
            <a:endParaRPr lang="es-ES" dirty="0"/>
          </a:p>
        </p:txBody>
      </p:sp>
      <p:sp>
        <p:nvSpPr>
          <p:cNvPr id="3" name="Marcador de contenido 2"/>
          <p:cNvSpPr>
            <a:spLocks noGrp="1"/>
          </p:cNvSpPr>
          <p:nvPr>
            <p:ph idx="1"/>
          </p:nvPr>
        </p:nvSpPr>
        <p:spPr>
          <a:xfrm>
            <a:off x="677334" y="1661825"/>
            <a:ext cx="8596668" cy="3880773"/>
          </a:xfrm>
        </p:spPr>
        <p:txBody>
          <a:bodyPr/>
          <a:lstStyle/>
          <a:p>
            <a:r>
              <a:rPr lang="es-ES" dirty="0" smtClean="0"/>
              <a:t>UNIQUE</a:t>
            </a:r>
            <a:r>
              <a:rPr lang="es-ES" dirty="0"/>
              <a:t>. </a:t>
            </a:r>
            <a:endParaRPr lang="es-ES" dirty="0" smtClean="0"/>
          </a:p>
          <a:p>
            <a:pPr lvl="1"/>
            <a:r>
              <a:rPr lang="es-ES" dirty="0" smtClean="0"/>
              <a:t>Todos </a:t>
            </a:r>
            <a:r>
              <a:rPr lang="es-ES" dirty="0"/>
              <a:t>los valores del campo deben ser únicos, y no se permiten valores </a:t>
            </a:r>
            <a:r>
              <a:rPr lang="es-ES" dirty="0" smtClean="0"/>
              <a:t>repetidos</a:t>
            </a:r>
            <a:r>
              <a:rPr lang="es-ES" dirty="0"/>
              <a:t>. </a:t>
            </a:r>
          </a:p>
          <a:p>
            <a:pPr lvl="1"/>
            <a:r>
              <a:rPr lang="es-ES" dirty="0" smtClean="0"/>
              <a:t>En una PK única es obligatorio que sea UNIQUE.</a:t>
            </a:r>
            <a:endParaRPr lang="es-ES" dirty="0"/>
          </a:p>
          <a:p>
            <a:r>
              <a:rPr lang="es-ES" dirty="0" smtClean="0"/>
              <a:t>NOT </a:t>
            </a:r>
            <a:r>
              <a:rPr lang="es-ES" dirty="0"/>
              <a:t>NULL. </a:t>
            </a:r>
            <a:endParaRPr lang="es-ES" dirty="0" smtClean="0"/>
          </a:p>
          <a:p>
            <a:pPr lvl="1"/>
            <a:r>
              <a:rPr lang="es-ES" dirty="0" smtClean="0"/>
              <a:t>Prohíbe </a:t>
            </a:r>
            <a:r>
              <a:rPr lang="es-ES" dirty="0"/>
              <a:t>que un campo pueda tener valores nulos. </a:t>
            </a:r>
            <a:endParaRPr lang="es-ES" dirty="0" smtClean="0"/>
          </a:p>
          <a:p>
            <a:pPr lvl="1"/>
            <a:r>
              <a:rPr lang="es-ES" dirty="0" smtClean="0"/>
              <a:t>Es </a:t>
            </a:r>
            <a:r>
              <a:rPr lang="es-ES" dirty="0"/>
              <a:t>una restricción </a:t>
            </a:r>
            <a:r>
              <a:rPr lang="es-ES" dirty="0" smtClean="0"/>
              <a:t>obligatoria de los campos (PK).</a:t>
            </a:r>
            <a:endParaRPr lang="es-ES" dirty="0"/>
          </a:p>
          <a:p>
            <a:r>
              <a:rPr lang="es-ES" dirty="0"/>
              <a:t>DEFAULT. </a:t>
            </a:r>
            <a:endParaRPr lang="es-ES" dirty="0" smtClean="0"/>
          </a:p>
          <a:p>
            <a:pPr lvl="1"/>
            <a:r>
              <a:rPr lang="es-ES" dirty="0" smtClean="0"/>
              <a:t>En </a:t>
            </a:r>
            <a:r>
              <a:rPr lang="es-ES" dirty="0"/>
              <a:t>caso de que no se especifique un valor concreto para un campo, en vez de dejarlo a NULL se le asigna un valor por defecto</a:t>
            </a:r>
            <a:r>
              <a:rPr lang="es-ES" dirty="0" smtClean="0"/>
              <a:t>.</a:t>
            </a:r>
          </a:p>
          <a:p>
            <a:pPr lvl="1"/>
            <a:r>
              <a:rPr lang="es-ES" dirty="0" smtClean="0"/>
              <a:t>Este se definirá al crear la tabla</a:t>
            </a:r>
            <a:endParaRPr lang="es-ES" dirty="0"/>
          </a:p>
        </p:txBody>
      </p:sp>
    </p:spTree>
    <p:extLst>
      <p:ext uri="{BB962C8B-B14F-4D97-AF65-F5344CB8AC3E}">
        <p14:creationId xmlns:p14="http://schemas.microsoft.com/office/powerpoint/2010/main" val="331067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536940" y="1168072"/>
            <a:ext cx="11231399" cy="3911004"/>
          </a:xfrm>
          <a:prstGeom prst="rect">
            <a:avLst/>
          </a:prstGeom>
        </p:spPr>
      </p:pic>
    </p:spTree>
    <p:extLst>
      <p:ext uri="{BB962C8B-B14F-4D97-AF65-F5344CB8AC3E}">
        <p14:creationId xmlns:p14="http://schemas.microsoft.com/office/powerpoint/2010/main" val="16114868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385482" y="341509"/>
            <a:ext cx="5495363" cy="224676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s-ES" sz="2800" dirty="0" smtClean="0"/>
              <a:t>ACTIVIDAD 3.3</a:t>
            </a:r>
          </a:p>
          <a:p>
            <a:pPr algn="just"/>
            <a:r>
              <a:rPr lang="es-ES" sz="2800" dirty="0" smtClean="0"/>
              <a:t>Decide cual de las 3 restricciones añadirías a los siguientes campos de la siguiente base de datos.</a:t>
            </a:r>
            <a:endParaRPr lang="es-ES" sz="2800" dirty="0"/>
          </a:p>
        </p:txBody>
      </p:sp>
      <p:pic>
        <p:nvPicPr>
          <p:cNvPr id="6" name="Imagen 5"/>
          <p:cNvPicPr>
            <a:picLocks noChangeAspect="1"/>
          </p:cNvPicPr>
          <p:nvPr/>
        </p:nvPicPr>
        <p:blipFill>
          <a:blip r:embed="rId2"/>
          <a:stretch>
            <a:fillRect/>
          </a:stretch>
        </p:blipFill>
        <p:spPr>
          <a:xfrm>
            <a:off x="4464421" y="2671483"/>
            <a:ext cx="6822143" cy="4078339"/>
          </a:xfrm>
          <a:prstGeom prst="rect">
            <a:avLst/>
          </a:prstGeom>
        </p:spPr>
      </p:pic>
    </p:spTree>
    <p:extLst>
      <p:ext uri="{BB962C8B-B14F-4D97-AF65-F5344CB8AC3E}">
        <p14:creationId xmlns:p14="http://schemas.microsoft.com/office/powerpoint/2010/main" val="995137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CONSECUENCIAS DE MODIFICACION Y BORRADO</a:t>
            </a:r>
            <a:endParaRPr lang="es-ES" dirty="0"/>
          </a:p>
        </p:txBody>
      </p:sp>
      <p:sp>
        <p:nvSpPr>
          <p:cNvPr id="3" name="Marcador de contenido 2"/>
          <p:cNvSpPr>
            <a:spLocks noGrp="1"/>
          </p:cNvSpPr>
          <p:nvPr>
            <p:ph idx="1"/>
          </p:nvPr>
        </p:nvSpPr>
        <p:spPr/>
        <p:txBody>
          <a:bodyPr/>
          <a:lstStyle/>
          <a:p>
            <a:r>
              <a:rPr lang="es-ES" dirty="0" smtClean="0"/>
              <a:t>Además de definir las FK y sus relaciones hay que determinar las consecuencias de ciertas operaciones ( borrado y modificación).</a:t>
            </a:r>
          </a:p>
          <a:p>
            <a:pPr lvl="1"/>
            <a:r>
              <a:rPr lang="es-ES" dirty="0" smtClean="0"/>
              <a:t>Realizadas sobre las </a:t>
            </a:r>
            <a:r>
              <a:rPr lang="es-ES" dirty="0" err="1" smtClean="0"/>
              <a:t>tuplas</a:t>
            </a:r>
            <a:r>
              <a:rPr lang="es-ES" dirty="0" smtClean="0"/>
              <a:t> a las que están relacionadas.</a:t>
            </a:r>
          </a:p>
          <a:p>
            <a:pPr lvl="1"/>
            <a:endParaRPr lang="es-ES" dirty="0"/>
          </a:p>
          <a:p>
            <a:r>
              <a:rPr lang="es-ES" sz="2800" b="1" dirty="0" smtClean="0"/>
              <a:t>Operación Restringida.</a:t>
            </a:r>
          </a:p>
          <a:p>
            <a:r>
              <a:rPr lang="es-ES" sz="2800" b="1" dirty="0" smtClean="0"/>
              <a:t>Operación con transmisión en cascada.</a:t>
            </a:r>
          </a:p>
          <a:p>
            <a:r>
              <a:rPr lang="es-ES" sz="2800" b="1" dirty="0" smtClean="0"/>
              <a:t>Operación con puesta a nulos.</a:t>
            </a:r>
          </a:p>
          <a:p>
            <a:r>
              <a:rPr lang="es-ES" sz="2800" b="1" dirty="0" smtClean="0"/>
              <a:t>Operación con puesta a valor por defecto.</a:t>
            </a:r>
            <a:endParaRPr lang="es-ES" sz="2800" b="1" dirty="0"/>
          </a:p>
        </p:txBody>
      </p:sp>
    </p:spTree>
    <p:extLst>
      <p:ext uri="{BB962C8B-B14F-4D97-AF65-F5344CB8AC3E}">
        <p14:creationId xmlns:p14="http://schemas.microsoft.com/office/powerpoint/2010/main" val="63307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05616" y="412471"/>
            <a:ext cx="8888008" cy="6131764"/>
          </a:xfrm>
        </p:spPr>
        <p:txBody>
          <a:bodyPr/>
          <a:lstStyle/>
          <a:p>
            <a:pPr algn="just"/>
            <a:r>
              <a:rPr lang="es-ES" b="1" dirty="0"/>
              <a:t>Operación Restringida</a:t>
            </a:r>
            <a:r>
              <a:rPr lang="es-ES" b="1" dirty="0" smtClean="0"/>
              <a:t>.</a:t>
            </a:r>
          </a:p>
          <a:p>
            <a:pPr lvl="1" algn="just"/>
            <a:r>
              <a:rPr lang="es-ES" dirty="0" smtClean="0"/>
              <a:t>Solo se permite si no existen registros con ese valor en la relacion que contiene la clave ajena.</a:t>
            </a:r>
          </a:p>
          <a:p>
            <a:pPr lvl="1" algn="just"/>
            <a:r>
              <a:rPr lang="es-ES" dirty="0" smtClean="0"/>
              <a:t>En caso contrario el sistema impedirá el borrado.</a:t>
            </a:r>
            <a:endParaRPr lang="es-ES" dirty="0"/>
          </a:p>
          <a:p>
            <a:pPr algn="just"/>
            <a:r>
              <a:rPr lang="es-ES" b="1" dirty="0"/>
              <a:t>Operación con transmisión en cascada</a:t>
            </a:r>
            <a:r>
              <a:rPr lang="es-ES" b="1" dirty="0" smtClean="0"/>
              <a:t>.</a:t>
            </a:r>
          </a:p>
          <a:p>
            <a:pPr lvl="1" algn="just"/>
            <a:r>
              <a:rPr lang="es-ES" dirty="0" smtClean="0"/>
              <a:t>El borrado de registros o modificación que contiene la PK lleva consigo la misma acción en la tabla que tiene la FK.</a:t>
            </a:r>
            <a:endParaRPr lang="es-ES" dirty="0"/>
          </a:p>
          <a:p>
            <a:pPr algn="just"/>
            <a:r>
              <a:rPr lang="es-ES" b="1" dirty="0"/>
              <a:t>Operación con puesta a nulos</a:t>
            </a:r>
            <a:r>
              <a:rPr lang="es-ES" b="1" dirty="0" smtClean="0"/>
              <a:t>.</a:t>
            </a:r>
          </a:p>
          <a:p>
            <a:pPr lvl="1" algn="just"/>
            <a:r>
              <a:rPr lang="es-ES" dirty="0"/>
              <a:t>El borrado de registros o modificación que contiene la PK lleva consigo </a:t>
            </a:r>
            <a:r>
              <a:rPr lang="es-ES" dirty="0" smtClean="0"/>
              <a:t>poner a NULL los valores referenciados de la tabla con la FK.</a:t>
            </a:r>
          </a:p>
          <a:p>
            <a:pPr lvl="1" algn="just"/>
            <a:r>
              <a:rPr lang="es-ES" dirty="0" smtClean="0"/>
              <a:t>Solo es posible cuando el atributo que es clave ajena admite valores nulos.</a:t>
            </a:r>
            <a:endParaRPr lang="es-ES" dirty="0"/>
          </a:p>
          <a:p>
            <a:pPr algn="just"/>
            <a:r>
              <a:rPr lang="es-ES" b="1" dirty="0"/>
              <a:t>Operación con puesta a valor por defecto.</a:t>
            </a:r>
          </a:p>
          <a:p>
            <a:pPr lvl="1" algn="just"/>
            <a:r>
              <a:rPr lang="es-ES" dirty="0"/>
              <a:t>El borrado de registros o modificación que contiene la PK lleva consigo poner </a:t>
            </a:r>
            <a:r>
              <a:rPr lang="es-ES" dirty="0" smtClean="0"/>
              <a:t>un valor por DEFECTO a los </a:t>
            </a:r>
            <a:r>
              <a:rPr lang="es-ES" dirty="0"/>
              <a:t>valores referenciados de la tabla con la FK</a:t>
            </a:r>
            <a:r>
              <a:rPr lang="es-ES" dirty="0" smtClean="0"/>
              <a:t>.</a:t>
            </a:r>
          </a:p>
          <a:p>
            <a:pPr lvl="1" algn="just"/>
            <a:r>
              <a:rPr lang="es-ES" dirty="0" smtClean="0"/>
              <a:t>Este valor por defecto habrá sido definido al crear la tabla correspondiente.</a:t>
            </a:r>
            <a:endParaRPr lang="es-ES" dirty="0"/>
          </a:p>
          <a:p>
            <a:pPr lvl="1"/>
            <a:endParaRPr lang="es-ES" dirty="0"/>
          </a:p>
        </p:txBody>
      </p:sp>
    </p:spTree>
    <p:extLst>
      <p:ext uri="{BB962C8B-B14F-4D97-AF65-F5344CB8AC3E}">
        <p14:creationId xmlns:p14="http://schemas.microsoft.com/office/powerpoint/2010/main" val="360785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878541"/>
          </a:xfrm>
        </p:spPr>
        <p:txBody>
          <a:bodyPr/>
          <a:lstStyle/>
          <a:p>
            <a:r>
              <a:rPr lang="es-ES" dirty="0" smtClean="0"/>
              <a:t>ACTIVIDAD 3,3</a:t>
            </a:r>
            <a:endParaRPr lang="es-ES" dirty="0"/>
          </a:p>
        </p:txBody>
      </p:sp>
      <p:pic>
        <p:nvPicPr>
          <p:cNvPr id="4" name="Marcador de contenido 3"/>
          <p:cNvPicPr>
            <a:picLocks noGrp="1" noChangeAspect="1"/>
          </p:cNvPicPr>
          <p:nvPr>
            <p:ph idx="1"/>
          </p:nvPr>
        </p:nvPicPr>
        <p:blipFill>
          <a:blip r:embed="rId2"/>
          <a:stretch>
            <a:fillRect/>
          </a:stretch>
        </p:blipFill>
        <p:spPr>
          <a:xfrm>
            <a:off x="1098503" y="2801984"/>
            <a:ext cx="5196312" cy="2325828"/>
          </a:xfrm>
          <a:prstGeom prst="rect">
            <a:avLst/>
          </a:prstGeom>
        </p:spPr>
      </p:pic>
      <p:sp>
        <p:nvSpPr>
          <p:cNvPr id="5" name="CuadroTexto 4"/>
          <p:cNvSpPr txBox="1"/>
          <p:nvPr/>
        </p:nvSpPr>
        <p:spPr>
          <a:xfrm>
            <a:off x="806825" y="1488141"/>
            <a:ext cx="874955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dirty="0"/>
              <a:t>¿Qué pasaría en la tabla PELÍCULAS si modifico en la tabla SECCIONES la sección “bélicas” que antes tenía el código 9 y a partir de ahora va a tener el código 11? Explica todas las posibilidades que se podrían dar para “arreglarlo”.</a:t>
            </a:r>
          </a:p>
        </p:txBody>
      </p:sp>
    </p:spTree>
    <p:extLst>
      <p:ext uri="{BB962C8B-B14F-4D97-AF65-F5344CB8AC3E}">
        <p14:creationId xmlns:p14="http://schemas.microsoft.com/office/powerpoint/2010/main" val="878454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430305" y="707827"/>
            <a:ext cx="9870142" cy="3416320"/>
          </a:xfrm>
          <a:prstGeom prst="rect">
            <a:avLst/>
          </a:prstGeom>
        </p:spPr>
        <p:txBody>
          <a:bodyPr wrap="square">
            <a:spAutoFit/>
          </a:bodyPr>
          <a:lstStyle/>
          <a:p>
            <a:r>
              <a:rPr lang="es-ES" b="1" dirty="0">
                <a:latin typeface="Roboto"/>
              </a:rPr>
              <a:t>Cuatro opciones: </a:t>
            </a:r>
            <a:endParaRPr lang="es-ES" b="1" dirty="0" smtClean="0">
              <a:latin typeface="Roboto"/>
            </a:endParaRPr>
          </a:p>
          <a:p>
            <a:endParaRPr lang="es-ES" b="1" dirty="0" smtClean="0">
              <a:latin typeface="Roboto"/>
            </a:endParaRPr>
          </a:p>
          <a:p>
            <a:pPr marL="342900" indent="-342900">
              <a:buAutoNum type="arabicPeriod"/>
            </a:pPr>
            <a:r>
              <a:rPr lang="es-ES" b="1" dirty="0" smtClean="0">
                <a:latin typeface="Roboto"/>
              </a:rPr>
              <a:t>Modificación </a:t>
            </a:r>
            <a:r>
              <a:rPr lang="es-ES" b="1" dirty="0">
                <a:latin typeface="Roboto"/>
              </a:rPr>
              <a:t>en cascada. </a:t>
            </a:r>
            <a:r>
              <a:rPr lang="es-ES" dirty="0">
                <a:latin typeface="Roboto"/>
              </a:rPr>
              <a:t>En la tabla PELÍCULAS, en el campo </a:t>
            </a:r>
            <a:r>
              <a:rPr lang="es-ES" dirty="0" err="1">
                <a:latin typeface="Roboto"/>
              </a:rPr>
              <a:t>id_sección</a:t>
            </a:r>
            <a:r>
              <a:rPr lang="es-ES" dirty="0">
                <a:latin typeface="Roboto"/>
              </a:rPr>
              <a:t>, donde había un 9 ahora se pondrá un 11. </a:t>
            </a:r>
            <a:endParaRPr lang="es-ES" dirty="0" smtClean="0">
              <a:latin typeface="Roboto"/>
            </a:endParaRPr>
          </a:p>
          <a:p>
            <a:pPr marL="342900" indent="-342900">
              <a:buAutoNum type="arabicPeriod"/>
            </a:pPr>
            <a:r>
              <a:rPr lang="es-ES" b="1" dirty="0" smtClean="0">
                <a:latin typeface="Roboto"/>
              </a:rPr>
              <a:t>Modificación </a:t>
            </a:r>
            <a:r>
              <a:rPr lang="es-ES" b="1" dirty="0">
                <a:latin typeface="Roboto"/>
              </a:rPr>
              <a:t>no permitida. </a:t>
            </a:r>
            <a:r>
              <a:rPr lang="es-ES" dirty="0">
                <a:latin typeface="Roboto"/>
              </a:rPr>
              <a:t>Mientras en la tabla PELÍCULAS, en el campo </a:t>
            </a:r>
            <a:r>
              <a:rPr lang="es-ES" dirty="0" err="1">
                <a:latin typeface="Roboto"/>
              </a:rPr>
              <a:t>id_sección</a:t>
            </a:r>
            <a:r>
              <a:rPr lang="es-ES" dirty="0">
                <a:latin typeface="Roboto"/>
              </a:rPr>
              <a:t>, haya algún 9 (es decir siga habiendo alguna película bélica) no se podrá hacer la modificación. </a:t>
            </a:r>
            <a:endParaRPr lang="es-ES" dirty="0" smtClean="0">
              <a:latin typeface="Roboto"/>
            </a:endParaRPr>
          </a:p>
          <a:p>
            <a:pPr marL="342900" indent="-342900">
              <a:buAutoNum type="arabicPeriod"/>
            </a:pPr>
            <a:r>
              <a:rPr lang="es-ES" b="1" dirty="0" smtClean="0">
                <a:latin typeface="Roboto"/>
              </a:rPr>
              <a:t>Modificación </a:t>
            </a:r>
            <a:r>
              <a:rPr lang="es-ES" b="1" dirty="0">
                <a:latin typeface="Roboto"/>
              </a:rPr>
              <a:t>con puesta a nulos</a:t>
            </a:r>
            <a:r>
              <a:rPr lang="es-ES" dirty="0">
                <a:latin typeface="Roboto"/>
              </a:rPr>
              <a:t>. En la tabla PELÍCULAS, en el campo id sección, donde había un 9 ahora se pondrá un NULL. </a:t>
            </a:r>
            <a:endParaRPr lang="es-ES" dirty="0" smtClean="0">
              <a:latin typeface="Roboto"/>
            </a:endParaRPr>
          </a:p>
          <a:p>
            <a:pPr marL="342900" indent="-342900">
              <a:buAutoNum type="arabicPeriod"/>
            </a:pPr>
            <a:r>
              <a:rPr lang="es-ES" b="1" dirty="0" smtClean="0">
                <a:latin typeface="Roboto"/>
              </a:rPr>
              <a:t>Modificación </a:t>
            </a:r>
            <a:r>
              <a:rPr lang="es-ES" b="1" dirty="0">
                <a:latin typeface="Roboto"/>
              </a:rPr>
              <a:t>con puesta a valor por defecto</a:t>
            </a:r>
            <a:r>
              <a:rPr lang="es-ES" dirty="0">
                <a:latin typeface="Roboto"/>
              </a:rPr>
              <a:t>. En la tabla PELÍCULAS, en el campo </a:t>
            </a:r>
            <a:r>
              <a:rPr lang="es-ES" dirty="0" err="1">
                <a:latin typeface="Roboto"/>
              </a:rPr>
              <a:t>id_sección</a:t>
            </a:r>
            <a:r>
              <a:rPr lang="es-ES" dirty="0">
                <a:latin typeface="Roboto"/>
              </a:rPr>
              <a:t>, donde había un 9 ahora se pondrá el valor por defecto (que tendrá que estar definido para ese campo).</a:t>
            </a:r>
            <a:endParaRPr lang="es-ES" dirty="0"/>
          </a:p>
        </p:txBody>
      </p:sp>
      <p:pic>
        <p:nvPicPr>
          <p:cNvPr id="2050" name="Picture 2" descr="Pulgar arriba - Iconos gratis de redes socia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9222" y="4191093"/>
            <a:ext cx="2013884" cy="201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22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050"/>
                                        </p:tgtEl>
                                        <p:attrNameLst>
                                          <p:attrName>style.visibility</p:attrName>
                                        </p:attrNameLst>
                                      </p:cBhvr>
                                      <p:to>
                                        <p:strVal val="visible"/>
                                      </p:to>
                                    </p:set>
                                    <p:animEffect transition="in" filter="fade">
                                      <p:cBhvr>
                                        <p:cTn id="32" dur="1000"/>
                                        <p:tgtEl>
                                          <p:spTgt spid="2050"/>
                                        </p:tgtEl>
                                      </p:cBhvr>
                                    </p:animEffect>
                                    <p:anim calcmode="lin" valueType="num">
                                      <p:cBhvr>
                                        <p:cTn id="33" dur="1000" fill="hold"/>
                                        <p:tgtEl>
                                          <p:spTgt spid="2050"/>
                                        </p:tgtEl>
                                        <p:attrNameLst>
                                          <p:attrName>ppt_x</p:attrName>
                                        </p:attrNameLst>
                                      </p:cBhvr>
                                      <p:tavLst>
                                        <p:tav tm="0">
                                          <p:val>
                                            <p:strVal val="#ppt_x"/>
                                          </p:val>
                                        </p:tav>
                                        <p:tav tm="100000">
                                          <p:val>
                                            <p:strVal val="#ppt_x"/>
                                          </p:val>
                                        </p:tav>
                                      </p:tavLst>
                                    </p:anim>
                                    <p:anim calcmode="lin" valueType="num">
                                      <p:cBhvr>
                                        <p:cTn id="34"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ágenes de &quot;The End&quot;: descubre bancos de fotos, ilustraciones, vectores y  vídeos de 12,364 | Adobe 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799" y="164633"/>
            <a:ext cx="8558119" cy="485184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leva tilde continuará? | LlevaTilde.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3904" y="4138212"/>
            <a:ext cx="4900519" cy="271978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Los mejores memes del Día Internacional del Diseño Gráfico - Infoba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1807" y="3984494"/>
            <a:ext cx="3500717" cy="2873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76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1000"/>
                                        <p:tgtEl>
                                          <p:spTgt spid="3076"/>
                                        </p:tgtEl>
                                      </p:cBhvr>
                                    </p:animEffect>
                                    <p:anim calcmode="lin" valueType="num">
                                      <p:cBhvr>
                                        <p:cTn id="13" dur="1000" fill="hold"/>
                                        <p:tgtEl>
                                          <p:spTgt spid="3076"/>
                                        </p:tgtEl>
                                        <p:attrNameLst>
                                          <p:attrName>ppt_x</p:attrName>
                                        </p:attrNameLst>
                                      </p:cBhvr>
                                      <p:tavLst>
                                        <p:tav tm="0">
                                          <p:val>
                                            <p:strVal val="#ppt_x"/>
                                          </p:val>
                                        </p:tav>
                                        <p:tav tm="100000">
                                          <p:val>
                                            <p:strVal val="#ppt_x"/>
                                          </p:val>
                                        </p:tav>
                                      </p:tavLst>
                                    </p:anim>
                                    <p:anim calcmode="lin" valueType="num">
                                      <p:cBhvr>
                                        <p:cTn id="14" dur="1000" fill="hold"/>
                                        <p:tgtEl>
                                          <p:spTgt spid="307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078"/>
                                        </p:tgtEl>
                                        <p:attrNameLst>
                                          <p:attrName>style.visibility</p:attrName>
                                        </p:attrNameLst>
                                      </p:cBhvr>
                                      <p:to>
                                        <p:strVal val="visible"/>
                                      </p:to>
                                    </p:set>
                                    <p:animEffect transition="in" filter="fade">
                                      <p:cBhvr>
                                        <p:cTn id="19"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246</TotalTime>
  <Words>1445</Words>
  <Application>Microsoft Office PowerPoint</Application>
  <PresentationFormat>Panorámica</PresentationFormat>
  <Paragraphs>145</Paragraphs>
  <Slides>26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Arial</vt:lpstr>
      <vt:lpstr>Roboto</vt:lpstr>
      <vt:lpstr>Trebuchet MS</vt:lpstr>
      <vt:lpstr>Wingdings</vt:lpstr>
      <vt:lpstr>Wingdings 3</vt:lpstr>
      <vt:lpstr>Faceta</vt:lpstr>
      <vt:lpstr>TEMA 3,1</vt:lpstr>
      <vt:lpstr>OBJETIVOS</vt:lpstr>
      <vt:lpstr>GLOSARIO</vt:lpstr>
      <vt:lpstr>EL MODELO RELACIONAL</vt:lpstr>
      <vt:lpstr>Presentación de PowerPoint</vt:lpstr>
      <vt:lpstr>DOMINIO</vt:lpstr>
      <vt:lpstr>Presentación de PowerPoint</vt:lpstr>
      <vt:lpstr>CLAVES</vt:lpstr>
      <vt:lpstr>Presentación de PowerPoint</vt:lpstr>
      <vt:lpstr>NORMALIZACION</vt:lpstr>
      <vt:lpstr>PRIMERA FORMA NORMAL (1FN)</vt:lpstr>
      <vt:lpstr>Una solución posible seria:</vt:lpstr>
      <vt:lpstr>OS TOCA: ACTIVIDAD 3,1</vt:lpstr>
      <vt:lpstr>SEGUNDA FORMA NORMAL (2FN)</vt:lpstr>
      <vt:lpstr>Actividad 3,2</vt:lpstr>
      <vt:lpstr>TERCERA FORMA NORMAL (3FN)</vt:lpstr>
      <vt:lpstr>RESTRICCIONES INHERENTES</vt:lpstr>
      <vt:lpstr>RESTRICCIONES SEMANTICAS</vt:lpstr>
      <vt:lpstr>Restricciones sobre campos. </vt:lpstr>
      <vt:lpstr>Presentación de PowerPoint</vt:lpstr>
      <vt:lpstr>Presentación de PowerPoint</vt:lpstr>
      <vt:lpstr>CONSECUENCIAS DE MODIFICACION Y BORRADO</vt:lpstr>
      <vt:lpstr>Presentación de PowerPoint</vt:lpstr>
      <vt:lpstr>ACTIVIDAD 3,3</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3</dc:title>
  <dc:creator>German</dc:creator>
  <cp:lastModifiedBy>German</cp:lastModifiedBy>
  <cp:revision>22</cp:revision>
  <dcterms:created xsi:type="dcterms:W3CDTF">2023-10-16T07:11:36Z</dcterms:created>
  <dcterms:modified xsi:type="dcterms:W3CDTF">2023-10-22T12:27:50Z</dcterms:modified>
</cp:coreProperties>
</file>