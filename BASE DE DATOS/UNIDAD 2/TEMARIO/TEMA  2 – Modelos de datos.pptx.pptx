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69" r:id="rId4"/>
    <p:sldId id="270" r:id="rId5"/>
    <p:sldId id="278" r:id="rId6"/>
    <p:sldId id="257" r:id="rId7"/>
    <p:sldId id="266" r:id="rId8"/>
    <p:sldId id="258" r:id="rId9"/>
    <p:sldId id="271" r:id="rId10"/>
    <p:sldId id="272" r:id="rId11"/>
    <p:sldId id="279" r:id="rId12"/>
    <p:sldId id="273" r:id="rId13"/>
    <p:sldId id="284" r:id="rId14"/>
    <p:sldId id="280" r:id="rId15"/>
    <p:sldId id="281" r:id="rId16"/>
    <p:sldId id="282" r:id="rId17"/>
    <p:sldId id="283" r:id="rId18"/>
    <p:sldId id="259" r:id="rId19"/>
    <p:sldId id="260" r:id="rId20"/>
    <p:sldId id="267" r:id="rId21"/>
    <p:sldId id="261" r:id="rId22"/>
    <p:sldId id="268" r:id="rId23"/>
    <p:sldId id="262" r:id="rId24"/>
    <p:sldId id="264" r:id="rId25"/>
    <p:sldId id="274" r:id="rId26"/>
    <p:sldId id="277" r:id="rId27"/>
    <p:sldId id="275" r:id="rId28"/>
    <p:sldId id="276" r:id="rId29"/>
    <p:sldId id="285" r:id="rId30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775F55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775F55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775F55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3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533399" y="0"/>
                </a:lnTo>
                <a:lnTo>
                  <a:pt x="533399" y="228599"/>
                </a:lnTo>
                <a:close/>
              </a:path>
            </a:pathLst>
          </a:custGeom>
          <a:solidFill>
            <a:srgbClr val="DD80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0550" y="1280160"/>
            <a:ext cx="8553450" cy="228600"/>
          </a:xfrm>
          <a:custGeom>
            <a:avLst/>
            <a:gdLst/>
            <a:ahLst/>
            <a:cxnLst/>
            <a:rect l="l" t="t" r="r" b="b"/>
            <a:pathLst>
              <a:path w="8553450" h="228600">
                <a:moveTo>
                  <a:pt x="8553449" y="228599"/>
                </a:moveTo>
                <a:lnTo>
                  <a:pt x="0" y="228599"/>
                </a:lnTo>
                <a:lnTo>
                  <a:pt x="0" y="0"/>
                </a:lnTo>
                <a:lnTo>
                  <a:pt x="8553449" y="0"/>
                </a:lnTo>
                <a:lnTo>
                  <a:pt x="8553449" y="228599"/>
                </a:lnTo>
                <a:close/>
              </a:path>
            </a:pathLst>
          </a:custGeom>
          <a:solidFill>
            <a:srgbClr val="94B6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673" y="87579"/>
            <a:ext cx="7772653" cy="1232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775F55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7340" y="1552971"/>
            <a:ext cx="8049319" cy="4295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99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656876"/>
              <a:ext cx="9143999" cy="22011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752126"/>
              <a:ext cx="9144000" cy="2106295"/>
            </a:xfrm>
            <a:custGeom>
              <a:avLst/>
              <a:gdLst/>
              <a:ahLst/>
              <a:cxnLst/>
              <a:rect l="l" t="t" r="r" b="b"/>
              <a:pathLst>
                <a:path w="9144000" h="2106295">
                  <a:moveTo>
                    <a:pt x="9143999" y="1750890"/>
                  </a:moveTo>
                  <a:lnTo>
                    <a:pt x="2266828" y="1750890"/>
                  </a:lnTo>
                  <a:lnTo>
                    <a:pt x="2402350" y="1750490"/>
                  </a:lnTo>
                  <a:lnTo>
                    <a:pt x="2801342" y="1744256"/>
                  </a:lnTo>
                  <a:lnTo>
                    <a:pt x="3105241" y="1733563"/>
                  </a:lnTo>
                  <a:lnTo>
                    <a:pt x="3362398" y="1719825"/>
                  </a:lnTo>
                  <a:lnTo>
                    <a:pt x="3617400" y="1701465"/>
                  </a:lnTo>
                  <a:lnTo>
                    <a:pt x="3828883" y="1682360"/>
                  </a:lnTo>
                  <a:lnTo>
                    <a:pt x="4039975" y="1659562"/>
                  </a:lnTo>
                  <a:lnTo>
                    <a:pt x="4251180" y="1632852"/>
                  </a:lnTo>
                  <a:lnTo>
                    <a:pt x="4462999" y="1602008"/>
                  </a:lnTo>
                  <a:lnTo>
                    <a:pt x="4675936" y="1566813"/>
                  </a:lnTo>
                  <a:lnTo>
                    <a:pt x="4847427" y="1535375"/>
                  </a:lnTo>
                  <a:lnTo>
                    <a:pt x="5020213" y="1500899"/>
                  </a:lnTo>
                  <a:lnTo>
                    <a:pt x="5194550" y="1463271"/>
                  </a:lnTo>
                  <a:lnTo>
                    <a:pt x="5370697" y="1422380"/>
                  </a:lnTo>
                  <a:lnTo>
                    <a:pt x="5548909" y="1378113"/>
                  </a:lnTo>
                  <a:lnTo>
                    <a:pt x="5729445" y="1330357"/>
                  </a:lnTo>
                  <a:lnTo>
                    <a:pt x="5958774" y="1265584"/>
                  </a:lnTo>
                  <a:lnTo>
                    <a:pt x="6192638" y="1194965"/>
                  </a:lnTo>
                  <a:lnTo>
                    <a:pt x="6431540" y="1118280"/>
                  </a:lnTo>
                  <a:lnTo>
                    <a:pt x="6675982" y="1035309"/>
                  </a:lnTo>
                  <a:lnTo>
                    <a:pt x="6926468" y="945832"/>
                  </a:lnTo>
                  <a:lnTo>
                    <a:pt x="7183499" y="849630"/>
                  </a:lnTo>
                  <a:lnTo>
                    <a:pt x="7501284" y="725000"/>
                  </a:lnTo>
                  <a:lnTo>
                    <a:pt x="7830087" y="589989"/>
                  </a:lnTo>
                  <a:lnTo>
                    <a:pt x="8228775" y="418850"/>
                  </a:lnTo>
                  <a:lnTo>
                    <a:pt x="8645021" y="232461"/>
                  </a:lnTo>
                  <a:lnTo>
                    <a:pt x="9143999" y="0"/>
                  </a:lnTo>
                  <a:lnTo>
                    <a:pt x="9143999" y="1750890"/>
                  </a:lnTo>
                  <a:close/>
                </a:path>
                <a:path w="9144000" h="2106295">
                  <a:moveTo>
                    <a:pt x="9143999" y="2105873"/>
                  </a:moveTo>
                  <a:lnTo>
                    <a:pt x="0" y="2105873"/>
                  </a:lnTo>
                  <a:lnTo>
                    <a:pt x="0" y="1692274"/>
                  </a:lnTo>
                  <a:lnTo>
                    <a:pt x="1565396" y="1742440"/>
                  </a:lnTo>
                  <a:lnTo>
                    <a:pt x="2175685" y="1750732"/>
                  </a:lnTo>
                  <a:lnTo>
                    <a:pt x="9143999" y="1750890"/>
                  </a:lnTo>
                  <a:lnTo>
                    <a:pt x="9143999" y="2105873"/>
                  </a:lnTo>
                  <a:close/>
                </a:path>
              </a:pathLst>
            </a:custGeom>
            <a:solidFill>
              <a:srgbClr val="7A7A7A">
                <a:alpha val="4470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3925" y="0"/>
              <a:ext cx="3140074" cy="68579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105525" y="0"/>
              <a:ext cx="3038475" cy="6858000"/>
            </a:xfrm>
            <a:custGeom>
              <a:avLst/>
              <a:gdLst/>
              <a:ahLst/>
              <a:cxnLst/>
              <a:rect l="l" t="t" r="r" b="b"/>
              <a:pathLst>
                <a:path w="3038475" h="6858000">
                  <a:moveTo>
                    <a:pt x="3038474" y="6857999"/>
                  </a:moveTo>
                  <a:lnTo>
                    <a:pt x="323849" y="6854831"/>
                  </a:lnTo>
                  <a:lnTo>
                    <a:pt x="353399" y="6834071"/>
                  </a:lnTo>
                  <a:lnTo>
                    <a:pt x="382706" y="6812927"/>
                  </a:lnTo>
                  <a:lnTo>
                    <a:pt x="440583" y="6769501"/>
                  </a:lnTo>
                  <a:lnTo>
                    <a:pt x="497466" y="6724576"/>
                  </a:lnTo>
                  <a:lnTo>
                    <a:pt x="553337" y="6678176"/>
                  </a:lnTo>
                  <a:lnTo>
                    <a:pt x="608179" y="6630323"/>
                  </a:lnTo>
                  <a:lnTo>
                    <a:pt x="661975" y="6581042"/>
                  </a:lnTo>
                  <a:lnTo>
                    <a:pt x="714709" y="6530355"/>
                  </a:lnTo>
                  <a:lnTo>
                    <a:pt x="766364" y="6478287"/>
                  </a:lnTo>
                  <a:lnTo>
                    <a:pt x="816923" y="6424861"/>
                  </a:lnTo>
                  <a:lnTo>
                    <a:pt x="866368" y="6370100"/>
                  </a:lnTo>
                  <a:lnTo>
                    <a:pt x="914684" y="6314027"/>
                  </a:lnTo>
                  <a:lnTo>
                    <a:pt x="961853" y="6256667"/>
                  </a:lnTo>
                  <a:lnTo>
                    <a:pt x="1007859" y="6198042"/>
                  </a:lnTo>
                  <a:lnTo>
                    <a:pt x="1052684" y="6138176"/>
                  </a:lnTo>
                  <a:lnTo>
                    <a:pt x="1096312" y="6077093"/>
                  </a:lnTo>
                  <a:lnTo>
                    <a:pt x="1138726" y="6014816"/>
                  </a:lnTo>
                  <a:lnTo>
                    <a:pt x="1179910" y="5951368"/>
                  </a:lnTo>
                  <a:lnTo>
                    <a:pt x="1219845" y="5886773"/>
                  </a:lnTo>
                  <a:lnTo>
                    <a:pt x="1258517" y="5821054"/>
                  </a:lnTo>
                  <a:lnTo>
                    <a:pt x="1277373" y="5787781"/>
                  </a:lnTo>
                  <a:lnTo>
                    <a:pt x="1295907" y="5754235"/>
                  </a:lnTo>
                  <a:lnTo>
                    <a:pt x="1314116" y="5720420"/>
                  </a:lnTo>
                  <a:lnTo>
                    <a:pt x="1331998" y="5686339"/>
                  </a:lnTo>
                  <a:lnTo>
                    <a:pt x="1349552" y="5651995"/>
                  </a:lnTo>
                  <a:lnTo>
                    <a:pt x="1366775" y="5617390"/>
                  </a:lnTo>
                  <a:lnTo>
                    <a:pt x="1383665" y="5582528"/>
                  </a:lnTo>
                  <a:lnTo>
                    <a:pt x="1400220" y="5547411"/>
                  </a:lnTo>
                  <a:lnTo>
                    <a:pt x="1416438" y="5512043"/>
                  </a:lnTo>
                  <a:lnTo>
                    <a:pt x="1432316" y="5476426"/>
                  </a:lnTo>
                  <a:lnTo>
                    <a:pt x="1447853" y="5440563"/>
                  </a:lnTo>
                  <a:lnTo>
                    <a:pt x="1463047" y="5404458"/>
                  </a:lnTo>
                  <a:lnTo>
                    <a:pt x="1477895" y="5368112"/>
                  </a:lnTo>
                  <a:lnTo>
                    <a:pt x="1492395" y="5331530"/>
                  </a:lnTo>
                  <a:lnTo>
                    <a:pt x="1506545" y="5294713"/>
                  </a:lnTo>
                  <a:lnTo>
                    <a:pt x="1520344" y="5257666"/>
                  </a:lnTo>
                  <a:lnTo>
                    <a:pt x="1533789" y="5220390"/>
                  </a:lnTo>
                  <a:lnTo>
                    <a:pt x="1546877" y="5182890"/>
                  </a:lnTo>
                  <a:lnTo>
                    <a:pt x="1559607" y="5145167"/>
                  </a:lnTo>
                  <a:lnTo>
                    <a:pt x="1571977" y="5107224"/>
                  </a:lnTo>
                  <a:lnTo>
                    <a:pt x="1583985" y="5069065"/>
                  </a:lnTo>
                  <a:lnTo>
                    <a:pt x="1595628" y="5030693"/>
                  </a:lnTo>
                  <a:lnTo>
                    <a:pt x="1606904" y="4992110"/>
                  </a:lnTo>
                  <a:lnTo>
                    <a:pt x="1617812" y="4953319"/>
                  </a:lnTo>
                  <a:lnTo>
                    <a:pt x="1628349" y="4914324"/>
                  </a:lnTo>
                  <a:lnTo>
                    <a:pt x="1638512" y="4875127"/>
                  </a:lnTo>
                  <a:lnTo>
                    <a:pt x="1648301" y="4835732"/>
                  </a:lnTo>
                  <a:lnTo>
                    <a:pt x="1657713" y="4796140"/>
                  </a:lnTo>
                  <a:lnTo>
                    <a:pt x="1666745" y="4756355"/>
                  </a:lnTo>
                  <a:lnTo>
                    <a:pt x="1675396" y="4716381"/>
                  </a:lnTo>
                  <a:lnTo>
                    <a:pt x="1683664" y="4676219"/>
                  </a:lnTo>
                  <a:lnTo>
                    <a:pt x="1691545" y="4635873"/>
                  </a:lnTo>
                  <a:lnTo>
                    <a:pt x="1699040" y="4595346"/>
                  </a:lnTo>
                  <a:lnTo>
                    <a:pt x="1706144" y="4554640"/>
                  </a:lnTo>
                  <a:lnTo>
                    <a:pt x="1712857" y="4513759"/>
                  </a:lnTo>
                  <a:lnTo>
                    <a:pt x="1719175" y="4472706"/>
                  </a:lnTo>
                  <a:lnTo>
                    <a:pt x="1725098" y="4431483"/>
                  </a:lnTo>
                  <a:lnTo>
                    <a:pt x="1730622" y="4390094"/>
                  </a:lnTo>
                  <a:lnTo>
                    <a:pt x="1735746" y="4348541"/>
                  </a:lnTo>
                  <a:lnTo>
                    <a:pt x="1740468" y="4306827"/>
                  </a:lnTo>
                  <a:lnTo>
                    <a:pt x="1744785" y="4264956"/>
                  </a:lnTo>
                  <a:lnTo>
                    <a:pt x="1748695" y="4222929"/>
                  </a:lnTo>
                  <a:lnTo>
                    <a:pt x="1752197" y="4180751"/>
                  </a:lnTo>
                  <a:lnTo>
                    <a:pt x="1755288" y="4138424"/>
                  </a:lnTo>
                  <a:lnTo>
                    <a:pt x="1757966" y="4095951"/>
                  </a:lnTo>
                  <a:lnTo>
                    <a:pt x="1760228" y="4053334"/>
                  </a:lnTo>
                  <a:lnTo>
                    <a:pt x="1762074" y="4010578"/>
                  </a:lnTo>
                  <a:lnTo>
                    <a:pt x="1763501" y="3967684"/>
                  </a:lnTo>
                  <a:lnTo>
                    <a:pt x="1764506" y="3924656"/>
                  </a:lnTo>
                  <a:lnTo>
                    <a:pt x="1765087" y="3881496"/>
                  </a:lnTo>
                  <a:lnTo>
                    <a:pt x="1765244" y="3838208"/>
                  </a:lnTo>
                  <a:lnTo>
                    <a:pt x="1764972" y="3794795"/>
                  </a:lnTo>
                  <a:lnTo>
                    <a:pt x="1764271" y="3751259"/>
                  </a:lnTo>
                  <a:lnTo>
                    <a:pt x="1763137" y="3707603"/>
                  </a:lnTo>
                  <a:lnTo>
                    <a:pt x="1761570" y="3663830"/>
                  </a:lnTo>
                  <a:lnTo>
                    <a:pt x="1759567" y="3619944"/>
                  </a:lnTo>
                  <a:lnTo>
                    <a:pt x="1757125" y="3575947"/>
                  </a:lnTo>
                  <a:lnTo>
                    <a:pt x="1754244" y="3531842"/>
                  </a:lnTo>
                  <a:lnTo>
                    <a:pt x="1750920" y="3487632"/>
                  </a:lnTo>
                  <a:lnTo>
                    <a:pt x="1747151" y="3443320"/>
                  </a:lnTo>
                  <a:lnTo>
                    <a:pt x="1742936" y="3398908"/>
                  </a:lnTo>
                  <a:lnTo>
                    <a:pt x="1738272" y="3354401"/>
                  </a:lnTo>
                  <a:lnTo>
                    <a:pt x="1733157" y="3309800"/>
                  </a:lnTo>
                  <a:lnTo>
                    <a:pt x="1727589" y="3265109"/>
                  </a:lnTo>
                  <a:lnTo>
                    <a:pt x="1721566" y="3220330"/>
                  </a:lnTo>
                  <a:lnTo>
                    <a:pt x="1715086" y="3175467"/>
                  </a:lnTo>
                  <a:lnTo>
                    <a:pt x="1708147" y="3130523"/>
                  </a:lnTo>
                  <a:lnTo>
                    <a:pt x="1700747" y="3085500"/>
                  </a:lnTo>
                  <a:lnTo>
                    <a:pt x="1692883" y="3040401"/>
                  </a:lnTo>
                  <a:lnTo>
                    <a:pt x="1684553" y="2995229"/>
                  </a:lnTo>
                  <a:lnTo>
                    <a:pt x="1675756" y="2949988"/>
                  </a:lnTo>
                  <a:lnTo>
                    <a:pt x="1666489" y="2904680"/>
                  </a:lnTo>
                  <a:lnTo>
                    <a:pt x="1656750" y="2859307"/>
                  </a:lnTo>
                  <a:lnTo>
                    <a:pt x="1646538" y="2813874"/>
                  </a:lnTo>
                  <a:lnTo>
                    <a:pt x="1635849" y="2768383"/>
                  </a:lnTo>
                  <a:lnTo>
                    <a:pt x="1624682" y="2722836"/>
                  </a:lnTo>
                  <a:lnTo>
                    <a:pt x="1613035" y="2677238"/>
                  </a:lnTo>
                  <a:lnTo>
                    <a:pt x="1600905" y="2631590"/>
                  </a:lnTo>
                  <a:lnTo>
                    <a:pt x="1588291" y="2585895"/>
                  </a:lnTo>
                  <a:lnTo>
                    <a:pt x="1575190" y="2540157"/>
                  </a:lnTo>
                  <a:lnTo>
                    <a:pt x="1561601" y="2494379"/>
                  </a:lnTo>
                  <a:lnTo>
                    <a:pt x="1547520" y="2448563"/>
                  </a:lnTo>
                  <a:lnTo>
                    <a:pt x="1532947" y="2402713"/>
                  </a:lnTo>
                  <a:lnTo>
                    <a:pt x="1517879" y="2356831"/>
                  </a:lnTo>
                  <a:lnTo>
                    <a:pt x="1502314" y="2310920"/>
                  </a:lnTo>
                  <a:lnTo>
                    <a:pt x="1486249" y="2264983"/>
                  </a:lnTo>
                  <a:lnTo>
                    <a:pt x="1469683" y="2219023"/>
                  </a:lnTo>
                  <a:lnTo>
                    <a:pt x="1452614" y="2173043"/>
                  </a:lnTo>
                  <a:lnTo>
                    <a:pt x="1435039" y="2127047"/>
                  </a:lnTo>
                  <a:lnTo>
                    <a:pt x="1416957" y="2081036"/>
                  </a:lnTo>
                  <a:lnTo>
                    <a:pt x="1398365" y="2035014"/>
                  </a:lnTo>
                  <a:lnTo>
                    <a:pt x="1379261" y="1988984"/>
                  </a:lnTo>
                  <a:lnTo>
                    <a:pt x="1359643" y="1942948"/>
                  </a:lnTo>
                  <a:lnTo>
                    <a:pt x="1339508" y="1896910"/>
                  </a:lnTo>
                  <a:lnTo>
                    <a:pt x="1318856" y="1850873"/>
                  </a:lnTo>
                  <a:lnTo>
                    <a:pt x="1297684" y="1804839"/>
                  </a:lnTo>
                  <a:lnTo>
                    <a:pt x="1275989" y="1758811"/>
                  </a:lnTo>
                  <a:lnTo>
                    <a:pt x="1253769" y="1712793"/>
                  </a:lnTo>
                  <a:lnTo>
                    <a:pt x="1231023" y="1666787"/>
                  </a:lnTo>
                  <a:lnTo>
                    <a:pt x="1207749" y="1620797"/>
                  </a:lnTo>
                  <a:lnTo>
                    <a:pt x="1183943" y="1574824"/>
                  </a:lnTo>
                  <a:lnTo>
                    <a:pt x="1159605" y="1528873"/>
                  </a:lnTo>
                  <a:lnTo>
                    <a:pt x="1134732" y="1482945"/>
                  </a:lnTo>
                  <a:lnTo>
                    <a:pt x="1109321" y="1437045"/>
                  </a:lnTo>
                  <a:lnTo>
                    <a:pt x="1083371" y="1391174"/>
                  </a:lnTo>
                  <a:lnTo>
                    <a:pt x="1056880" y="1345337"/>
                  </a:lnTo>
                  <a:lnTo>
                    <a:pt x="1029846" y="1299535"/>
                  </a:lnTo>
                  <a:lnTo>
                    <a:pt x="1002266" y="1253771"/>
                  </a:lnTo>
                  <a:lnTo>
                    <a:pt x="974139" y="1208049"/>
                  </a:lnTo>
                  <a:lnTo>
                    <a:pt x="945461" y="1162372"/>
                  </a:lnTo>
                  <a:lnTo>
                    <a:pt x="916232" y="1116742"/>
                  </a:lnTo>
                  <a:lnTo>
                    <a:pt x="886449" y="1071163"/>
                  </a:lnTo>
                  <a:lnTo>
                    <a:pt x="856110" y="1025637"/>
                  </a:lnTo>
                  <a:lnTo>
                    <a:pt x="825213" y="980167"/>
                  </a:lnTo>
                  <a:lnTo>
                    <a:pt x="793755" y="934756"/>
                  </a:lnTo>
                  <a:lnTo>
                    <a:pt x="761735" y="889408"/>
                  </a:lnTo>
                  <a:lnTo>
                    <a:pt x="729151" y="844124"/>
                  </a:lnTo>
                  <a:lnTo>
                    <a:pt x="696000" y="798909"/>
                  </a:lnTo>
                  <a:lnTo>
                    <a:pt x="662280" y="753764"/>
                  </a:lnTo>
                  <a:lnTo>
                    <a:pt x="627990" y="708694"/>
                  </a:lnTo>
                  <a:lnTo>
                    <a:pt x="593126" y="663700"/>
                  </a:lnTo>
                  <a:lnTo>
                    <a:pt x="557688" y="618786"/>
                  </a:lnTo>
                  <a:lnTo>
                    <a:pt x="521673" y="573954"/>
                  </a:lnTo>
                  <a:lnTo>
                    <a:pt x="485078" y="529208"/>
                  </a:lnTo>
                  <a:lnTo>
                    <a:pt x="447902" y="484551"/>
                  </a:lnTo>
                  <a:lnTo>
                    <a:pt x="410143" y="439985"/>
                  </a:lnTo>
                  <a:lnTo>
                    <a:pt x="371798" y="395513"/>
                  </a:lnTo>
                  <a:lnTo>
                    <a:pt x="332866" y="351139"/>
                  </a:lnTo>
                  <a:lnTo>
                    <a:pt x="293344" y="306865"/>
                  </a:lnTo>
                  <a:lnTo>
                    <a:pt x="253230" y="262694"/>
                  </a:lnTo>
                  <a:lnTo>
                    <a:pt x="212522" y="218629"/>
                  </a:lnTo>
                  <a:lnTo>
                    <a:pt x="171218" y="174673"/>
                  </a:lnTo>
                  <a:lnTo>
                    <a:pt x="129316" y="130830"/>
                  </a:lnTo>
                  <a:lnTo>
                    <a:pt x="86813" y="87101"/>
                  </a:lnTo>
                  <a:lnTo>
                    <a:pt x="43709" y="43490"/>
                  </a:lnTo>
                  <a:lnTo>
                    <a:pt x="0" y="0"/>
                  </a:lnTo>
                  <a:lnTo>
                    <a:pt x="3038474" y="14257"/>
                  </a:lnTo>
                  <a:lnTo>
                    <a:pt x="3038474" y="6857999"/>
                  </a:lnTo>
                  <a:close/>
                </a:path>
              </a:pathLst>
            </a:custGeom>
            <a:solidFill>
              <a:srgbClr val="5A5A5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22908" y="2645214"/>
            <a:ext cx="6863891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54425">
              <a:lnSpc>
                <a:spcPct val="100000"/>
              </a:lnSpc>
              <a:spcBef>
                <a:spcPts val="100"/>
              </a:spcBef>
            </a:pPr>
            <a:r>
              <a:rPr sz="4600" b="1" spc="-40" dirty="0">
                <a:solidFill>
                  <a:srgbClr val="9FD4E6"/>
                </a:solidFill>
                <a:latin typeface="Verdana"/>
                <a:cs typeface="Verdana"/>
              </a:rPr>
              <a:t>TEMA</a:t>
            </a:r>
            <a:r>
              <a:rPr sz="4600" b="1" spc="225" dirty="0">
                <a:solidFill>
                  <a:srgbClr val="9FD4E6"/>
                </a:solidFill>
                <a:latin typeface="Verdana"/>
                <a:cs typeface="Verdana"/>
              </a:rPr>
              <a:t> </a:t>
            </a:r>
            <a:r>
              <a:rPr sz="4600" b="1" spc="-310" dirty="0" smtClean="0">
                <a:solidFill>
                  <a:srgbClr val="9FD4E6"/>
                </a:solidFill>
                <a:latin typeface="Verdana"/>
                <a:cs typeface="Verdana"/>
              </a:rPr>
              <a:t>2</a:t>
            </a:r>
            <a:r>
              <a:rPr lang="es-ES" sz="4600" b="1" spc="-310" dirty="0">
                <a:solidFill>
                  <a:srgbClr val="9FD4E6"/>
                </a:solidFill>
                <a:latin typeface="Verdana"/>
                <a:cs typeface="Verdana"/>
              </a:rPr>
              <a:t>.</a:t>
            </a:r>
            <a:r>
              <a:rPr lang="es-ES" sz="4600" b="1" spc="-310" dirty="0" smtClean="0">
                <a:solidFill>
                  <a:srgbClr val="9FD4E6"/>
                </a:solidFill>
                <a:latin typeface="Verdana"/>
                <a:cs typeface="Verdana"/>
              </a:rPr>
              <a:t>1</a:t>
            </a:r>
            <a:r>
              <a:rPr sz="4600" b="1" spc="-310" dirty="0" smtClean="0">
                <a:solidFill>
                  <a:srgbClr val="9FD4E6"/>
                </a:solidFill>
                <a:latin typeface="Verdana"/>
                <a:cs typeface="Verdana"/>
              </a:rPr>
              <a:t> </a:t>
            </a:r>
            <a:r>
              <a:rPr sz="4600" b="1" spc="-1555" dirty="0" smtClean="0">
                <a:solidFill>
                  <a:srgbClr val="9FD4E6"/>
                </a:solidFill>
                <a:latin typeface="Verdana"/>
                <a:cs typeface="Verdana"/>
              </a:rPr>
              <a:t> </a:t>
            </a:r>
            <a:r>
              <a:rPr sz="4600" b="1" spc="-215" dirty="0">
                <a:solidFill>
                  <a:srgbClr val="9FD4E6"/>
                </a:solidFill>
                <a:latin typeface="Verdana"/>
                <a:cs typeface="Verdana"/>
              </a:rPr>
              <a:t>MODE</a:t>
            </a:r>
            <a:r>
              <a:rPr sz="4600" b="1" spc="-340" dirty="0">
                <a:solidFill>
                  <a:srgbClr val="9FD4E6"/>
                </a:solidFill>
                <a:latin typeface="Verdana"/>
                <a:cs typeface="Verdana"/>
              </a:rPr>
              <a:t>L</a:t>
            </a:r>
            <a:r>
              <a:rPr sz="4600" b="1" spc="-450" dirty="0">
                <a:solidFill>
                  <a:srgbClr val="9FD4E6"/>
                </a:solidFill>
                <a:latin typeface="Verdana"/>
                <a:cs typeface="Verdana"/>
              </a:rPr>
              <a:t>O</a:t>
            </a:r>
            <a:r>
              <a:rPr sz="4600" b="1" spc="-155" dirty="0">
                <a:solidFill>
                  <a:srgbClr val="9FD4E6"/>
                </a:solidFill>
                <a:latin typeface="Verdana"/>
                <a:cs typeface="Verdana"/>
              </a:rPr>
              <a:t>S</a:t>
            </a:r>
            <a:r>
              <a:rPr sz="4600" b="1" spc="-625" dirty="0">
                <a:solidFill>
                  <a:srgbClr val="9FD4E6"/>
                </a:solidFill>
                <a:latin typeface="Verdana"/>
                <a:cs typeface="Verdana"/>
              </a:rPr>
              <a:t> </a:t>
            </a:r>
            <a:r>
              <a:rPr sz="4600" b="1" spc="-250" dirty="0">
                <a:solidFill>
                  <a:srgbClr val="9FD4E6"/>
                </a:solidFill>
                <a:latin typeface="Verdana"/>
                <a:cs typeface="Verdana"/>
              </a:rPr>
              <a:t>DE</a:t>
            </a:r>
            <a:r>
              <a:rPr sz="4600" b="1" spc="-625" dirty="0">
                <a:solidFill>
                  <a:srgbClr val="9FD4E6"/>
                </a:solidFill>
                <a:latin typeface="Verdana"/>
                <a:cs typeface="Verdana"/>
              </a:rPr>
              <a:t> </a:t>
            </a:r>
            <a:r>
              <a:rPr sz="4600" b="1" spc="-580" dirty="0">
                <a:solidFill>
                  <a:srgbClr val="9FD4E6"/>
                </a:solidFill>
                <a:latin typeface="Verdana"/>
                <a:cs typeface="Verdana"/>
              </a:rPr>
              <a:t>D</a:t>
            </a:r>
            <a:r>
              <a:rPr sz="4600" b="1" spc="-550" dirty="0">
                <a:solidFill>
                  <a:srgbClr val="9FD4E6"/>
                </a:solidFill>
                <a:latin typeface="Verdana"/>
                <a:cs typeface="Verdana"/>
              </a:rPr>
              <a:t>A</a:t>
            </a:r>
            <a:r>
              <a:rPr sz="4600" b="1" spc="-220" dirty="0">
                <a:solidFill>
                  <a:srgbClr val="9FD4E6"/>
                </a:solidFill>
                <a:latin typeface="Verdana"/>
                <a:cs typeface="Verdana"/>
              </a:rPr>
              <a:t>T</a:t>
            </a:r>
            <a:r>
              <a:rPr sz="4600" b="1" spc="-450" dirty="0">
                <a:solidFill>
                  <a:srgbClr val="9FD4E6"/>
                </a:solidFill>
                <a:latin typeface="Verdana"/>
                <a:cs typeface="Verdana"/>
              </a:rPr>
              <a:t>O</a:t>
            </a:r>
            <a:r>
              <a:rPr sz="4600" b="1" spc="-155" dirty="0">
                <a:solidFill>
                  <a:srgbClr val="9FD4E6"/>
                </a:solidFill>
                <a:latin typeface="Verdana"/>
                <a:cs typeface="Verdana"/>
              </a:rPr>
              <a:t>S</a:t>
            </a:r>
            <a:endParaRPr sz="46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62637" y="5461480"/>
            <a:ext cx="280733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" algn="r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FFFFFF"/>
                </a:solidFill>
                <a:latin typeface="Arial"/>
                <a:cs typeface="Arial"/>
              </a:rPr>
              <a:t>Gestión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FFFF"/>
                </a:solidFill>
                <a:latin typeface="Arial"/>
                <a:cs typeface="Arial"/>
              </a:rPr>
              <a:t>Bases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i="1" spc="-5" dirty="0" err="1" smtClean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lang="es-ES" dirty="0">
                <a:latin typeface="Arial"/>
                <a:cs typeface="Arial"/>
              </a:rPr>
              <a:t> </a:t>
            </a:r>
            <a:r>
              <a:rPr sz="1800" i="1" spc="-5" dirty="0" smtClean="0">
                <a:solidFill>
                  <a:srgbClr val="FFFFFF"/>
                </a:solidFill>
                <a:latin typeface="Arial"/>
                <a:cs typeface="Arial"/>
              </a:rPr>
              <a:t>CFG</a:t>
            </a:r>
            <a:r>
              <a:rPr sz="1800" i="1" dirty="0" smtClean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800" i="1" spc="-70" dirty="0" smtClean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ES" i="1" spc="-5" dirty="0" smtClean="0">
                <a:solidFill>
                  <a:srgbClr val="FFFFFF"/>
                </a:solidFill>
                <a:latin typeface="Arial"/>
                <a:cs typeface="Arial"/>
              </a:rPr>
              <a:t>DAM/DAW</a:t>
            </a:r>
            <a:endParaRPr sz="1800" dirty="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lang="es-ES" i="1" dirty="0" smtClean="0">
                <a:solidFill>
                  <a:srgbClr val="FFFFFF"/>
                </a:solidFill>
                <a:latin typeface="Arial"/>
                <a:cs typeface="Arial"/>
              </a:rPr>
              <a:t>German Martinez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9578" y="381000"/>
            <a:ext cx="7772653" cy="607859"/>
          </a:xfrm>
        </p:spPr>
        <p:txBody>
          <a:bodyPr/>
          <a:lstStyle/>
          <a:p>
            <a:r>
              <a:rPr lang="es-ES" dirty="0" smtClean="0"/>
              <a:t>OBJETIVOS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41244" y="2057400"/>
            <a:ext cx="8049319" cy="2262158"/>
          </a:xfrm>
        </p:spPr>
        <p:txBody>
          <a:bodyPr/>
          <a:lstStyle/>
          <a:p>
            <a:pPr marL="457200" indent="-457200" algn="just">
              <a:buAutoNum type="arabicPeriod"/>
            </a:pPr>
            <a:r>
              <a:rPr lang="es-ES" dirty="0" smtClean="0"/>
              <a:t>Ubicar </a:t>
            </a:r>
            <a:r>
              <a:rPr lang="es-ES" dirty="0"/>
              <a:t>el diseño de bases de datos relacionales en el marco del análisis de desarrollo del software. </a:t>
            </a:r>
            <a:endParaRPr lang="es-ES" dirty="0" smtClean="0"/>
          </a:p>
          <a:p>
            <a:pPr marL="457200" indent="-457200" algn="just">
              <a:buAutoNum type="arabicPeriod"/>
            </a:pPr>
            <a:r>
              <a:rPr lang="es-ES" dirty="0" smtClean="0"/>
              <a:t>Familiarizarse </a:t>
            </a:r>
            <a:r>
              <a:rPr lang="es-ES" dirty="0"/>
              <a:t>con el concepto de diccionario de datos. </a:t>
            </a:r>
            <a:endParaRPr lang="es-ES" dirty="0" smtClean="0"/>
          </a:p>
          <a:p>
            <a:pPr marL="457200" indent="-457200" algn="just">
              <a:buAutoNum type="arabicPeriod"/>
            </a:pPr>
            <a:r>
              <a:rPr lang="es-ES" dirty="0" smtClean="0"/>
              <a:t>Comprender </a:t>
            </a:r>
            <a:r>
              <a:rPr lang="es-ES" dirty="0"/>
              <a:t>la utilidad del diagrama entidad/relación como herramienta </a:t>
            </a:r>
            <a:r>
              <a:rPr lang="es-ES" dirty="0" smtClean="0"/>
              <a:t>primordial </a:t>
            </a:r>
            <a:r>
              <a:rPr lang="es-ES" dirty="0"/>
              <a:t>en el diseño de bases de datos relacionales.</a:t>
            </a:r>
          </a:p>
        </p:txBody>
      </p:sp>
      <p:pic>
        <p:nvPicPr>
          <p:cNvPr id="1026" name="Picture 2" descr="a por ello | WordReference Foru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86200"/>
            <a:ext cx="2247900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968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177" y="5862"/>
            <a:ext cx="3161223" cy="369332"/>
          </a:xfrm>
        </p:spPr>
        <p:txBody>
          <a:bodyPr/>
          <a:lstStyle/>
          <a:p>
            <a:r>
              <a:rPr lang="es-ES" sz="2400" dirty="0" smtClean="0"/>
              <a:t>MAPA CONCEPTUAL</a:t>
            </a:r>
            <a:endParaRPr lang="es-ES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81056"/>
            <a:ext cx="4876800" cy="634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2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356670"/>
            <a:ext cx="7772653" cy="607859"/>
          </a:xfrm>
        </p:spPr>
        <p:txBody>
          <a:bodyPr/>
          <a:lstStyle/>
          <a:p>
            <a:r>
              <a:rPr lang="es-ES" dirty="0" smtClean="0"/>
              <a:t>GLOSARIO</a:t>
            </a:r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52754" y="1905000"/>
            <a:ext cx="3300046" cy="3930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>
                <a:solidFill>
                  <a:srgbClr val="374151"/>
                </a:solidFill>
                <a:latin typeface="Söhne"/>
              </a:rPr>
              <a:t>Análisis (de requisitos del software)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>
                <a:solidFill>
                  <a:srgbClr val="374151"/>
                </a:solidFill>
                <a:latin typeface="Söhne"/>
              </a:rPr>
              <a:t>ANSI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>
                <a:solidFill>
                  <a:srgbClr val="374151"/>
                </a:solidFill>
                <a:latin typeface="Söhne"/>
              </a:rPr>
              <a:t>Diagrama de flujo de datos (DFD)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>
                <a:solidFill>
                  <a:srgbClr val="374151"/>
                </a:solidFill>
                <a:latin typeface="Söhne"/>
              </a:rPr>
              <a:t>Diagrama de transición de estados (DTE</a:t>
            </a:r>
            <a:r>
              <a:rPr lang="es-ES" sz="1400" b="1" dirty="0" smtClean="0">
                <a:solidFill>
                  <a:srgbClr val="374151"/>
                </a:solidFill>
                <a:latin typeface="Söhne"/>
              </a:rPr>
              <a:t>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 smtClean="0">
                <a:solidFill>
                  <a:srgbClr val="374151"/>
                </a:solidFill>
                <a:latin typeface="Söhne"/>
              </a:rPr>
              <a:t>Diagrama entidad/relación (DER)</a:t>
            </a:r>
            <a:endParaRPr lang="es-ES" sz="1400" b="1" dirty="0">
              <a:solidFill>
                <a:srgbClr val="374151"/>
              </a:solidFill>
              <a:latin typeface="Söhne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>
                <a:solidFill>
                  <a:srgbClr val="374151"/>
                </a:solidFill>
                <a:latin typeface="Söhne"/>
              </a:rPr>
              <a:t>Herramienta CASE (</a:t>
            </a:r>
            <a:r>
              <a:rPr lang="es-ES" sz="1400" b="1" dirty="0" err="1">
                <a:solidFill>
                  <a:srgbClr val="374151"/>
                </a:solidFill>
                <a:latin typeface="Söhne"/>
              </a:rPr>
              <a:t>computer-aided</a:t>
            </a:r>
            <a:r>
              <a:rPr lang="es-ES" sz="1400" b="1" dirty="0">
                <a:solidFill>
                  <a:srgbClr val="374151"/>
                </a:solidFill>
                <a:latin typeface="Söhne"/>
              </a:rPr>
              <a:t> software </a:t>
            </a:r>
            <a:r>
              <a:rPr lang="es-ES" sz="1400" b="1" dirty="0" err="1" smtClean="0">
                <a:solidFill>
                  <a:srgbClr val="374151"/>
                </a:solidFill>
                <a:latin typeface="Söhne"/>
              </a:rPr>
              <a:t>engineering</a:t>
            </a:r>
            <a:r>
              <a:rPr lang="es-ES" sz="1400" b="1" dirty="0" smtClean="0">
                <a:solidFill>
                  <a:srgbClr val="374151"/>
                </a:solidFill>
                <a:latin typeface="Söhne"/>
              </a:rPr>
              <a:t>)</a:t>
            </a:r>
            <a:endParaRPr lang="es-ES" sz="1400" b="1" dirty="0">
              <a:solidFill>
                <a:srgbClr val="374151"/>
              </a:solidFill>
              <a:latin typeface="Söhne"/>
            </a:endParaRP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>
                <a:solidFill>
                  <a:srgbClr val="374151"/>
                </a:solidFill>
                <a:latin typeface="Söhne"/>
              </a:rPr>
              <a:t>Ingeniería del software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s-ES" sz="1400" b="1" dirty="0">
                <a:solidFill>
                  <a:srgbClr val="374151"/>
                </a:solidFill>
                <a:latin typeface="Söhne"/>
              </a:rPr>
              <a:t>Metodología (de desarrollo de software)</a:t>
            </a:r>
            <a:endParaRPr lang="es-ES" sz="1400" b="1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352800" y="964529"/>
            <a:ext cx="57912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ES" sz="1400" dirty="0"/>
              <a:t>Aplicación de un enfoque sistemático, disciplinado y cuantificable hacia el desarrollo, operación y mantenimiento del </a:t>
            </a:r>
            <a:r>
              <a:rPr lang="es-ES" sz="1400" dirty="0" smtClean="0"/>
              <a:t>software.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1400" dirty="0" smtClean="0"/>
          </a:p>
          <a:p>
            <a:pPr marL="342900" indent="-342900" algn="just">
              <a:buFont typeface="+mj-lt"/>
              <a:buAutoNum type="arabicPeriod"/>
            </a:pPr>
            <a:r>
              <a:rPr lang="es-ES" sz="1400" dirty="0" smtClean="0"/>
              <a:t>Herramienta </a:t>
            </a:r>
            <a:r>
              <a:rPr lang="es-ES" sz="1400" dirty="0"/>
              <a:t>gráfica que representa los distintos estados que puede tomar cada parte de un sistema de información, así como los eventos que propician el cambio entre estados.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1400" dirty="0"/>
          </a:p>
          <a:p>
            <a:pPr marL="342900" indent="-342900" algn="just">
              <a:buFont typeface="+mj-lt"/>
              <a:buAutoNum type="arabicPeriod"/>
            </a:pPr>
            <a:r>
              <a:rPr lang="es-ES" sz="1400" dirty="0"/>
              <a:t>Técnica que representa gráficamente los límites de un sistema de información, mostrando el flujo de datos entre </a:t>
            </a:r>
            <a:r>
              <a:rPr lang="es-ES" sz="1400" dirty="0" smtClean="0"/>
              <a:t>sus integrantes.</a:t>
            </a:r>
            <a:endParaRPr lang="es-ES" sz="1400" dirty="0"/>
          </a:p>
          <a:p>
            <a:pPr marL="342900" indent="-342900" algn="just">
              <a:buFont typeface="+mj-lt"/>
              <a:buAutoNum type="arabicPeriod"/>
            </a:pPr>
            <a:endParaRPr lang="es-ES" sz="1400" dirty="0"/>
          </a:p>
          <a:p>
            <a:pPr marL="342900" indent="-342900" algn="just">
              <a:buFont typeface="+mj-lt"/>
              <a:buAutoNum type="arabicPeriod"/>
            </a:pPr>
            <a:r>
              <a:rPr lang="es-ES" sz="1400" dirty="0"/>
              <a:t>Instituto Nacional Estadounidense de Estándares (American </a:t>
            </a:r>
            <a:r>
              <a:rPr lang="es-ES" sz="1400" dirty="0" err="1"/>
              <a:t>National</a:t>
            </a:r>
            <a:r>
              <a:rPr lang="es-ES" sz="1400" dirty="0"/>
              <a:t> </a:t>
            </a:r>
            <a:r>
              <a:rPr lang="es-ES" sz="1400" dirty="0" err="1"/>
              <a:t>Standards</a:t>
            </a:r>
            <a:r>
              <a:rPr lang="es-ES" sz="1400" dirty="0"/>
              <a:t> </a:t>
            </a:r>
            <a:r>
              <a:rPr lang="es-ES" sz="1400" dirty="0" err="1"/>
              <a:t>Institute</a:t>
            </a:r>
            <a:r>
              <a:rPr lang="es-ES" sz="1400" dirty="0"/>
              <a:t>). Organismo de estandarización.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1400" dirty="0"/>
          </a:p>
          <a:p>
            <a:pPr marL="342900" indent="-342900" algn="just">
              <a:buFont typeface="+mj-lt"/>
              <a:buAutoNum type="arabicPeriod"/>
            </a:pPr>
            <a:r>
              <a:rPr lang="es-ES" sz="1400" dirty="0"/>
              <a:t>Aplicación que presta soporte a diversas fases del desarrollo de software aportando un enfoque de ingeniería.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1400" dirty="0"/>
          </a:p>
          <a:p>
            <a:pPr marL="342900" indent="-342900" algn="just">
              <a:buFont typeface="+mj-lt"/>
              <a:buAutoNum type="arabicPeriod"/>
            </a:pPr>
            <a:r>
              <a:rPr lang="es-ES" sz="1400" dirty="0"/>
              <a:t>Proceso sistemático orientado a obtener los requisitos que debe cumplir un software (necesidades del usuario, comportamiento interno y externo, documentación y evolución del sistema).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1400" dirty="0"/>
          </a:p>
          <a:p>
            <a:pPr marL="342900" indent="-342900" algn="just">
              <a:buFont typeface="+mj-lt"/>
              <a:buAutoNum type="arabicPeriod"/>
            </a:pPr>
            <a:r>
              <a:rPr lang="es-ES" sz="1400" dirty="0"/>
              <a:t>Conjunto de filosofías, fases, procedimientos, reglas, técnicas, herramientas, documentación y aspectos de formación para los desarrolladores de sistemas de </a:t>
            </a:r>
            <a:r>
              <a:rPr lang="es-ES" sz="1400" dirty="0" smtClean="0"/>
              <a:t>información.</a:t>
            </a:r>
          </a:p>
          <a:p>
            <a:pPr marL="342900" indent="-342900" algn="just">
              <a:buFont typeface="+mj-lt"/>
              <a:buAutoNum type="arabicPeriod"/>
            </a:pPr>
            <a:endParaRPr lang="es-ES" sz="1400" dirty="0"/>
          </a:p>
          <a:p>
            <a:pPr marL="342900" indent="-342900" algn="just">
              <a:buFont typeface="+mj-lt"/>
              <a:buAutoNum type="arabicPeriod"/>
            </a:pPr>
            <a:r>
              <a:rPr lang="es-ES" sz="1400" dirty="0" smtClean="0"/>
              <a:t>Representa objetos y atributos con sus relaciones entre ellos</a:t>
            </a:r>
            <a:endParaRPr lang="es-ES" sz="1400" dirty="0"/>
          </a:p>
        </p:txBody>
      </p:sp>
      <p:cxnSp>
        <p:nvCxnSpPr>
          <p:cNvPr id="12" name="Conector recto de flecha 11"/>
          <p:cNvCxnSpPr/>
          <p:nvPr/>
        </p:nvCxnSpPr>
        <p:spPr>
          <a:xfrm>
            <a:off x="685800" y="2743200"/>
            <a:ext cx="281940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>
            <a:off x="3048000" y="4114800"/>
            <a:ext cx="533400" cy="2057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>
            <a:off x="2590800" y="5334000"/>
            <a:ext cx="990600" cy="7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 flipV="1">
            <a:off x="2057400" y="1143000"/>
            <a:ext cx="1447800" cy="3886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V="1">
            <a:off x="2743200" y="3886200"/>
            <a:ext cx="8382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 flipV="1">
            <a:off x="2286000" y="1752600"/>
            <a:ext cx="1219200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/>
          <p:nvPr/>
        </p:nvCxnSpPr>
        <p:spPr>
          <a:xfrm flipV="1">
            <a:off x="1600200" y="2590800"/>
            <a:ext cx="19812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/>
          <p:nvPr/>
        </p:nvCxnSpPr>
        <p:spPr>
          <a:xfrm>
            <a:off x="1905000" y="2133600"/>
            <a:ext cx="1600200" cy="243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49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672" y="381000"/>
            <a:ext cx="7772653" cy="607859"/>
          </a:xfrm>
        </p:spPr>
        <p:txBody>
          <a:bodyPr/>
          <a:lstStyle/>
          <a:p>
            <a:r>
              <a:rPr lang="es-ES" dirty="0"/>
              <a:t>GLOSARIO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11769" y="1556549"/>
            <a:ext cx="8520460" cy="5301451"/>
          </a:xfrm>
        </p:spPr>
        <p:txBody>
          <a:bodyPr/>
          <a:lstStyle/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374151"/>
                </a:solidFill>
                <a:latin typeface="Söhne"/>
              </a:rPr>
              <a:t>ANSI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: Instituto Nacional Estadounidense de Estándares (American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National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Standards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Institute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). Organismo de estandarización.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374151"/>
                </a:solidFill>
                <a:latin typeface="Söhne"/>
              </a:rPr>
              <a:t>Ingeniería del software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: Aplicación de un enfoque sistemático, disciplinado y cuantificable hacia el desarrollo, operación y mantenimiento del software (definición del Instituto de Ingeniería Eléctrica y Electrónica IEEE,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Institute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 of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Electrical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 and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Electronics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Engineers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, 1993).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374151"/>
                </a:solidFill>
                <a:latin typeface="Söhne"/>
              </a:rPr>
              <a:t>Herramienta CASE 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(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computer-aided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 software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engineering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, ingeniería del software asistida por ordenador): Aplicación que presta soporte a diversas fases del desarrollo de software aportando un enfoque de ingeniería.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374151"/>
                </a:solidFill>
                <a:latin typeface="Söhne"/>
              </a:rPr>
              <a:t>Metodología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 (de desarrollo de software): Conjunto de filosofías, fases, procedimientos, reglas, técnicas, herramientas, documentación y aspectos de formación para los desarrolladores de sistemas de información (definición de Richard </a:t>
            </a:r>
            <a:r>
              <a:rPr lang="es-ES" sz="1600" dirty="0" err="1">
                <a:solidFill>
                  <a:srgbClr val="374151"/>
                </a:solidFill>
                <a:latin typeface="Söhne"/>
              </a:rPr>
              <a:t>Maddison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, 1983).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374151"/>
                </a:solidFill>
                <a:latin typeface="Söhne"/>
              </a:rPr>
              <a:t>Análisis (de requisitos del software): 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Proceso sistemático orientado a obtener los requisitos que debe cumplir un software (necesidades del usuario, comportamiento interno y externo, documentación y evolución del sistema).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374151"/>
                </a:solidFill>
                <a:latin typeface="Söhne"/>
              </a:rPr>
              <a:t>Diagrama de flujo de datos (DFD): 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Técnica que representa gráficamente los límites de un sistema de información, mostrando el flujo de datos entre sus integrantes y ofreciendo una descomposición de procesos a varios niveles.</a:t>
            </a:r>
          </a:p>
          <a:p>
            <a:pPr algn="just">
              <a:buFont typeface="+mj-lt"/>
              <a:buAutoNum type="arabicPeriod"/>
            </a:pPr>
            <a:r>
              <a:rPr lang="es-ES" sz="1600" b="1" dirty="0">
                <a:solidFill>
                  <a:srgbClr val="374151"/>
                </a:solidFill>
                <a:latin typeface="Söhne"/>
              </a:rPr>
              <a:t>Diagrama de transición de estados (DTE): </a:t>
            </a:r>
            <a:r>
              <a:rPr lang="es-ES" sz="1600" dirty="0">
                <a:solidFill>
                  <a:srgbClr val="374151"/>
                </a:solidFill>
                <a:latin typeface="Söhne"/>
              </a:rPr>
              <a:t>Herramienta gráfica que representa los distintos estados que puede tomar cada parte de un sistema de información, así como los eventos que propician el cambio entre estados.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793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673" y="353567"/>
            <a:ext cx="26276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15" dirty="0"/>
              <a:t>Int</a:t>
            </a:r>
            <a:r>
              <a:rPr sz="4400" spc="-280" dirty="0"/>
              <a:t>r</a:t>
            </a:r>
            <a:r>
              <a:rPr sz="4400" spc="-330" dirty="0"/>
              <a:t>oducción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04800" y="1575510"/>
            <a:ext cx="8342452" cy="4218463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55600" marR="12065" indent="-343535" algn="just">
              <a:lnSpc>
                <a:spcPts val="3130"/>
              </a:lnSpc>
              <a:spcBef>
                <a:spcPts val="495"/>
              </a:spcBef>
              <a:buClr>
                <a:srgbClr val="DD8047"/>
              </a:buClr>
              <a:buSzPct val="58620"/>
              <a:buFont typeface="Cambria"/>
              <a:buChar char="◻"/>
              <a:tabLst>
                <a:tab pos="354965" algn="l"/>
                <a:tab pos="356235" algn="l"/>
              </a:tabLst>
            </a:pPr>
            <a:r>
              <a:rPr sz="2900" spc="-204" dirty="0">
                <a:latin typeface="Microsoft Sans Serif"/>
                <a:cs typeface="Microsoft Sans Serif"/>
              </a:rPr>
              <a:t>Cuando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210" dirty="0">
                <a:latin typeface="Microsoft Sans Serif"/>
                <a:cs typeface="Microsoft Sans Serif"/>
              </a:rPr>
              <a:t>intentamos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125" dirty="0">
                <a:latin typeface="Microsoft Sans Serif"/>
                <a:cs typeface="Microsoft Sans Serif"/>
              </a:rPr>
              <a:t>representar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355" dirty="0">
                <a:latin typeface="Microsoft Sans Serif"/>
                <a:cs typeface="Microsoft Sans Serif"/>
              </a:rPr>
              <a:t>u</a:t>
            </a:r>
            <a:r>
              <a:rPr sz="2900" spc="-345" dirty="0">
                <a:latin typeface="Microsoft Sans Serif"/>
                <a:cs typeface="Microsoft Sans Serif"/>
              </a:rPr>
              <a:t>n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240" dirty="0">
                <a:latin typeface="Microsoft Sans Serif"/>
                <a:cs typeface="Microsoft Sans Serif"/>
              </a:rPr>
              <a:t>sistema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70" dirty="0">
                <a:latin typeface="Microsoft Sans Serif"/>
                <a:cs typeface="Microsoft Sans Serif"/>
              </a:rPr>
              <a:t>de  </a:t>
            </a:r>
            <a:r>
              <a:rPr sz="2900" spc="-165" dirty="0">
                <a:latin typeface="Microsoft Sans Serif"/>
                <a:cs typeface="Microsoft Sans Serif"/>
              </a:rPr>
              <a:t>información,</a:t>
            </a:r>
            <a:r>
              <a:rPr sz="2900" spc="-160" dirty="0">
                <a:latin typeface="Microsoft Sans Serif"/>
                <a:cs typeface="Microsoft Sans Serif"/>
              </a:rPr>
              <a:t> </a:t>
            </a:r>
            <a:r>
              <a:rPr sz="2900" spc="-325" dirty="0">
                <a:latin typeface="Microsoft Sans Serif"/>
                <a:cs typeface="Microsoft Sans Serif"/>
              </a:rPr>
              <a:t>se</a:t>
            </a:r>
            <a:r>
              <a:rPr sz="2900" spc="-320" dirty="0">
                <a:latin typeface="Microsoft Sans Serif"/>
                <a:cs typeface="Microsoft Sans Serif"/>
              </a:rPr>
              <a:t> </a:t>
            </a:r>
            <a:r>
              <a:rPr sz="2900" spc="-140" dirty="0">
                <a:latin typeface="Microsoft Sans Serif"/>
                <a:cs typeface="Microsoft Sans Serif"/>
              </a:rPr>
              <a:t>intenta </a:t>
            </a:r>
            <a:r>
              <a:rPr sz="2900" spc="-180" dirty="0">
                <a:latin typeface="Microsoft Sans Serif"/>
                <a:cs typeface="Microsoft Sans Serif"/>
              </a:rPr>
              <a:t>que</a:t>
            </a:r>
            <a:r>
              <a:rPr sz="2900" spc="-175" dirty="0">
                <a:latin typeface="Microsoft Sans Serif"/>
                <a:cs typeface="Microsoft Sans Serif"/>
              </a:rPr>
              <a:t> </a:t>
            </a:r>
            <a:r>
              <a:rPr sz="2900" spc="-229" dirty="0">
                <a:latin typeface="Microsoft Sans Serif"/>
                <a:cs typeface="Microsoft Sans Serif"/>
              </a:rPr>
              <a:t>los</a:t>
            </a:r>
            <a:r>
              <a:rPr sz="2900" spc="-225" dirty="0">
                <a:latin typeface="Microsoft Sans Serif"/>
                <a:cs typeface="Microsoft Sans Serif"/>
              </a:rPr>
              <a:t> </a:t>
            </a:r>
            <a:r>
              <a:rPr sz="2900" spc="-145" dirty="0">
                <a:latin typeface="Microsoft Sans Serif"/>
                <a:cs typeface="Microsoft Sans Serif"/>
              </a:rPr>
              <a:t>datos </a:t>
            </a:r>
            <a:r>
              <a:rPr sz="2900" spc="-95" dirty="0">
                <a:latin typeface="Microsoft Sans Serif"/>
                <a:cs typeface="Microsoft Sans Serif"/>
              </a:rPr>
              <a:t>reflejen </a:t>
            </a:r>
            <a:r>
              <a:rPr sz="2900" spc="-165" dirty="0">
                <a:latin typeface="Microsoft Sans Serif"/>
                <a:cs typeface="Microsoft Sans Serif"/>
              </a:rPr>
              <a:t>o </a:t>
            </a:r>
            <a:r>
              <a:rPr sz="2900" spc="-160" dirty="0">
                <a:latin typeface="Microsoft Sans Serif"/>
                <a:cs typeface="Microsoft Sans Serif"/>
              </a:rPr>
              <a:t> </a:t>
            </a:r>
            <a:r>
              <a:rPr sz="2900" spc="-120" dirty="0">
                <a:latin typeface="Microsoft Sans Serif"/>
                <a:cs typeface="Microsoft Sans Serif"/>
              </a:rPr>
              <a:t>interpreten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25" dirty="0">
                <a:latin typeface="Microsoft Sans Serif"/>
                <a:cs typeface="Microsoft Sans Serif"/>
              </a:rPr>
              <a:t>la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35" dirty="0">
                <a:latin typeface="Microsoft Sans Serif"/>
                <a:cs typeface="Microsoft Sans Serif"/>
              </a:rPr>
              <a:t>realidad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95" dirty="0">
                <a:latin typeface="Microsoft Sans Serif"/>
                <a:cs typeface="Microsoft Sans Serif"/>
              </a:rPr>
              <a:t>de</a:t>
            </a:r>
            <a:r>
              <a:rPr sz="2900" spc="15" dirty="0">
                <a:latin typeface="Microsoft Sans Serif"/>
                <a:cs typeface="Microsoft Sans Serif"/>
              </a:rPr>
              <a:t> </a:t>
            </a:r>
            <a:r>
              <a:rPr sz="2900" spc="-25" dirty="0">
                <a:latin typeface="Microsoft Sans Serif"/>
                <a:cs typeface="Microsoft Sans Serif"/>
              </a:rPr>
              <a:t>la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175" dirty="0">
                <a:latin typeface="Microsoft Sans Serif"/>
                <a:cs typeface="Microsoft Sans Serif"/>
              </a:rPr>
              <a:t>mejor</a:t>
            </a:r>
            <a:r>
              <a:rPr sz="2900" spc="15" dirty="0">
                <a:latin typeface="Microsoft Sans Serif"/>
                <a:cs typeface="Microsoft Sans Serif"/>
              </a:rPr>
              <a:t> </a:t>
            </a:r>
            <a:r>
              <a:rPr sz="2900" spc="-180" dirty="0">
                <a:latin typeface="Microsoft Sans Serif"/>
                <a:cs typeface="Microsoft Sans Serif"/>
              </a:rPr>
              <a:t>manera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140" dirty="0">
                <a:latin typeface="Microsoft Sans Serif"/>
                <a:cs typeface="Microsoft Sans Serif"/>
              </a:rPr>
              <a:t>posible.</a:t>
            </a:r>
            <a:endParaRPr sz="2900" dirty="0">
              <a:latin typeface="Microsoft Sans Serif"/>
              <a:cs typeface="Microsoft Sans Serif"/>
            </a:endParaRPr>
          </a:p>
          <a:p>
            <a:pPr marL="355600" marR="285750" indent="-343535" algn="just">
              <a:lnSpc>
                <a:spcPts val="3130"/>
              </a:lnSpc>
              <a:spcBef>
                <a:spcPts val="705"/>
              </a:spcBef>
              <a:buClr>
                <a:srgbClr val="DD8047"/>
              </a:buClr>
              <a:buSzPct val="58620"/>
              <a:buFont typeface="Cambria"/>
              <a:buChar char="◻"/>
              <a:tabLst>
                <a:tab pos="354965" algn="l"/>
                <a:tab pos="356235" algn="l"/>
              </a:tabLst>
            </a:pPr>
            <a:r>
              <a:rPr sz="2900" spc="-400" dirty="0">
                <a:latin typeface="Microsoft Sans Serif"/>
                <a:cs typeface="Microsoft Sans Serif"/>
              </a:rPr>
              <a:t>Lo</a:t>
            </a:r>
            <a:r>
              <a:rPr sz="2900" spc="-355" dirty="0">
                <a:latin typeface="Microsoft Sans Serif"/>
                <a:cs typeface="Microsoft Sans Serif"/>
              </a:rPr>
              <a:t>s</a:t>
            </a:r>
            <a:r>
              <a:rPr sz="2900" spc="35" dirty="0">
                <a:latin typeface="Microsoft Sans Serif"/>
                <a:cs typeface="Microsoft Sans Serif"/>
              </a:rPr>
              <a:t> </a:t>
            </a:r>
            <a:r>
              <a:rPr lang="es-ES" sz="2900" b="1" spc="-425" dirty="0" smtClean="0">
                <a:latin typeface="Arial"/>
                <a:cs typeface="Arial"/>
              </a:rPr>
              <a:t>MODELO</a:t>
            </a:r>
            <a:r>
              <a:rPr lang="es-ES" sz="2900" b="1" spc="-390" dirty="0" smtClean="0">
                <a:latin typeface="Arial"/>
                <a:cs typeface="Arial"/>
              </a:rPr>
              <a:t>S</a:t>
            </a:r>
            <a:r>
              <a:rPr lang="es-ES" sz="2900" b="1" spc="-40" dirty="0" smtClean="0">
                <a:latin typeface="Arial"/>
                <a:cs typeface="Arial"/>
              </a:rPr>
              <a:t> </a:t>
            </a:r>
            <a:r>
              <a:rPr lang="es-ES" sz="2900" b="1" spc="-305" dirty="0" smtClean="0">
                <a:latin typeface="Arial"/>
                <a:cs typeface="Arial"/>
              </a:rPr>
              <a:t>DE</a:t>
            </a:r>
            <a:r>
              <a:rPr lang="es-ES" sz="2900" b="1" spc="-35" dirty="0" smtClean="0">
                <a:latin typeface="Arial"/>
                <a:cs typeface="Arial"/>
              </a:rPr>
              <a:t> </a:t>
            </a:r>
            <a:r>
              <a:rPr lang="es-ES" sz="2900" b="1" spc="-320" dirty="0" smtClean="0">
                <a:latin typeface="Arial"/>
                <a:cs typeface="Arial"/>
              </a:rPr>
              <a:t>D</a:t>
            </a:r>
            <a:r>
              <a:rPr lang="es-ES" sz="2900" b="1" spc="-235" dirty="0" smtClean="0">
                <a:latin typeface="Arial"/>
                <a:cs typeface="Arial"/>
              </a:rPr>
              <a:t>A</a:t>
            </a:r>
            <a:r>
              <a:rPr lang="es-ES" sz="2900" b="1" spc="-395" dirty="0" smtClean="0">
                <a:latin typeface="Arial"/>
                <a:cs typeface="Arial"/>
              </a:rPr>
              <a:t>TO</a:t>
            </a:r>
            <a:r>
              <a:rPr lang="es-ES" sz="2900" b="1" spc="-459" dirty="0" smtClean="0">
                <a:latin typeface="Arial"/>
                <a:cs typeface="Arial"/>
              </a:rPr>
              <a:t>S</a:t>
            </a:r>
            <a:r>
              <a:rPr lang="es-ES" sz="2900" b="1" spc="10" dirty="0" smtClean="0">
                <a:latin typeface="Arial"/>
                <a:cs typeface="Arial"/>
              </a:rPr>
              <a:t> </a:t>
            </a:r>
            <a:r>
              <a:rPr sz="2900" spc="-355" dirty="0" err="1" smtClean="0">
                <a:latin typeface="Microsoft Sans Serif"/>
                <a:cs typeface="Microsoft Sans Serif"/>
              </a:rPr>
              <a:t>no</a:t>
            </a:r>
            <a:r>
              <a:rPr sz="2900" spc="-310" dirty="0" err="1" smtClean="0">
                <a:latin typeface="Microsoft Sans Serif"/>
                <a:cs typeface="Microsoft Sans Serif"/>
              </a:rPr>
              <a:t>s</a:t>
            </a:r>
            <a:r>
              <a:rPr sz="2900" spc="20" dirty="0" smtClean="0">
                <a:latin typeface="Microsoft Sans Serif"/>
                <a:cs typeface="Microsoft Sans Serif"/>
              </a:rPr>
              <a:t> </a:t>
            </a:r>
            <a:r>
              <a:rPr sz="2900" spc="-80" dirty="0">
                <a:latin typeface="Microsoft Sans Serif"/>
                <a:cs typeface="Microsoft Sans Serif"/>
              </a:rPr>
              <a:t>a</a:t>
            </a:r>
            <a:r>
              <a:rPr sz="2900" spc="-145" dirty="0">
                <a:latin typeface="Microsoft Sans Serif"/>
                <a:cs typeface="Microsoft Sans Serif"/>
              </a:rPr>
              <a:t>yudan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254" dirty="0">
                <a:latin typeface="Microsoft Sans Serif"/>
                <a:cs typeface="Microsoft Sans Serif"/>
              </a:rPr>
              <a:t>en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170" dirty="0">
                <a:latin typeface="Microsoft Sans Serif"/>
                <a:cs typeface="Microsoft Sans Serif"/>
              </a:rPr>
              <a:t>esta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50" dirty="0">
                <a:latin typeface="Microsoft Sans Serif"/>
                <a:cs typeface="Microsoft Sans Serif"/>
              </a:rPr>
              <a:t>tare</a:t>
            </a:r>
            <a:r>
              <a:rPr sz="2900" spc="-55" dirty="0">
                <a:latin typeface="Microsoft Sans Serif"/>
                <a:cs typeface="Microsoft Sans Serif"/>
              </a:rPr>
              <a:t>a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70" dirty="0">
                <a:latin typeface="Microsoft Sans Serif"/>
                <a:cs typeface="Microsoft Sans Serif"/>
              </a:rPr>
              <a:t>de  </a:t>
            </a:r>
            <a:r>
              <a:rPr sz="2900" spc="-75" dirty="0">
                <a:latin typeface="Microsoft Sans Serif"/>
                <a:cs typeface="Microsoft Sans Serif"/>
              </a:rPr>
              <a:t>interpretar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25" dirty="0">
                <a:latin typeface="Microsoft Sans Serif"/>
                <a:cs typeface="Microsoft Sans Serif"/>
              </a:rPr>
              <a:t>la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35" dirty="0">
                <a:latin typeface="Microsoft Sans Serif"/>
                <a:cs typeface="Microsoft Sans Serif"/>
              </a:rPr>
              <a:t>realidad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140" dirty="0">
                <a:latin typeface="Microsoft Sans Serif"/>
                <a:cs typeface="Microsoft Sans Serif"/>
              </a:rPr>
              <a:t>ayudados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95" dirty="0">
                <a:latin typeface="Microsoft Sans Serif"/>
                <a:cs typeface="Microsoft Sans Serif"/>
              </a:rPr>
              <a:t>de</a:t>
            </a:r>
            <a:r>
              <a:rPr sz="2900" spc="20" dirty="0">
                <a:latin typeface="Microsoft Sans Serif"/>
                <a:cs typeface="Microsoft Sans Serif"/>
              </a:rPr>
              <a:t> </a:t>
            </a:r>
            <a:r>
              <a:rPr sz="2900" spc="-180" dirty="0">
                <a:latin typeface="Microsoft Sans Serif"/>
                <a:cs typeface="Microsoft Sans Serif"/>
              </a:rPr>
              <a:t>las </a:t>
            </a:r>
            <a:r>
              <a:rPr sz="2900" spc="-175" dirty="0">
                <a:latin typeface="Microsoft Sans Serif"/>
                <a:cs typeface="Microsoft Sans Serif"/>
              </a:rPr>
              <a:t> </a:t>
            </a:r>
            <a:r>
              <a:rPr sz="2900" spc="-220" dirty="0">
                <a:latin typeface="Arial"/>
                <a:cs typeface="Arial"/>
              </a:rPr>
              <a:t>restricciones.</a:t>
            </a:r>
            <a:endParaRPr sz="2900" dirty="0">
              <a:latin typeface="Arial"/>
              <a:cs typeface="Arial"/>
            </a:endParaRPr>
          </a:p>
          <a:p>
            <a:pPr marL="355600" marR="5080" indent="-343535" algn="just">
              <a:lnSpc>
                <a:spcPts val="3130"/>
              </a:lnSpc>
              <a:spcBef>
                <a:spcPts val="705"/>
              </a:spcBef>
              <a:buClr>
                <a:srgbClr val="DD8047"/>
              </a:buClr>
              <a:buSzPct val="58620"/>
              <a:buFont typeface="Cambria"/>
              <a:buChar char="◻"/>
              <a:tabLst>
                <a:tab pos="354965" algn="l"/>
                <a:tab pos="356235" algn="l"/>
              </a:tabLst>
            </a:pPr>
            <a:r>
              <a:rPr sz="2900" spc="-345" dirty="0">
                <a:latin typeface="Microsoft Sans Serif"/>
                <a:cs typeface="Microsoft Sans Serif"/>
              </a:rPr>
              <a:t>Un</a:t>
            </a:r>
            <a:r>
              <a:rPr sz="2900" spc="-340" dirty="0">
                <a:latin typeface="Microsoft Sans Serif"/>
                <a:cs typeface="Microsoft Sans Serif"/>
              </a:rPr>
              <a:t> </a:t>
            </a:r>
            <a:r>
              <a:rPr sz="2900" b="1" spc="-195" dirty="0">
                <a:latin typeface="Arial"/>
                <a:cs typeface="Arial"/>
              </a:rPr>
              <a:t>Modelo </a:t>
            </a:r>
            <a:r>
              <a:rPr sz="2900" b="1" spc="-235" dirty="0">
                <a:latin typeface="Arial"/>
                <a:cs typeface="Arial"/>
              </a:rPr>
              <a:t>de </a:t>
            </a:r>
            <a:r>
              <a:rPr sz="2900" b="1" spc="-225" dirty="0">
                <a:latin typeface="Arial"/>
                <a:cs typeface="Arial"/>
              </a:rPr>
              <a:t>Datos</a:t>
            </a:r>
            <a:r>
              <a:rPr sz="2900" b="1" spc="-220" dirty="0">
                <a:latin typeface="Arial"/>
                <a:cs typeface="Arial"/>
              </a:rPr>
              <a:t> </a:t>
            </a:r>
            <a:r>
              <a:rPr sz="2900" spc="-325" dirty="0">
                <a:latin typeface="Microsoft Sans Serif"/>
                <a:cs typeface="Microsoft Sans Serif"/>
              </a:rPr>
              <a:t>es</a:t>
            </a:r>
            <a:r>
              <a:rPr sz="2900" spc="120" dirty="0">
                <a:latin typeface="Microsoft Sans Serif"/>
                <a:cs typeface="Microsoft Sans Serif"/>
              </a:rPr>
              <a:t> </a:t>
            </a:r>
            <a:r>
              <a:rPr sz="2900" spc="-350" dirty="0">
                <a:latin typeface="Microsoft Sans Serif"/>
                <a:cs typeface="Microsoft Sans Serif"/>
              </a:rPr>
              <a:t>un</a:t>
            </a:r>
            <a:r>
              <a:rPr sz="2900" spc="70" dirty="0">
                <a:latin typeface="Microsoft Sans Serif"/>
                <a:cs typeface="Microsoft Sans Serif"/>
              </a:rPr>
              <a:t> </a:t>
            </a:r>
            <a:r>
              <a:rPr sz="2900" spc="-225" dirty="0">
                <a:latin typeface="Microsoft Sans Serif"/>
                <a:cs typeface="Microsoft Sans Serif"/>
              </a:rPr>
              <a:t>conjunto</a:t>
            </a:r>
            <a:r>
              <a:rPr sz="2900" spc="320" dirty="0">
                <a:latin typeface="Microsoft Sans Serif"/>
                <a:cs typeface="Microsoft Sans Serif"/>
              </a:rPr>
              <a:t> </a:t>
            </a:r>
            <a:r>
              <a:rPr sz="2900" spc="-95" dirty="0">
                <a:latin typeface="Microsoft Sans Serif"/>
                <a:cs typeface="Microsoft Sans Serif"/>
              </a:rPr>
              <a:t>de </a:t>
            </a:r>
            <a:r>
              <a:rPr sz="2900" spc="-229" dirty="0">
                <a:latin typeface="Microsoft Sans Serif"/>
                <a:cs typeface="Microsoft Sans Serif"/>
              </a:rPr>
              <a:t>conceptos </a:t>
            </a:r>
            <a:r>
              <a:rPr sz="2900" spc="-225" dirty="0">
                <a:latin typeface="Microsoft Sans Serif"/>
                <a:cs typeface="Microsoft Sans Serif"/>
              </a:rPr>
              <a:t> </a:t>
            </a:r>
            <a:r>
              <a:rPr sz="2900" spc="-180" dirty="0">
                <a:latin typeface="Microsoft Sans Serif"/>
                <a:cs typeface="Microsoft Sans Serif"/>
              </a:rPr>
              <a:t>que</a:t>
            </a:r>
            <a:r>
              <a:rPr sz="2900" spc="-175" dirty="0">
                <a:latin typeface="Microsoft Sans Serif"/>
                <a:cs typeface="Microsoft Sans Serif"/>
              </a:rPr>
              <a:t> </a:t>
            </a:r>
            <a:r>
              <a:rPr sz="2900" spc="-155" dirty="0">
                <a:latin typeface="Microsoft Sans Serif"/>
                <a:cs typeface="Microsoft Sans Serif"/>
              </a:rPr>
              <a:t>permiten </a:t>
            </a:r>
            <a:r>
              <a:rPr sz="2900" spc="-150" dirty="0">
                <a:latin typeface="Microsoft Sans Serif"/>
                <a:cs typeface="Microsoft Sans Serif"/>
              </a:rPr>
              <a:t>describir, </a:t>
            </a:r>
            <a:r>
              <a:rPr sz="2900" spc="-15" dirty="0">
                <a:latin typeface="Microsoft Sans Serif"/>
                <a:cs typeface="Microsoft Sans Serif"/>
              </a:rPr>
              <a:t>a </a:t>
            </a:r>
            <a:r>
              <a:rPr sz="2900" spc="-180" dirty="0">
                <a:latin typeface="Microsoft Sans Serif"/>
                <a:cs typeface="Microsoft Sans Serif"/>
              </a:rPr>
              <a:t>distintos</a:t>
            </a:r>
            <a:r>
              <a:rPr sz="2900" spc="-175" dirty="0">
                <a:latin typeface="Microsoft Sans Serif"/>
                <a:cs typeface="Microsoft Sans Serif"/>
              </a:rPr>
              <a:t> </a:t>
            </a:r>
            <a:r>
              <a:rPr sz="2900" spc="-210" dirty="0">
                <a:latin typeface="Microsoft Sans Serif"/>
                <a:cs typeface="Microsoft Sans Serif"/>
              </a:rPr>
              <a:t>niveles</a:t>
            </a:r>
            <a:r>
              <a:rPr sz="2900" spc="-204" dirty="0">
                <a:latin typeface="Microsoft Sans Serif"/>
                <a:cs typeface="Microsoft Sans Serif"/>
              </a:rPr>
              <a:t> </a:t>
            </a:r>
            <a:r>
              <a:rPr sz="2900" spc="-95" dirty="0">
                <a:latin typeface="Microsoft Sans Serif"/>
                <a:cs typeface="Microsoft Sans Serif"/>
              </a:rPr>
              <a:t>de </a:t>
            </a:r>
            <a:r>
              <a:rPr sz="2900" spc="-90" dirty="0">
                <a:latin typeface="Microsoft Sans Serif"/>
                <a:cs typeface="Microsoft Sans Serif"/>
              </a:rPr>
              <a:t> </a:t>
            </a:r>
            <a:r>
              <a:rPr sz="2900" spc="-170" dirty="0">
                <a:latin typeface="Microsoft Sans Serif"/>
                <a:cs typeface="Microsoft Sans Serif"/>
              </a:rPr>
              <a:t>abstracción,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25" dirty="0">
                <a:latin typeface="Microsoft Sans Serif"/>
                <a:cs typeface="Microsoft Sans Serif"/>
              </a:rPr>
              <a:t>la</a:t>
            </a:r>
            <a:r>
              <a:rPr sz="2900" spc="30" dirty="0">
                <a:latin typeface="Microsoft Sans Serif"/>
                <a:cs typeface="Microsoft Sans Serif"/>
              </a:rPr>
              <a:t> </a:t>
            </a:r>
            <a:r>
              <a:rPr sz="2900" spc="-175" dirty="0">
                <a:latin typeface="Microsoft Sans Serif"/>
                <a:cs typeface="Microsoft Sans Serif"/>
              </a:rPr>
              <a:t>estructura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95" dirty="0">
                <a:latin typeface="Microsoft Sans Serif"/>
                <a:cs typeface="Microsoft Sans Serif"/>
              </a:rPr>
              <a:t>de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240" dirty="0">
                <a:latin typeface="Microsoft Sans Serif"/>
                <a:cs typeface="Microsoft Sans Serif"/>
              </a:rPr>
              <a:t>una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175" dirty="0">
                <a:latin typeface="Microsoft Sans Serif"/>
                <a:cs typeface="Microsoft Sans Serif"/>
              </a:rPr>
              <a:t>base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95" dirty="0">
                <a:latin typeface="Microsoft Sans Serif"/>
                <a:cs typeface="Microsoft Sans Serif"/>
              </a:rPr>
              <a:t>de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145" dirty="0">
                <a:latin typeface="Microsoft Sans Serif"/>
                <a:cs typeface="Microsoft Sans Serif"/>
              </a:rPr>
              <a:t>datos</a:t>
            </a:r>
            <a:r>
              <a:rPr sz="2900" spc="25" dirty="0">
                <a:latin typeface="Microsoft Sans Serif"/>
                <a:cs typeface="Microsoft Sans Serif"/>
              </a:rPr>
              <a:t> </a:t>
            </a:r>
            <a:r>
              <a:rPr sz="2900" spc="-180" dirty="0">
                <a:latin typeface="Microsoft Sans Serif"/>
                <a:cs typeface="Microsoft Sans Serif"/>
              </a:rPr>
              <a:t>que </a:t>
            </a:r>
            <a:r>
              <a:rPr sz="2900" spc="-755" dirty="0">
                <a:latin typeface="Microsoft Sans Serif"/>
                <a:cs typeface="Microsoft Sans Serif"/>
              </a:rPr>
              <a:t> </a:t>
            </a:r>
            <a:r>
              <a:rPr sz="2900" spc="-190" dirty="0">
                <a:latin typeface="Microsoft Sans Serif"/>
                <a:cs typeface="Microsoft Sans Serif"/>
              </a:rPr>
              <a:t>llamaremos</a:t>
            </a:r>
            <a:r>
              <a:rPr sz="2900" spc="30" dirty="0">
                <a:latin typeface="Microsoft Sans Serif"/>
                <a:cs typeface="Microsoft Sans Serif"/>
              </a:rPr>
              <a:t> </a:t>
            </a:r>
            <a:r>
              <a:rPr sz="2900" i="1" spc="-320" dirty="0">
                <a:latin typeface="Arial"/>
                <a:cs typeface="Arial"/>
              </a:rPr>
              <a:t>esquema.</a:t>
            </a:r>
            <a:endParaRPr sz="29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▷ Esquema de base de datos ¡Fotos &amp; Guía 2021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800"/>
            <a:ext cx="7391400" cy="554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012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673" y="353567"/>
            <a:ext cx="38436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90" dirty="0"/>
              <a:t>Modelo</a:t>
            </a:r>
            <a:r>
              <a:rPr sz="4400" dirty="0"/>
              <a:t> </a:t>
            </a:r>
            <a:r>
              <a:rPr sz="4400" spc="-140" dirty="0"/>
              <a:t>de</a:t>
            </a:r>
            <a:r>
              <a:rPr sz="4400" spc="5" dirty="0"/>
              <a:t> </a:t>
            </a:r>
            <a:r>
              <a:rPr sz="4400" spc="-220" dirty="0"/>
              <a:t>datos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42975" y="2214553"/>
            <a:ext cx="2357755" cy="369570"/>
          </a:xfrm>
          <a:prstGeom prst="rect">
            <a:avLst/>
          </a:prstGeom>
          <a:ln w="38099">
            <a:solidFill>
              <a:srgbClr val="0070C0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25"/>
              </a:spcBef>
            </a:pPr>
            <a:r>
              <a:rPr sz="1800" spc="-135" dirty="0">
                <a:latin typeface="Microsoft Sans Serif"/>
                <a:cs typeface="Microsoft Sans Serif"/>
              </a:rPr>
              <a:t>MUNDO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310" dirty="0">
                <a:latin typeface="Microsoft Sans Serif"/>
                <a:cs typeface="Microsoft Sans Serif"/>
              </a:rPr>
              <a:t>REAL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0100" y="4500569"/>
            <a:ext cx="2858135" cy="1000760"/>
          </a:xfrm>
          <a:prstGeom prst="rect">
            <a:avLst/>
          </a:prstGeom>
          <a:solidFill>
            <a:srgbClr val="94B6D1"/>
          </a:solidFill>
          <a:ln w="19049">
            <a:solidFill>
              <a:srgbClr val="6C8499"/>
            </a:solidFill>
          </a:ln>
        </p:spPr>
        <p:txBody>
          <a:bodyPr vert="horz" wrap="square" lIns="0" tIns="216535" rIns="0" bIns="0" rtlCol="0">
            <a:spAutoFit/>
          </a:bodyPr>
          <a:lstStyle/>
          <a:p>
            <a:pPr marL="85725" marR="165100">
              <a:lnSpc>
                <a:spcPct val="100000"/>
              </a:lnSpc>
              <a:spcBef>
                <a:spcPts val="1705"/>
              </a:spcBef>
            </a:pPr>
            <a:r>
              <a:rPr sz="1800" spc="-295" dirty="0">
                <a:solidFill>
                  <a:srgbClr val="FFFFFF"/>
                </a:solidFill>
                <a:latin typeface="Microsoft Sans Serif"/>
                <a:cs typeface="Microsoft Sans Serif"/>
              </a:rPr>
              <a:t>ESTRUCTUR</a:t>
            </a:r>
            <a:r>
              <a:rPr sz="1800" spc="-28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315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sz="1800" spc="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4" dirty="0">
                <a:solidFill>
                  <a:srgbClr val="FFFFFF"/>
                </a:solidFill>
                <a:latin typeface="Microsoft Sans Serif"/>
                <a:cs typeface="Microsoft Sans Serif"/>
              </a:rPr>
              <a:t>D</a:t>
            </a:r>
            <a:r>
              <a:rPr sz="1800" spc="-204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-355" dirty="0">
                <a:solidFill>
                  <a:srgbClr val="FFFFFF"/>
                </a:solidFill>
                <a:latin typeface="Microsoft Sans Serif"/>
                <a:cs typeface="Microsoft Sans Serif"/>
              </a:rPr>
              <a:t>T</a:t>
            </a:r>
            <a:r>
              <a:rPr sz="1800" spc="-114" dirty="0">
                <a:solidFill>
                  <a:srgbClr val="FFFFFF"/>
                </a:solidFill>
                <a:latin typeface="Microsoft Sans Serif"/>
                <a:cs typeface="Microsoft Sans Serif"/>
              </a:rPr>
              <a:t>OS  </a:t>
            </a:r>
            <a:r>
              <a:rPr sz="1800" spc="-220" dirty="0">
                <a:solidFill>
                  <a:srgbClr val="FFFFFF"/>
                </a:solidFill>
                <a:latin typeface="Microsoft Sans Serif"/>
                <a:cs typeface="Microsoft Sans Serif"/>
              </a:rPr>
              <a:t>(ESQUEM</a:t>
            </a:r>
            <a:r>
              <a:rPr sz="1800" spc="-21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≠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15" dirty="0">
                <a:solidFill>
                  <a:srgbClr val="FFFFFF"/>
                </a:solidFill>
                <a:latin typeface="Microsoft Sans Serif"/>
                <a:cs typeface="Microsoft Sans Serif"/>
              </a:rPr>
              <a:t>OCURRENCIA)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81303" y="2839240"/>
            <a:ext cx="123825" cy="1482090"/>
            <a:chOff x="2081303" y="2839240"/>
            <a:chExt cx="123825" cy="1482090"/>
          </a:xfrm>
        </p:grpSpPr>
        <p:sp>
          <p:nvSpPr>
            <p:cNvPr id="6" name="object 6"/>
            <p:cNvSpPr/>
            <p:nvPr/>
          </p:nvSpPr>
          <p:spPr>
            <a:xfrm>
              <a:off x="2143177" y="2858290"/>
              <a:ext cx="1270" cy="1369060"/>
            </a:xfrm>
            <a:custGeom>
              <a:avLst/>
              <a:gdLst/>
              <a:ahLst/>
              <a:cxnLst/>
              <a:rect l="l" t="t" r="r" b="b"/>
              <a:pathLst>
                <a:path w="1269" h="1369060">
                  <a:moveTo>
                    <a:pt x="724" y="0"/>
                  </a:moveTo>
                  <a:lnTo>
                    <a:pt x="0" y="1368832"/>
                  </a:lnTo>
                </a:path>
              </a:pathLst>
            </a:custGeom>
            <a:ln w="38099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303" y="4165202"/>
              <a:ext cx="123793" cy="155842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5348292" y="3276598"/>
            <a:ext cx="2662555" cy="1162685"/>
            <a:chOff x="5348292" y="3276598"/>
            <a:chExt cx="2662555" cy="1162685"/>
          </a:xfrm>
        </p:grpSpPr>
        <p:sp>
          <p:nvSpPr>
            <p:cNvPr id="9" name="object 9"/>
            <p:cNvSpPr/>
            <p:nvPr/>
          </p:nvSpPr>
          <p:spPr>
            <a:xfrm>
              <a:off x="5357817" y="3286123"/>
              <a:ext cx="2643505" cy="1143635"/>
            </a:xfrm>
            <a:custGeom>
              <a:avLst/>
              <a:gdLst/>
              <a:ahLst/>
              <a:cxnLst/>
              <a:rect l="l" t="t" r="r" b="b"/>
              <a:pathLst>
                <a:path w="2643504" h="1143635">
                  <a:moveTo>
                    <a:pt x="1321602" y="1143008"/>
                  </a:moveTo>
                  <a:lnTo>
                    <a:pt x="1255641" y="1142308"/>
                  </a:lnTo>
                  <a:lnTo>
                    <a:pt x="1190517" y="1140232"/>
                  </a:lnTo>
                  <a:lnTo>
                    <a:pt x="1126306" y="1136811"/>
                  </a:lnTo>
                  <a:lnTo>
                    <a:pt x="1063083" y="1132079"/>
                  </a:lnTo>
                  <a:lnTo>
                    <a:pt x="1000925" y="1126068"/>
                  </a:lnTo>
                  <a:lnTo>
                    <a:pt x="939906" y="1118811"/>
                  </a:lnTo>
                  <a:lnTo>
                    <a:pt x="880103" y="1110340"/>
                  </a:lnTo>
                  <a:lnTo>
                    <a:pt x="821592" y="1100689"/>
                  </a:lnTo>
                  <a:lnTo>
                    <a:pt x="764448" y="1089891"/>
                  </a:lnTo>
                  <a:lnTo>
                    <a:pt x="708747" y="1077977"/>
                  </a:lnTo>
                  <a:lnTo>
                    <a:pt x="654564" y="1064981"/>
                  </a:lnTo>
                  <a:lnTo>
                    <a:pt x="601976" y="1050935"/>
                  </a:lnTo>
                  <a:lnTo>
                    <a:pt x="551058" y="1035872"/>
                  </a:lnTo>
                  <a:lnTo>
                    <a:pt x="501885" y="1019826"/>
                  </a:lnTo>
                  <a:lnTo>
                    <a:pt x="454534" y="1002827"/>
                  </a:lnTo>
                  <a:lnTo>
                    <a:pt x="409080" y="984911"/>
                  </a:lnTo>
                  <a:lnTo>
                    <a:pt x="365599" y="966108"/>
                  </a:lnTo>
                  <a:lnTo>
                    <a:pt x="324166" y="946452"/>
                  </a:lnTo>
                  <a:lnTo>
                    <a:pt x="284858" y="925976"/>
                  </a:lnTo>
                  <a:lnTo>
                    <a:pt x="247750" y="904712"/>
                  </a:lnTo>
                  <a:lnTo>
                    <a:pt x="212918" y="882694"/>
                  </a:lnTo>
                  <a:lnTo>
                    <a:pt x="180437" y="859953"/>
                  </a:lnTo>
                  <a:lnTo>
                    <a:pt x="150383" y="836522"/>
                  </a:lnTo>
                  <a:lnTo>
                    <a:pt x="97860" y="787724"/>
                  </a:lnTo>
                  <a:lnTo>
                    <a:pt x="55955" y="736562"/>
                  </a:lnTo>
                  <a:lnTo>
                    <a:pt x="25272" y="683296"/>
                  </a:lnTo>
                  <a:lnTo>
                    <a:pt x="6419" y="628189"/>
                  </a:lnTo>
                  <a:lnTo>
                    <a:pt x="0" y="571504"/>
                  </a:lnTo>
                  <a:lnTo>
                    <a:pt x="1617" y="542980"/>
                  </a:lnTo>
                  <a:lnTo>
                    <a:pt x="14329" y="487051"/>
                  </a:lnTo>
                  <a:lnTo>
                    <a:pt x="39173" y="432832"/>
                  </a:lnTo>
                  <a:lnTo>
                    <a:pt x="75543" y="380585"/>
                  </a:lnTo>
                  <a:lnTo>
                    <a:pt x="122833" y="330572"/>
                  </a:lnTo>
                  <a:lnTo>
                    <a:pt x="180437" y="283055"/>
                  </a:lnTo>
                  <a:lnTo>
                    <a:pt x="212918" y="260314"/>
                  </a:lnTo>
                  <a:lnTo>
                    <a:pt x="247750" y="238295"/>
                  </a:lnTo>
                  <a:lnTo>
                    <a:pt x="284858" y="217031"/>
                  </a:lnTo>
                  <a:lnTo>
                    <a:pt x="324166" y="196555"/>
                  </a:lnTo>
                  <a:lnTo>
                    <a:pt x="365599" y="176899"/>
                  </a:lnTo>
                  <a:lnTo>
                    <a:pt x="409080" y="158097"/>
                  </a:lnTo>
                  <a:lnTo>
                    <a:pt x="454534" y="140180"/>
                  </a:lnTo>
                  <a:lnTo>
                    <a:pt x="501885" y="123182"/>
                  </a:lnTo>
                  <a:lnTo>
                    <a:pt x="551058" y="107135"/>
                  </a:lnTo>
                  <a:lnTo>
                    <a:pt x="601976" y="92072"/>
                  </a:lnTo>
                  <a:lnTo>
                    <a:pt x="654564" y="78027"/>
                  </a:lnTo>
                  <a:lnTo>
                    <a:pt x="708747" y="65030"/>
                  </a:lnTo>
                  <a:lnTo>
                    <a:pt x="764448" y="53117"/>
                  </a:lnTo>
                  <a:lnTo>
                    <a:pt x="821592" y="42318"/>
                  </a:lnTo>
                  <a:lnTo>
                    <a:pt x="880103" y="32667"/>
                  </a:lnTo>
                  <a:lnTo>
                    <a:pt x="939906" y="24196"/>
                  </a:lnTo>
                  <a:lnTo>
                    <a:pt x="1000925" y="16939"/>
                  </a:lnTo>
                  <a:lnTo>
                    <a:pt x="1063083" y="10928"/>
                  </a:lnTo>
                  <a:lnTo>
                    <a:pt x="1126306" y="6196"/>
                  </a:lnTo>
                  <a:lnTo>
                    <a:pt x="1190517" y="2775"/>
                  </a:lnTo>
                  <a:lnTo>
                    <a:pt x="1255641" y="699"/>
                  </a:lnTo>
                  <a:lnTo>
                    <a:pt x="1321602" y="0"/>
                  </a:lnTo>
                  <a:lnTo>
                    <a:pt x="1387564" y="699"/>
                  </a:lnTo>
                  <a:lnTo>
                    <a:pt x="1452688" y="2775"/>
                  </a:lnTo>
                  <a:lnTo>
                    <a:pt x="1516899" y="6196"/>
                  </a:lnTo>
                  <a:lnTo>
                    <a:pt x="1580122" y="10928"/>
                  </a:lnTo>
                  <a:lnTo>
                    <a:pt x="1642280" y="16939"/>
                  </a:lnTo>
                  <a:lnTo>
                    <a:pt x="1703299" y="24196"/>
                  </a:lnTo>
                  <a:lnTo>
                    <a:pt x="1763102" y="32667"/>
                  </a:lnTo>
                  <a:lnTo>
                    <a:pt x="1821613" y="42318"/>
                  </a:lnTo>
                  <a:lnTo>
                    <a:pt x="1878757" y="53117"/>
                  </a:lnTo>
                  <a:lnTo>
                    <a:pt x="1934458" y="65030"/>
                  </a:lnTo>
                  <a:lnTo>
                    <a:pt x="1988641" y="78027"/>
                  </a:lnTo>
                  <a:lnTo>
                    <a:pt x="2041229" y="92072"/>
                  </a:lnTo>
                  <a:lnTo>
                    <a:pt x="2092147" y="107135"/>
                  </a:lnTo>
                  <a:lnTo>
                    <a:pt x="2141320" y="123182"/>
                  </a:lnTo>
                  <a:lnTo>
                    <a:pt x="2188671" y="140180"/>
                  </a:lnTo>
                  <a:lnTo>
                    <a:pt x="2234125" y="158097"/>
                  </a:lnTo>
                  <a:lnTo>
                    <a:pt x="2277606" y="176899"/>
                  </a:lnTo>
                  <a:lnTo>
                    <a:pt x="2319039" y="196555"/>
                  </a:lnTo>
                  <a:lnTo>
                    <a:pt x="2358347" y="217031"/>
                  </a:lnTo>
                  <a:lnTo>
                    <a:pt x="2395455" y="238295"/>
                  </a:lnTo>
                  <a:lnTo>
                    <a:pt x="2430287" y="260314"/>
                  </a:lnTo>
                  <a:lnTo>
                    <a:pt x="2462768" y="283055"/>
                  </a:lnTo>
                  <a:lnTo>
                    <a:pt x="2492822" y="306485"/>
                  </a:lnTo>
                  <a:lnTo>
                    <a:pt x="2545345" y="355283"/>
                  </a:lnTo>
                  <a:lnTo>
                    <a:pt x="2587250" y="406446"/>
                  </a:lnTo>
                  <a:lnTo>
                    <a:pt x="2617933" y="459711"/>
                  </a:lnTo>
                  <a:lnTo>
                    <a:pt x="2636787" y="514818"/>
                  </a:lnTo>
                  <a:lnTo>
                    <a:pt x="2643206" y="571504"/>
                  </a:lnTo>
                  <a:lnTo>
                    <a:pt x="2641588" y="600028"/>
                  </a:lnTo>
                  <a:lnTo>
                    <a:pt x="2628876" y="655956"/>
                  </a:lnTo>
                  <a:lnTo>
                    <a:pt x="2604032" y="710175"/>
                  </a:lnTo>
                  <a:lnTo>
                    <a:pt x="2567663" y="762422"/>
                  </a:lnTo>
                  <a:lnTo>
                    <a:pt x="2520373" y="812435"/>
                  </a:lnTo>
                  <a:lnTo>
                    <a:pt x="2462768" y="859953"/>
                  </a:lnTo>
                  <a:lnTo>
                    <a:pt x="2430287" y="882694"/>
                  </a:lnTo>
                  <a:lnTo>
                    <a:pt x="2395455" y="904712"/>
                  </a:lnTo>
                  <a:lnTo>
                    <a:pt x="2358347" y="925976"/>
                  </a:lnTo>
                  <a:lnTo>
                    <a:pt x="2319039" y="946452"/>
                  </a:lnTo>
                  <a:lnTo>
                    <a:pt x="2277606" y="966108"/>
                  </a:lnTo>
                  <a:lnTo>
                    <a:pt x="2234125" y="984911"/>
                  </a:lnTo>
                  <a:lnTo>
                    <a:pt x="2188671" y="1002827"/>
                  </a:lnTo>
                  <a:lnTo>
                    <a:pt x="2141320" y="1019826"/>
                  </a:lnTo>
                  <a:lnTo>
                    <a:pt x="2092147" y="1035872"/>
                  </a:lnTo>
                  <a:lnTo>
                    <a:pt x="2041229" y="1050935"/>
                  </a:lnTo>
                  <a:lnTo>
                    <a:pt x="1988641" y="1064981"/>
                  </a:lnTo>
                  <a:lnTo>
                    <a:pt x="1934458" y="1077977"/>
                  </a:lnTo>
                  <a:lnTo>
                    <a:pt x="1878757" y="1089891"/>
                  </a:lnTo>
                  <a:lnTo>
                    <a:pt x="1821613" y="1100689"/>
                  </a:lnTo>
                  <a:lnTo>
                    <a:pt x="1763102" y="1110340"/>
                  </a:lnTo>
                  <a:lnTo>
                    <a:pt x="1703299" y="1118811"/>
                  </a:lnTo>
                  <a:lnTo>
                    <a:pt x="1642280" y="1126068"/>
                  </a:lnTo>
                  <a:lnTo>
                    <a:pt x="1580122" y="1132079"/>
                  </a:lnTo>
                  <a:lnTo>
                    <a:pt x="1516899" y="1136811"/>
                  </a:lnTo>
                  <a:lnTo>
                    <a:pt x="1452688" y="1140232"/>
                  </a:lnTo>
                  <a:lnTo>
                    <a:pt x="1387564" y="1142308"/>
                  </a:lnTo>
                  <a:lnTo>
                    <a:pt x="1321602" y="1143008"/>
                  </a:lnTo>
                  <a:close/>
                </a:path>
              </a:pathLst>
            </a:custGeom>
            <a:solidFill>
              <a:srgbClr val="94B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57817" y="3286123"/>
              <a:ext cx="2643505" cy="1143635"/>
            </a:xfrm>
            <a:custGeom>
              <a:avLst/>
              <a:gdLst/>
              <a:ahLst/>
              <a:cxnLst/>
              <a:rect l="l" t="t" r="r" b="b"/>
              <a:pathLst>
                <a:path w="2643504" h="1143635">
                  <a:moveTo>
                    <a:pt x="0" y="571504"/>
                  </a:moveTo>
                  <a:lnTo>
                    <a:pt x="1617" y="542980"/>
                  </a:lnTo>
                  <a:lnTo>
                    <a:pt x="6419" y="514818"/>
                  </a:lnTo>
                  <a:lnTo>
                    <a:pt x="25272" y="459711"/>
                  </a:lnTo>
                  <a:lnTo>
                    <a:pt x="55955" y="406446"/>
                  </a:lnTo>
                  <a:lnTo>
                    <a:pt x="97860" y="355283"/>
                  </a:lnTo>
                  <a:lnTo>
                    <a:pt x="150383" y="306485"/>
                  </a:lnTo>
                  <a:lnTo>
                    <a:pt x="180437" y="283055"/>
                  </a:lnTo>
                  <a:lnTo>
                    <a:pt x="212918" y="260314"/>
                  </a:lnTo>
                  <a:lnTo>
                    <a:pt x="247750" y="238295"/>
                  </a:lnTo>
                  <a:lnTo>
                    <a:pt x="284858" y="217031"/>
                  </a:lnTo>
                  <a:lnTo>
                    <a:pt x="324166" y="196555"/>
                  </a:lnTo>
                  <a:lnTo>
                    <a:pt x="365599" y="176899"/>
                  </a:lnTo>
                  <a:lnTo>
                    <a:pt x="409080" y="158097"/>
                  </a:lnTo>
                  <a:lnTo>
                    <a:pt x="454534" y="140180"/>
                  </a:lnTo>
                  <a:lnTo>
                    <a:pt x="501885" y="123182"/>
                  </a:lnTo>
                  <a:lnTo>
                    <a:pt x="551058" y="107135"/>
                  </a:lnTo>
                  <a:lnTo>
                    <a:pt x="601976" y="92072"/>
                  </a:lnTo>
                  <a:lnTo>
                    <a:pt x="654564" y="78027"/>
                  </a:lnTo>
                  <a:lnTo>
                    <a:pt x="708747" y="65030"/>
                  </a:lnTo>
                  <a:lnTo>
                    <a:pt x="764448" y="53117"/>
                  </a:lnTo>
                  <a:lnTo>
                    <a:pt x="821592" y="42318"/>
                  </a:lnTo>
                  <a:lnTo>
                    <a:pt x="880103" y="32667"/>
                  </a:lnTo>
                  <a:lnTo>
                    <a:pt x="939906" y="24196"/>
                  </a:lnTo>
                  <a:lnTo>
                    <a:pt x="1000925" y="16939"/>
                  </a:lnTo>
                  <a:lnTo>
                    <a:pt x="1063083" y="10928"/>
                  </a:lnTo>
                  <a:lnTo>
                    <a:pt x="1126306" y="6196"/>
                  </a:lnTo>
                  <a:lnTo>
                    <a:pt x="1190517" y="2775"/>
                  </a:lnTo>
                  <a:lnTo>
                    <a:pt x="1255641" y="699"/>
                  </a:lnTo>
                  <a:lnTo>
                    <a:pt x="1321602" y="0"/>
                  </a:lnTo>
                  <a:lnTo>
                    <a:pt x="1387564" y="699"/>
                  </a:lnTo>
                  <a:lnTo>
                    <a:pt x="1452688" y="2775"/>
                  </a:lnTo>
                  <a:lnTo>
                    <a:pt x="1516899" y="6196"/>
                  </a:lnTo>
                  <a:lnTo>
                    <a:pt x="1580122" y="10928"/>
                  </a:lnTo>
                  <a:lnTo>
                    <a:pt x="1642280" y="16939"/>
                  </a:lnTo>
                  <a:lnTo>
                    <a:pt x="1703299" y="24196"/>
                  </a:lnTo>
                  <a:lnTo>
                    <a:pt x="1763102" y="32667"/>
                  </a:lnTo>
                  <a:lnTo>
                    <a:pt x="1821613" y="42318"/>
                  </a:lnTo>
                  <a:lnTo>
                    <a:pt x="1878757" y="53117"/>
                  </a:lnTo>
                  <a:lnTo>
                    <a:pt x="1934458" y="65030"/>
                  </a:lnTo>
                  <a:lnTo>
                    <a:pt x="1988641" y="78027"/>
                  </a:lnTo>
                  <a:lnTo>
                    <a:pt x="2041229" y="92072"/>
                  </a:lnTo>
                  <a:lnTo>
                    <a:pt x="2092147" y="107135"/>
                  </a:lnTo>
                  <a:lnTo>
                    <a:pt x="2141320" y="123182"/>
                  </a:lnTo>
                  <a:lnTo>
                    <a:pt x="2188671" y="140180"/>
                  </a:lnTo>
                  <a:lnTo>
                    <a:pt x="2234125" y="158097"/>
                  </a:lnTo>
                  <a:lnTo>
                    <a:pt x="2277606" y="176899"/>
                  </a:lnTo>
                  <a:lnTo>
                    <a:pt x="2319039" y="196555"/>
                  </a:lnTo>
                  <a:lnTo>
                    <a:pt x="2358347" y="217031"/>
                  </a:lnTo>
                  <a:lnTo>
                    <a:pt x="2395455" y="238295"/>
                  </a:lnTo>
                  <a:lnTo>
                    <a:pt x="2430287" y="260314"/>
                  </a:lnTo>
                  <a:lnTo>
                    <a:pt x="2462768" y="283055"/>
                  </a:lnTo>
                  <a:lnTo>
                    <a:pt x="2492822" y="306485"/>
                  </a:lnTo>
                  <a:lnTo>
                    <a:pt x="2545345" y="355283"/>
                  </a:lnTo>
                  <a:lnTo>
                    <a:pt x="2587250" y="406446"/>
                  </a:lnTo>
                  <a:lnTo>
                    <a:pt x="2617933" y="459711"/>
                  </a:lnTo>
                  <a:lnTo>
                    <a:pt x="2636787" y="514818"/>
                  </a:lnTo>
                  <a:lnTo>
                    <a:pt x="2643206" y="571504"/>
                  </a:lnTo>
                  <a:lnTo>
                    <a:pt x="2636787" y="628189"/>
                  </a:lnTo>
                  <a:lnTo>
                    <a:pt x="2617933" y="683296"/>
                  </a:lnTo>
                  <a:lnTo>
                    <a:pt x="2587250" y="736562"/>
                  </a:lnTo>
                  <a:lnTo>
                    <a:pt x="2545345" y="787724"/>
                  </a:lnTo>
                  <a:lnTo>
                    <a:pt x="2492822" y="836522"/>
                  </a:lnTo>
                  <a:lnTo>
                    <a:pt x="2462768" y="859953"/>
                  </a:lnTo>
                  <a:lnTo>
                    <a:pt x="2430287" y="882694"/>
                  </a:lnTo>
                  <a:lnTo>
                    <a:pt x="2395455" y="904712"/>
                  </a:lnTo>
                  <a:lnTo>
                    <a:pt x="2358347" y="925976"/>
                  </a:lnTo>
                  <a:lnTo>
                    <a:pt x="2319039" y="946452"/>
                  </a:lnTo>
                  <a:lnTo>
                    <a:pt x="2277606" y="966108"/>
                  </a:lnTo>
                  <a:lnTo>
                    <a:pt x="2234125" y="984911"/>
                  </a:lnTo>
                  <a:lnTo>
                    <a:pt x="2188671" y="1002827"/>
                  </a:lnTo>
                  <a:lnTo>
                    <a:pt x="2141320" y="1019826"/>
                  </a:lnTo>
                  <a:lnTo>
                    <a:pt x="2092147" y="1035872"/>
                  </a:lnTo>
                  <a:lnTo>
                    <a:pt x="2041229" y="1050935"/>
                  </a:lnTo>
                  <a:lnTo>
                    <a:pt x="1988641" y="1064981"/>
                  </a:lnTo>
                  <a:lnTo>
                    <a:pt x="1934458" y="1077977"/>
                  </a:lnTo>
                  <a:lnTo>
                    <a:pt x="1878757" y="1089891"/>
                  </a:lnTo>
                  <a:lnTo>
                    <a:pt x="1821613" y="1100689"/>
                  </a:lnTo>
                  <a:lnTo>
                    <a:pt x="1763102" y="1110340"/>
                  </a:lnTo>
                  <a:lnTo>
                    <a:pt x="1703299" y="1118811"/>
                  </a:lnTo>
                  <a:lnTo>
                    <a:pt x="1642280" y="1126068"/>
                  </a:lnTo>
                  <a:lnTo>
                    <a:pt x="1580122" y="1132079"/>
                  </a:lnTo>
                  <a:lnTo>
                    <a:pt x="1516899" y="1136811"/>
                  </a:lnTo>
                  <a:lnTo>
                    <a:pt x="1452688" y="1140232"/>
                  </a:lnTo>
                  <a:lnTo>
                    <a:pt x="1387564" y="1142308"/>
                  </a:lnTo>
                  <a:lnTo>
                    <a:pt x="1321602" y="1143008"/>
                  </a:lnTo>
                  <a:lnTo>
                    <a:pt x="1255641" y="1142308"/>
                  </a:lnTo>
                  <a:lnTo>
                    <a:pt x="1190517" y="1140232"/>
                  </a:lnTo>
                  <a:lnTo>
                    <a:pt x="1126306" y="1136811"/>
                  </a:lnTo>
                  <a:lnTo>
                    <a:pt x="1063083" y="1132079"/>
                  </a:lnTo>
                  <a:lnTo>
                    <a:pt x="1000925" y="1126068"/>
                  </a:lnTo>
                  <a:lnTo>
                    <a:pt x="939906" y="1118811"/>
                  </a:lnTo>
                  <a:lnTo>
                    <a:pt x="880103" y="1110340"/>
                  </a:lnTo>
                  <a:lnTo>
                    <a:pt x="821592" y="1100689"/>
                  </a:lnTo>
                  <a:lnTo>
                    <a:pt x="764448" y="1089891"/>
                  </a:lnTo>
                  <a:lnTo>
                    <a:pt x="708747" y="1077977"/>
                  </a:lnTo>
                  <a:lnTo>
                    <a:pt x="654564" y="1064981"/>
                  </a:lnTo>
                  <a:lnTo>
                    <a:pt x="601976" y="1050935"/>
                  </a:lnTo>
                  <a:lnTo>
                    <a:pt x="551058" y="1035872"/>
                  </a:lnTo>
                  <a:lnTo>
                    <a:pt x="501885" y="1019826"/>
                  </a:lnTo>
                  <a:lnTo>
                    <a:pt x="454534" y="1002827"/>
                  </a:lnTo>
                  <a:lnTo>
                    <a:pt x="409080" y="984911"/>
                  </a:lnTo>
                  <a:lnTo>
                    <a:pt x="365599" y="966108"/>
                  </a:lnTo>
                  <a:lnTo>
                    <a:pt x="324166" y="946452"/>
                  </a:lnTo>
                  <a:lnTo>
                    <a:pt x="284858" y="925976"/>
                  </a:lnTo>
                  <a:lnTo>
                    <a:pt x="247750" y="904712"/>
                  </a:lnTo>
                  <a:lnTo>
                    <a:pt x="212918" y="882694"/>
                  </a:lnTo>
                  <a:lnTo>
                    <a:pt x="180437" y="859953"/>
                  </a:lnTo>
                  <a:lnTo>
                    <a:pt x="150383" y="836522"/>
                  </a:lnTo>
                  <a:lnTo>
                    <a:pt x="97860" y="787724"/>
                  </a:lnTo>
                  <a:lnTo>
                    <a:pt x="55955" y="736562"/>
                  </a:lnTo>
                  <a:lnTo>
                    <a:pt x="25272" y="683296"/>
                  </a:lnTo>
                  <a:lnTo>
                    <a:pt x="6419" y="628189"/>
                  </a:lnTo>
                  <a:lnTo>
                    <a:pt x="1617" y="600028"/>
                  </a:lnTo>
                  <a:lnTo>
                    <a:pt x="0" y="571504"/>
                  </a:lnTo>
                  <a:close/>
                </a:path>
              </a:pathLst>
            </a:custGeom>
            <a:ln w="19049">
              <a:solidFill>
                <a:srgbClr val="6C84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89751" y="3561464"/>
            <a:ext cx="1177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065" marR="5080" indent="-254000">
              <a:lnSpc>
                <a:spcPct val="100000"/>
              </a:lnSpc>
              <a:spcBef>
                <a:spcPts val="100"/>
              </a:spcBef>
            </a:pPr>
            <a:r>
              <a:rPr sz="1800" spc="-229" dirty="0">
                <a:solidFill>
                  <a:srgbClr val="FFFFFF"/>
                </a:solidFill>
                <a:latin typeface="Microsoft Sans Serif"/>
                <a:cs typeface="Microsoft Sans Serif"/>
              </a:rPr>
              <a:t>MODE</a:t>
            </a:r>
            <a:r>
              <a:rPr sz="1800" spc="-190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20" dirty="0">
                <a:solidFill>
                  <a:srgbClr val="FFFFFF"/>
                </a:solidFill>
                <a:latin typeface="Microsoft Sans Serif"/>
                <a:cs typeface="Microsoft Sans Serif"/>
              </a:rPr>
              <a:t>DE  </a:t>
            </a:r>
            <a:r>
              <a:rPr sz="1800" spc="-229" dirty="0">
                <a:solidFill>
                  <a:srgbClr val="FFFFFF"/>
                </a:solidFill>
                <a:latin typeface="Microsoft Sans Serif"/>
                <a:cs typeface="Microsoft Sans Serif"/>
              </a:rPr>
              <a:t>DATOS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31451" y="2714613"/>
            <a:ext cx="3879215" cy="2355850"/>
            <a:chOff x="3731451" y="2714613"/>
            <a:chExt cx="3879215" cy="2355850"/>
          </a:xfrm>
        </p:grpSpPr>
        <p:sp>
          <p:nvSpPr>
            <p:cNvPr id="13" name="object 13"/>
            <p:cNvSpPr/>
            <p:nvPr/>
          </p:nvSpPr>
          <p:spPr>
            <a:xfrm>
              <a:off x="6679420" y="3320394"/>
              <a:ext cx="914400" cy="846455"/>
            </a:xfrm>
            <a:custGeom>
              <a:avLst/>
              <a:gdLst/>
              <a:ahLst/>
              <a:cxnLst/>
              <a:rect l="l" t="t" r="r" b="b"/>
              <a:pathLst>
                <a:path w="914400" h="846454">
                  <a:moveTo>
                    <a:pt x="0" y="0"/>
                  </a:moveTo>
                  <a:lnTo>
                    <a:pt x="0" y="422929"/>
                  </a:lnTo>
                  <a:lnTo>
                    <a:pt x="914399" y="422929"/>
                  </a:lnTo>
                  <a:lnTo>
                    <a:pt x="914399" y="845858"/>
                  </a:lnTo>
                </a:path>
              </a:pathLst>
            </a:custGeom>
            <a:ln w="9999">
              <a:solidFill>
                <a:srgbClr val="94B6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68174" y="3300743"/>
              <a:ext cx="22860" cy="31115"/>
            </a:xfrm>
            <a:custGeom>
              <a:avLst/>
              <a:gdLst/>
              <a:ahLst/>
              <a:cxnLst/>
              <a:rect l="l" t="t" r="r" b="b"/>
              <a:pathLst>
                <a:path w="22859" h="31114">
                  <a:moveTo>
                    <a:pt x="22492" y="30897"/>
                  </a:moveTo>
                  <a:lnTo>
                    <a:pt x="11245" y="19651"/>
                  </a:lnTo>
                  <a:lnTo>
                    <a:pt x="0" y="30897"/>
                  </a:lnTo>
                  <a:lnTo>
                    <a:pt x="11245" y="0"/>
                  </a:lnTo>
                  <a:lnTo>
                    <a:pt x="22492" y="30897"/>
                  </a:lnTo>
                  <a:close/>
                </a:path>
              </a:pathLst>
            </a:custGeom>
            <a:solidFill>
              <a:srgbClr val="94B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68174" y="3300743"/>
              <a:ext cx="22860" cy="31115"/>
            </a:xfrm>
            <a:custGeom>
              <a:avLst/>
              <a:gdLst/>
              <a:ahLst/>
              <a:cxnLst/>
              <a:rect l="l" t="t" r="r" b="b"/>
              <a:pathLst>
                <a:path w="22859" h="31114">
                  <a:moveTo>
                    <a:pt x="11245" y="19651"/>
                  </a:moveTo>
                  <a:lnTo>
                    <a:pt x="22492" y="30897"/>
                  </a:lnTo>
                  <a:lnTo>
                    <a:pt x="11245" y="0"/>
                  </a:lnTo>
                  <a:lnTo>
                    <a:pt x="0" y="30897"/>
                  </a:lnTo>
                  <a:lnTo>
                    <a:pt x="11245" y="19651"/>
                  </a:lnTo>
                  <a:close/>
                </a:path>
              </a:pathLst>
            </a:custGeom>
            <a:ln w="9999">
              <a:solidFill>
                <a:srgbClr val="94B6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82575" y="4155007"/>
              <a:ext cx="22860" cy="31115"/>
            </a:xfrm>
            <a:custGeom>
              <a:avLst/>
              <a:gdLst/>
              <a:ahLst/>
              <a:cxnLst/>
              <a:rect l="l" t="t" r="r" b="b"/>
              <a:pathLst>
                <a:path w="22859" h="31114">
                  <a:moveTo>
                    <a:pt x="11245" y="30897"/>
                  </a:moveTo>
                  <a:lnTo>
                    <a:pt x="0" y="0"/>
                  </a:lnTo>
                  <a:lnTo>
                    <a:pt x="11245" y="11245"/>
                  </a:lnTo>
                  <a:lnTo>
                    <a:pt x="22492" y="0"/>
                  </a:lnTo>
                  <a:lnTo>
                    <a:pt x="11245" y="30897"/>
                  </a:lnTo>
                  <a:close/>
                </a:path>
              </a:pathLst>
            </a:custGeom>
            <a:solidFill>
              <a:srgbClr val="94B6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82575" y="4155007"/>
              <a:ext cx="22860" cy="31115"/>
            </a:xfrm>
            <a:custGeom>
              <a:avLst/>
              <a:gdLst/>
              <a:ahLst/>
              <a:cxnLst/>
              <a:rect l="l" t="t" r="r" b="b"/>
              <a:pathLst>
                <a:path w="22859" h="31114">
                  <a:moveTo>
                    <a:pt x="11245" y="11245"/>
                  </a:moveTo>
                  <a:lnTo>
                    <a:pt x="0" y="0"/>
                  </a:lnTo>
                  <a:lnTo>
                    <a:pt x="11245" y="30897"/>
                  </a:lnTo>
                  <a:lnTo>
                    <a:pt x="22492" y="0"/>
                  </a:lnTo>
                  <a:lnTo>
                    <a:pt x="11245" y="11245"/>
                  </a:lnTo>
                  <a:close/>
                </a:path>
              </a:pathLst>
            </a:custGeom>
            <a:ln w="9999">
              <a:solidFill>
                <a:srgbClr val="94B6D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76155" y="2736943"/>
              <a:ext cx="1969135" cy="716915"/>
            </a:xfrm>
            <a:custGeom>
              <a:avLst/>
              <a:gdLst/>
              <a:ahLst/>
              <a:cxnLst/>
              <a:rect l="l" t="t" r="r" b="b"/>
              <a:pathLst>
                <a:path w="1969135" h="716914">
                  <a:moveTo>
                    <a:pt x="1968751" y="71657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40976" y="2724138"/>
              <a:ext cx="62865" cy="40640"/>
            </a:xfrm>
            <a:custGeom>
              <a:avLst/>
              <a:gdLst/>
              <a:ahLst/>
              <a:cxnLst/>
              <a:rect l="l" t="t" r="r" b="b"/>
              <a:pathLst>
                <a:path w="62864" h="40639">
                  <a:moveTo>
                    <a:pt x="47983" y="40262"/>
                  </a:moveTo>
                  <a:lnTo>
                    <a:pt x="0" y="0"/>
                  </a:lnTo>
                  <a:lnTo>
                    <a:pt x="62637" y="0"/>
                  </a:lnTo>
                  <a:lnTo>
                    <a:pt x="35179" y="12804"/>
                  </a:lnTo>
                  <a:lnTo>
                    <a:pt x="47983" y="40262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40976" y="2724138"/>
              <a:ext cx="62865" cy="40640"/>
            </a:xfrm>
            <a:custGeom>
              <a:avLst/>
              <a:gdLst/>
              <a:ahLst/>
              <a:cxnLst/>
              <a:rect l="l" t="t" r="r" b="b"/>
              <a:pathLst>
                <a:path w="62864" h="40639">
                  <a:moveTo>
                    <a:pt x="35179" y="12804"/>
                  </a:moveTo>
                  <a:lnTo>
                    <a:pt x="62637" y="0"/>
                  </a:lnTo>
                  <a:lnTo>
                    <a:pt x="0" y="0"/>
                  </a:lnTo>
                  <a:lnTo>
                    <a:pt x="47983" y="40262"/>
                  </a:lnTo>
                  <a:lnTo>
                    <a:pt x="35179" y="12804"/>
                  </a:lnTo>
                  <a:close/>
                </a:path>
              </a:pathLst>
            </a:custGeom>
            <a:ln w="19049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88626" y="4261742"/>
              <a:ext cx="1756410" cy="784225"/>
            </a:xfrm>
            <a:custGeom>
              <a:avLst/>
              <a:gdLst/>
              <a:ahLst/>
              <a:cxnLst/>
              <a:rect l="l" t="t" r="r" b="b"/>
              <a:pathLst>
                <a:path w="1756410" h="784225">
                  <a:moveTo>
                    <a:pt x="1756280" y="0"/>
                  </a:moveTo>
                  <a:lnTo>
                    <a:pt x="0" y="783695"/>
                  </a:lnTo>
                </a:path>
              </a:pathLst>
            </a:custGeom>
            <a:ln w="19049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54438" y="5017144"/>
              <a:ext cx="62865" cy="43815"/>
            </a:xfrm>
            <a:custGeom>
              <a:avLst/>
              <a:gdLst/>
              <a:ahLst/>
              <a:cxnLst/>
              <a:rect l="l" t="t" r="r" b="b"/>
              <a:pathLst>
                <a:path w="62864" h="43814">
                  <a:moveTo>
                    <a:pt x="0" y="43549"/>
                  </a:moveTo>
                  <a:lnTo>
                    <a:pt x="45021" y="0"/>
                  </a:lnTo>
                  <a:lnTo>
                    <a:pt x="34187" y="28293"/>
                  </a:lnTo>
                  <a:lnTo>
                    <a:pt x="62481" y="39127"/>
                  </a:lnTo>
                  <a:lnTo>
                    <a:pt x="0" y="43549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54438" y="5017144"/>
              <a:ext cx="62865" cy="43815"/>
            </a:xfrm>
            <a:custGeom>
              <a:avLst/>
              <a:gdLst/>
              <a:ahLst/>
              <a:cxnLst/>
              <a:rect l="l" t="t" r="r" b="b"/>
              <a:pathLst>
                <a:path w="62864" h="43814">
                  <a:moveTo>
                    <a:pt x="34187" y="28293"/>
                  </a:moveTo>
                  <a:lnTo>
                    <a:pt x="45021" y="0"/>
                  </a:lnTo>
                  <a:lnTo>
                    <a:pt x="0" y="43549"/>
                  </a:lnTo>
                  <a:lnTo>
                    <a:pt x="62481" y="39127"/>
                  </a:lnTo>
                  <a:lnTo>
                    <a:pt x="34187" y="28293"/>
                  </a:lnTo>
                  <a:close/>
                </a:path>
              </a:pathLst>
            </a:custGeom>
            <a:ln w="19049">
              <a:solidFill>
                <a:srgbClr val="002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672" y="304800"/>
            <a:ext cx="7772653" cy="607859"/>
          </a:xfrm>
        </p:spPr>
        <p:txBody>
          <a:bodyPr/>
          <a:lstStyle/>
          <a:p>
            <a:r>
              <a:rPr lang="es-ES" dirty="0" smtClean="0"/>
              <a:t>Modelización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7340" y="1552971"/>
            <a:ext cx="8049319" cy="1114029"/>
          </a:xfrm>
        </p:spPr>
        <p:txBody>
          <a:bodyPr/>
          <a:lstStyle/>
          <a:p>
            <a:r>
              <a:rPr lang="es-ES" dirty="0" smtClean="0"/>
              <a:t>Un desarrollo informático parte de procesar analíticamente identificando las necesidades del sistema.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547340" y="2514600"/>
            <a:ext cx="730126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/>
              <a:t>En lo referente a los datos de la aplicación: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dirty="0"/>
              <a:t>Modelización de datos.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dirty="0"/>
              <a:t>Diccionario de datos.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dirty="0"/>
              <a:t>Modelo conceptual de datos (MCD).</a:t>
            </a:r>
          </a:p>
        </p:txBody>
      </p:sp>
    </p:spTree>
    <p:extLst>
      <p:ext uri="{BB962C8B-B14F-4D97-AF65-F5344CB8AC3E}">
        <p14:creationId xmlns:p14="http://schemas.microsoft.com/office/powerpoint/2010/main" val="66205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7340" y="1552971"/>
            <a:ext cx="8049319" cy="4524315"/>
          </a:xfrm>
        </p:spPr>
        <p:txBody>
          <a:bodyPr/>
          <a:lstStyle/>
          <a:p>
            <a:pPr algn="just"/>
            <a:r>
              <a:rPr lang="es-ES" b="1" dirty="0" smtClean="0"/>
              <a:t>DER: D. Entidad/</a:t>
            </a:r>
            <a:r>
              <a:rPr lang="es-ES" b="1" dirty="0" err="1" smtClean="0"/>
              <a:t>relacion</a:t>
            </a:r>
            <a:endParaRPr lang="es-ES" b="1" dirty="0" smtClean="0"/>
          </a:p>
          <a:p>
            <a:pPr algn="just"/>
            <a:r>
              <a:rPr lang="es-ES" dirty="0" smtClean="0"/>
              <a:t>Descripción de objeto de datos: Objetos y sus relaciones. Utilizamos el diagrama entidad/relación.</a:t>
            </a:r>
          </a:p>
          <a:p>
            <a:pPr algn="just"/>
            <a:endParaRPr lang="es-ES" dirty="0"/>
          </a:p>
          <a:p>
            <a:pPr algn="just"/>
            <a:r>
              <a:rPr lang="es-ES" b="1" dirty="0" smtClean="0"/>
              <a:t>DFD: D. Flujo de datos</a:t>
            </a:r>
          </a:p>
          <a:p>
            <a:pPr algn="just"/>
            <a:r>
              <a:rPr lang="es-ES" dirty="0" smtClean="0"/>
              <a:t>Especificación de proceso: Identifica las funcionalidades del sistema. Se utiliza el diagrama de flujo de datos.</a:t>
            </a:r>
          </a:p>
          <a:p>
            <a:pPr algn="just"/>
            <a:endParaRPr lang="es-ES" dirty="0"/>
          </a:p>
          <a:p>
            <a:pPr algn="just"/>
            <a:r>
              <a:rPr lang="es-ES" b="1" dirty="0" smtClean="0"/>
              <a:t>DTE: D. Transición de estados</a:t>
            </a:r>
          </a:p>
          <a:p>
            <a:pPr algn="just"/>
            <a:r>
              <a:rPr lang="es-ES" dirty="0" smtClean="0"/>
              <a:t>Especificación de control: Muestra los distintos estados del proceso y las transiciones que se generan. Diagrama de transición de estados.</a:t>
            </a:r>
            <a:endParaRPr lang="es-E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685672" y="304800"/>
            <a:ext cx="7772653" cy="607859"/>
          </a:xfrm>
        </p:spPr>
        <p:txBody>
          <a:bodyPr/>
          <a:lstStyle/>
          <a:p>
            <a:r>
              <a:rPr lang="es-ES" dirty="0" smtClean="0"/>
              <a:t>Modelo </a:t>
            </a:r>
            <a:r>
              <a:rPr lang="es-ES" dirty="0" err="1" smtClean="0"/>
              <a:t>Analisis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278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9144000" cy="653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67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delo entidad-relación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27" y="990600"/>
            <a:ext cx="46672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agrama de flujo - Wikipedia, la enciclopedia libr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447800"/>
            <a:ext cx="3149973" cy="429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mesasc blog: Diagramas de estad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57600"/>
            <a:ext cx="4495800" cy="311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685800" y="457200"/>
            <a:ext cx="15240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DER</a:t>
            </a:r>
            <a:endParaRPr lang="es-ES" dirty="0"/>
          </a:p>
        </p:txBody>
      </p:sp>
      <p:sp>
        <p:nvSpPr>
          <p:cNvPr id="3" name="CuadroTexto 2"/>
          <p:cNvSpPr txBox="1"/>
          <p:nvPr/>
        </p:nvSpPr>
        <p:spPr>
          <a:xfrm>
            <a:off x="7304640" y="858770"/>
            <a:ext cx="1473573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DFD</a:t>
            </a: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3657600" y="6172200"/>
            <a:ext cx="15240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DTE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195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7340" y="381000"/>
            <a:ext cx="7772653" cy="607859"/>
          </a:xfrm>
        </p:spPr>
        <p:txBody>
          <a:bodyPr/>
          <a:lstStyle/>
          <a:p>
            <a:r>
              <a:rPr lang="es-ES" dirty="0" smtClean="0"/>
              <a:t>Actividad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02555" y="1524000"/>
            <a:ext cx="4634259" cy="3124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Diseña un flujo de datos que represente el proceso de tomar </a:t>
            </a:r>
            <a:r>
              <a:rPr lang="es-ES" dirty="0" smtClean="0"/>
              <a:t>una actividad básica. Crea </a:t>
            </a:r>
            <a:r>
              <a:rPr lang="es-ES" dirty="0"/>
              <a:t>un diagrama de flujo sencillo que describa los pasos clave y cualquier dato relevante en el proceso.</a:t>
            </a:r>
          </a:p>
        </p:txBody>
      </p:sp>
      <p:pic>
        <p:nvPicPr>
          <p:cNvPr id="1026" name="Picture 2" descr="Recuperación de la primera evaluación: Algoritm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3238"/>
            <a:ext cx="4034331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UTORIAL fácil y sencillo de como llenar un VASO de AGUA - YouTub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724400"/>
            <a:ext cx="3625229" cy="203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72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672" y="304800"/>
            <a:ext cx="7772653" cy="607859"/>
          </a:xfrm>
        </p:spPr>
        <p:txBody>
          <a:bodyPr/>
          <a:lstStyle/>
          <a:p>
            <a:r>
              <a:rPr lang="es-ES" dirty="0" smtClean="0"/>
              <a:t>CONSEJO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6200" y="1552971"/>
            <a:ext cx="8915400" cy="452431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/>
              <a:t>El proceso de análisis es fundamental en todo desarrollo de software (</a:t>
            </a:r>
            <a:r>
              <a:rPr lang="es-ES" dirty="0" smtClean="0"/>
              <a:t>incluyendo</a:t>
            </a:r>
            <a:r>
              <a:rPr lang="es-ES" dirty="0"/>
              <a:t>, por supuesto, el diseño y creación de la base de datos). </a:t>
            </a:r>
            <a:endParaRPr lang="es-ES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 smtClean="0"/>
              <a:t>Un </a:t>
            </a:r>
            <a:r>
              <a:rPr lang="es-ES" dirty="0"/>
              <a:t>error </a:t>
            </a:r>
            <a:r>
              <a:rPr lang="es-ES" dirty="0" smtClean="0"/>
              <a:t>habitual </a:t>
            </a:r>
            <a:r>
              <a:rPr lang="es-ES" dirty="0"/>
              <a:t>consiste en empezar a implantar el sistema de información sin haber dedicado el tiempo adecuado a reflexionar sobre los requisitos, necesidades y otros aspectos de planificación. </a:t>
            </a:r>
            <a:endParaRPr lang="es-ES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dirty="0" smtClean="0"/>
              <a:t>Según </a:t>
            </a:r>
            <a:r>
              <a:rPr lang="es-ES" dirty="0"/>
              <a:t>la ingeniería del software, lo ideal es dedicar más tiempo al análisis del que requiere el trabajo técnico de </a:t>
            </a:r>
            <a:r>
              <a:rPr lang="es-ES" dirty="0" smtClean="0"/>
              <a:t>implantación</a:t>
            </a:r>
            <a:r>
              <a:rPr lang="es-ES" dirty="0"/>
              <a:t>. Por ese motivo se debe considerar que las herramientas más </a:t>
            </a:r>
            <a:r>
              <a:rPr lang="es-ES" dirty="0" smtClean="0"/>
              <a:t>poderosas </a:t>
            </a:r>
            <a:r>
              <a:rPr lang="es-ES" dirty="0"/>
              <a:t>de todo informático son el lápiz y el papel.</a:t>
            </a:r>
          </a:p>
        </p:txBody>
      </p:sp>
    </p:spTree>
    <p:extLst>
      <p:ext uri="{BB962C8B-B14F-4D97-AF65-F5344CB8AC3E}">
        <p14:creationId xmlns:p14="http://schemas.microsoft.com/office/powerpoint/2010/main" val="142421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6 etapas imprescindibles en el diseño industrial: máquinas y productos |  Help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57632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01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7340" y="457200"/>
            <a:ext cx="7772653" cy="607859"/>
          </a:xfrm>
        </p:spPr>
        <p:txBody>
          <a:bodyPr/>
          <a:lstStyle/>
          <a:p>
            <a:r>
              <a:rPr lang="es-ES" dirty="0" smtClean="0"/>
              <a:t>Modelización de datos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09006" y="2057400"/>
            <a:ext cx="8049319" cy="3393237"/>
          </a:xfrm>
        </p:spPr>
        <p:txBody>
          <a:bodyPr/>
          <a:lstStyle/>
          <a:p>
            <a:r>
              <a:rPr lang="es-ES" dirty="0" smtClean="0"/>
              <a:t>Actividad que se realiza a lo largo del proceso de desarrollo.</a:t>
            </a:r>
          </a:p>
          <a:p>
            <a:endParaRPr lang="es-ES" dirty="0"/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Proceso de análisis: Creamos el modelo conceptual de datos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Lo convertimos gráficamente en el diagrama E/R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Durante el proceso de diseño de software el E/R se refina convirtiéndose en un modelo físico de datos.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 smtClean="0"/>
              <a:t>Este se implanta en un SGBD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571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s://encrypted-tbn0.gstatic.com/images?q=tbn:ANd9GcQEVjmzIjvxK-a3rbtlxPaLLKK3Ag8BuDyyIIJSBL3NhyBkaB7xP9wv97qfvNjx9YjfWfM&amp;usqp=C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5334000" cy="264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odelo entidad-relación - Wikipedia, la enciclopedia lib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86000"/>
            <a:ext cx="466725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pítulo 4 Modelamiento de Datos | Base de Dato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" y="4114800"/>
            <a:ext cx="4572000" cy="261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05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673" y="87579"/>
            <a:ext cx="7467727" cy="123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spc="-240" dirty="0"/>
              <a:t>Modelos</a:t>
            </a:r>
            <a:r>
              <a:rPr spc="-235" dirty="0"/>
              <a:t> </a:t>
            </a:r>
            <a:r>
              <a:rPr spc="-120" dirty="0"/>
              <a:t>de </a:t>
            </a:r>
            <a:r>
              <a:rPr spc="-200" dirty="0"/>
              <a:t>datos: </a:t>
            </a:r>
            <a:r>
              <a:rPr spc="-195" dirty="0"/>
              <a:t> </a:t>
            </a:r>
            <a:r>
              <a:rPr spc="-229" dirty="0"/>
              <a:t>ni</a:t>
            </a:r>
            <a:r>
              <a:rPr spc="-375" dirty="0"/>
              <a:t>v</a:t>
            </a:r>
            <a:r>
              <a:rPr spc="-285" dirty="0"/>
              <a:t>eles</a:t>
            </a:r>
            <a:r>
              <a:rPr spc="35" dirty="0"/>
              <a:t> </a:t>
            </a:r>
            <a:r>
              <a:rPr spc="-125" dirty="0"/>
              <a:t>d</a:t>
            </a:r>
            <a:r>
              <a:rPr spc="-114" dirty="0"/>
              <a:t>e</a:t>
            </a:r>
            <a:r>
              <a:rPr spc="30" dirty="0"/>
              <a:t> </a:t>
            </a:r>
            <a:r>
              <a:rPr spc="-155" dirty="0"/>
              <a:t>abst</a:t>
            </a:r>
            <a:r>
              <a:rPr spc="-145" dirty="0"/>
              <a:t>r</a:t>
            </a:r>
            <a:r>
              <a:rPr spc="-280" dirty="0"/>
              <a:t>acción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0" y="1905000"/>
            <a:ext cx="9220200" cy="3144707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830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spc="-385" dirty="0">
                <a:latin typeface="Microsoft Sans Serif"/>
                <a:cs typeface="Microsoft Sans Serif"/>
              </a:rPr>
              <a:t>EXTERNO</a:t>
            </a:r>
            <a:r>
              <a:rPr sz="2650" spc="-150" dirty="0">
                <a:latin typeface="Microsoft Sans Serif"/>
                <a:cs typeface="Microsoft Sans Serif"/>
              </a:rPr>
              <a:t>: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punt</a:t>
            </a:r>
            <a:r>
              <a:rPr sz="2650" spc="-165" dirty="0">
                <a:latin typeface="Microsoft Sans Serif"/>
                <a:cs typeface="Microsoft Sans Serif"/>
              </a:rPr>
              <a:t>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</a:t>
            </a:r>
            <a:r>
              <a:rPr sz="2650" spc="-65" dirty="0">
                <a:latin typeface="Microsoft Sans Serif"/>
                <a:cs typeface="Microsoft Sans Serif"/>
              </a:rPr>
              <a:t>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20" dirty="0">
                <a:latin typeface="Microsoft Sans Serif"/>
                <a:cs typeface="Microsoft Sans Serif"/>
              </a:rPr>
              <a:t>vist</a:t>
            </a:r>
            <a:r>
              <a:rPr sz="2650" spc="-165" dirty="0">
                <a:latin typeface="Microsoft Sans Serif"/>
                <a:cs typeface="Microsoft Sans Serif"/>
              </a:rPr>
              <a:t>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</a:t>
            </a:r>
            <a:r>
              <a:rPr sz="2650" spc="-65" dirty="0">
                <a:latin typeface="Microsoft Sans Serif"/>
                <a:cs typeface="Microsoft Sans Serif"/>
              </a:rPr>
              <a:t>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5" dirty="0">
                <a:latin typeface="Microsoft Sans Serif"/>
                <a:cs typeface="Microsoft Sans Serif"/>
              </a:rPr>
              <a:t>cada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75" dirty="0">
                <a:latin typeface="Microsoft Sans Serif"/>
                <a:cs typeface="Microsoft Sans Serif"/>
              </a:rPr>
              <a:t>usuari</a:t>
            </a:r>
            <a:r>
              <a:rPr sz="2650" spc="-200" dirty="0">
                <a:latin typeface="Microsoft Sans Serif"/>
                <a:cs typeface="Microsoft Sans Serif"/>
              </a:rPr>
              <a:t>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20" dirty="0">
                <a:latin typeface="Microsoft Sans Serif"/>
                <a:cs typeface="Microsoft Sans Serif"/>
              </a:rPr>
              <a:t>en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dirty="0">
                <a:latin typeface="Microsoft Sans Serif"/>
                <a:cs typeface="Microsoft Sans Serif"/>
              </a:rPr>
              <a:t>pa</a:t>
            </a:r>
            <a:r>
              <a:rPr sz="2650" spc="55" dirty="0">
                <a:latin typeface="Microsoft Sans Serif"/>
                <a:cs typeface="Microsoft Sans Serif"/>
              </a:rPr>
              <a:t>r</a:t>
            </a:r>
            <a:r>
              <a:rPr sz="2650" spc="-95" dirty="0">
                <a:latin typeface="Microsoft Sans Serif"/>
                <a:cs typeface="Microsoft Sans Serif"/>
              </a:rPr>
              <a:t>ticular</a:t>
            </a:r>
            <a:endParaRPr sz="2650" dirty="0">
              <a:latin typeface="Microsoft Sans Serif"/>
              <a:cs typeface="Microsoft Sans Serif"/>
            </a:endParaRPr>
          </a:p>
          <a:p>
            <a:pPr marL="353695" marR="786130" indent="-341630">
              <a:lnSpc>
                <a:spcPct val="101200"/>
              </a:lnSpc>
              <a:spcBef>
                <a:spcPts val="700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spc="-245" dirty="0">
                <a:latin typeface="Microsoft Sans Serif"/>
                <a:cs typeface="Microsoft Sans Serif"/>
              </a:rPr>
              <a:t>GLOBAL: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55" dirty="0">
                <a:latin typeface="Microsoft Sans Serif"/>
                <a:cs typeface="Microsoft Sans Serif"/>
              </a:rPr>
              <a:t>punto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30" dirty="0">
                <a:latin typeface="Microsoft Sans Serif"/>
                <a:cs typeface="Microsoft Sans Serif"/>
              </a:rPr>
              <a:t>vista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55" dirty="0">
                <a:latin typeface="Microsoft Sans Serif"/>
                <a:cs typeface="Microsoft Sans Serif"/>
              </a:rPr>
              <a:t>del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90" dirty="0">
                <a:latin typeface="Microsoft Sans Serif"/>
                <a:cs typeface="Microsoft Sans Serif"/>
              </a:rPr>
              <a:t>conjunto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10" dirty="0" err="1" smtClean="0">
                <a:latin typeface="Microsoft Sans Serif"/>
                <a:cs typeface="Microsoft Sans Serif"/>
              </a:rPr>
              <a:t>usuarios</a:t>
            </a:r>
            <a:r>
              <a:rPr lang="es-ES" sz="2650" spc="560" dirty="0">
                <a:latin typeface="Microsoft Sans Serif"/>
                <a:cs typeface="Microsoft Sans Serif"/>
              </a:rPr>
              <a:t>-</a:t>
            </a:r>
            <a:r>
              <a:rPr sz="2650" spc="-155" dirty="0" err="1" smtClean="0">
                <a:latin typeface="Microsoft Sans Serif"/>
                <a:cs typeface="Microsoft Sans Serif"/>
              </a:rPr>
              <a:t>empresa</a:t>
            </a:r>
            <a:r>
              <a:rPr sz="2650" spc="-155" dirty="0">
                <a:latin typeface="Microsoft Sans Serif"/>
                <a:cs typeface="Microsoft Sans Serif"/>
              </a:rPr>
              <a:t>.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endParaRPr sz="2650" dirty="0" smtClean="0">
              <a:latin typeface="Microsoft Sans Serif"/>
              <a:cs typeface="Microsoft Sans Serif"/>
            </a:endParaRPr>
          </a:p>
          <a:p>
            <a:pPr marL="673735" marR="5080" lvl="1" indent="-295910">
              <a:lnSpc>
                <a:spcPct val="100000"/>
              </a:lnSpc>
              <a:spcBef>
                <a:spcPts val="575"/>
              </a:spcBef>
              <a:buClr>
                <a:srgbClr val="94B6D1"/>
              </a:buClr>
              <a:buSzPct val="70833"/>
              <a:buFont typeface="Cambria"/>
              <a:buChar char="□"/>
              <a:tabLst>
                <a:tab pos="673735" algn="l"/>
                <a:tab pos="674370" algn="l"/>
              </a:tabLst>
            </a:pPr>
            <a:r>
              <a:rPr sz="2400" i="1" spc="-295" dirty="0" smtClean="0">
                <a:latin typeface="Arial"/>
                <a:cs typeface="Arial"/>
              </a:rPr>
              <a:t>CONCEPT</a:t>
            </a:r>
            <a:r>
              <a:rPr sz="2400" i="1" spc="-405" dirty="0" smtClean="0">
                <a:latin typeface="Arial"/>
                <a:cs typeface="Arial"/>
              </a:rPr>
              <a:t>U</a:t>
            </a:r>
            <a:r>
              <a:rPr sz="2400" i="1" spc="-380" dirty="0" smtClean="0">
                <a:latin typeface="Arial"/>
                <a:cs typeface="Arial"/>
              </a:rPr>
              <a:t>ALES</a:t>
            </a:r>
            <a:r>
              <a:rPr sz="2400" i="1" spc="-10" dirty="0" smtClean="0">
                <a:latin typeface="Arial"/>
                <a:cs typeface="Arial"/>
              </a:rPr>
              <a:t> </a:t>
            </a:r>
            <a:r>
              <a:rPr sz="2400" i="1" spc="-135" dirty="0" smtClean="0">
                <a:latin typeface="Arial"/>
                <a:cs typeface="Arial"/>
              </a:rPr>
              <a:t>o</a:t>
            </a:r>
            <a:r>
              <a:rPr sz="2400" i="1" spc="-10" dirty="0" smtClean="0">
                <a:latin typeface="Arial"/>
                <a:cs typeface="Arial"/>
              </a:rPr>
              <a:t> </a:t>
            </a:r>
            <a:r>
              <a:rPr sz="2400" i="1" spc="-415" dirty="0" smtClean="0">
                <a:latin typeface="Arial"/>
                <a:cs typeface="Arial"/>
              </a:rPr>
              <a:t>DE</a:t>
            </a:r>
            <a:r>
              <a:rPr sz="2400" i="1" spc="-10" dirty="0" smtClean="0">
                <a:latin typeface="Arial"/>
                <a:cs typeface="Arial"/>
              </a:rPr>
              <a:t> </a:t>
            </a:r>
            <a:r>
              <a:rPr sz="2400" i="1" spc="-305" dirty="0" smtClean="0">
                <a:latin typeface="Arial"/>
                <a:cs typeface="Arial"/>
              </a:rPr>
              <a:t>A</a:t>
            </a:r>
            <a:r>
              <a:rPr sz="2400" i="1" spc="-325" dirty="0" smtClean="0">
                <a:latin typeface="Arial"/>
                <a:cs typeface="Arial"/>
              </a:rPr>
              <a:t>L</a:t>
            </a:r>
            <a:r>
              <a:rPr sz="2400" i="1" spc="-370" dirty="0" smtClean="0">
                <a:latin typeface="Arial"/>
                <a:cs typeface="Arial"/>
              </a:rPr>
              <a:t>T</a:t>
            </a:r>
            <a:r>
              <a:rPr sz="2400" i="1" spc="-15" dirty="0" smtClean="0">
                <a:latin typeface="Arial"/>
                <a:cs typeface="Arial"/>
              </a:rPr>
              <a:t>O </a:t>
            </a:r>
            <a:r>
              <a:rPr sz="2400" i="1" spc="-260" dirty="0" smtClean="0">
                <a:latin typeface="Arial"/>
                <a:cs typeface="Arial"/>
              </a:rPr>
              <a:t>NIVE</a:t>
            </a:r>
            <a:r>
              <a:rPr sz="2400" i="1" spc="-229" dirty="0" smtClean="0">
                <a:latin typeface="Arial"/>
                <a:cs typeface="Arial"/>
              </a:rPr>
              <a:t>L</a:t>
            </a:r>
            <a:r>
              <a:rPr sz="2400" spc="-140" dirty="0" smtClean="0">
                <a:latin typeface="Microsoft Sans Serif"/>
                <a:cs typeface="Microsoft Sans Serif"/>
              </a:rPr>
              <a:t>: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114" dirty="0" err="1" smtClean="0">
                <a:latin typeface="Microsoft Sans Serif"/>
                <a:cs typeface="Microsoft Sans Serif"/>
              </a:rPr>
              <a:t>en</a:t>
            </a:r>
            <a:r>
              <a:rPr sz="2400" spc="-110" dirty="0" err="1" smtClean="0">
                <a:latin typeface="Microsoft Sans Serif"/>
                <a:cs typeface="Microsoft Sans Serif"/>
              </a:rPr>
              <a:t>f</a:t>
            </a:r>
            <a:r>
              <a:rPr sz="2400" spc="-160" dirty="0" err="1" smtClean="0">
                <a:latin typeface="Microsoft Sans Serif"/>
                <a:cs typeface="Microsoft Sans Serif"/>
              </a:rPr>
              <a:t>ocados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10" dirty="0" smtClean="0">
                <a:latin typeface="Microsoft Sans Serif"/>
                <a:cs typeface="Microsoft Sans Serif"/>
              </a:rPr>
              <a:t>a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105" dirty="0" err="1" smtClean="0">
                <a:latin typeface="Microsoft Sans Serif"/>
                <a:cs typeface="Microsoft Sans Serif"/>
              </a:rPr>
              <a:t>describi</a:t>
            </a:r>
            <a:r>
              <a:rPr sz="2400" spc="-80" dirty="0" err="1" smtClean="0">
                <a:latin typeface="Microsoft Sans Serif"/>
                <a:cs typeface="Microsoft Sans Serif"/>
              </a:rPr>
              <a:t>r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65" dirty="0" smtClean="0">
                <a:latin typeface="Microsoft Sans Serif"/>
                <a:cs typeface="Microsoft Sans Serif"/>
              </a:rPr>
              <a:t>el  </a:t>
            </a:r>
            <a:r>
              <a:rPr sz="2400" spc="-355" dirty="0" err="1" smtClean="0">
                <a:latin typeface="Microsoft Sans Serif"/>
                <a:cs typeface="Microsoft Sans Serif"/>
              </a:rPr>
              <a:t>m</a:t>
            </a:r>
            <a:r>
              <a:rPr sz="2400" spc="-185" dirty="0" err="1" smtClean="0">
                <a:latin typeface="Microsoft Sans Serif"/>
                <a:cs typeface="Microsoft Sans Serif"/>
              </a:rPr>
              <a:t>und</a:t>
            </a:r>
            <a:r>
              <a:rPr sz="2400" spc="-180" dirty="0" err="1" smtClean="0">
                <a:latin typeface="Microsoft Sans Serif"/>
                <a:cs typeface="Microsoft Sans Serif"/>
              </a:rPr>
              <a:t>o</a:t>
            </a:r>
            <a:r>
              <a:rPr sz="2400" spc="15" dirty="0" smtClean="0">
                <a:latin typeface="Microsoft Sans Serif"/>
                <a:cs typeface="Microsoft Sans Serif"/>
              </a:rPr>
              <a:t> </a:t>
            </a:r>
            <a:r>
              <a:rPr sz="2400" spc="-40" dirty="0" smtClean="0">
                <a:latin typeface="Microsoft Sans Serif"/>
                <a:cs typeface="Microsoft Sans Serif"/>
              </a:rPr>
              <a:t>real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235" dirty="0" smtClean="0">
                <a:latin typeface="Microsoft Sans Serif"/>
                <a:cs typeface="Microsoft Sans Serif"/>
              </a:rPr>
              <a:t>co</a:t>
            </a:r>
            <a:r>
              <a:rPr sz="2400" spc="-240" dirty="0" smtClean="0">
                <a:latin typeface="Microsoft Sans Serif"/>
                <a:cs typeface="Microsoft Sans Serif"/>
              </a:rPr>
              <a:t>n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130" dirty="0" err="1" smtClean="0">
                <a:latin typeface="Microsoft Sans Serif"/>
                <a:cs typeface="Microsoft Sans Serif"/>
              </a:rPr>
              <a:t>independenci</a:t>
            </a:r>
            <a:r>
              <a:rPr sz="2400" spc="-140" dirty="0" err="1" smtClean="0">
                <a:latin typeface="Microsoft Sans Serif"/>
                <a:cs typeface="Microsoft Sans Serif"/>
              </a:rPr>
              <a:t>a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75" dirty="0" smtClean="0">
                <a:latin typeface="Microsoft Sans Serif"/>
                <a:cs typeface="Microsoft Sans Serif"/>
              </a:rPr>
              <a:t>d</a:t>
            </a:r>
            <a:r>
              <a:rPr sz="2400" spc="-70" dirty="0" smtClean="0">
                <a:latin typeface="Microsoft Sans Serif"/>
                <a:cs typeface="Microsoft Sans Serif"/>
              </a:rPr>
              <a:t>e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15" dirty="0" smtClean="0">
                <a:latin typeface="Microsoft Sans Serif"/>
                <a:cs typeface="Microsoft Sans Serif"/>
              </a:rPr>
              <a:t>l</a:t>
            </a:r>
            <a:r>
              <a:rPr sz="2400" spc="-20" dirty="0" smtClean="0">
                <a:latin typeface="Microsoft Sans Serif"/>
                <a:cs typeface="Microsoft Sans Serif"/>
              </a:rPr>
              <a:t>a</a:t>
            </a:r>
            <a:r>
              <a:rPr sz="2400" spc="20" dirty="0" smtClean="0">
                <a:latin typeface="Microsoft Sans Serif"/>
                <a:cs typeface="Microsoft Sans Serif"/>
              </a:rPr>
              <a:t> </a:t>
            </a:r>
            <a:r>
              <a:rPr sz="2400" spc="-150" dirty="0" err="1" smtClean="0">
                <a:latin typeface="Microsoft Sans Serif"/>
                <a:cs typeface="Microsoft Sans Serif"/>
              </a:rPr>
              <a:t>máquina</a:t>
            </a:r>
            <a:r>
              <a:rPr sz="2400" spc="-150" dirty="0" smtClean="0">
                <a:latin typeface="Microsoft Sans Serif"/>
                <a:cs typeface="Microsoft Sans Serif"/>
              </a:rPr>
              <a:t>.</a:t>
            </a:r>
            <a:endParaRPr sz="2400" dirty="0" smtClean="0">
              <a:latin typeface="Microsoft Sans Serif"/>
              <a:cs typeface="Microsoft Sans Serif"/>
            </a:endParaRPr>
          </a:p>
          <a:p>
            <a:pPr marL="673735" marR="118110" lvl="1" indent="-295910">
              <a:lnSpc>
                <a:spcPct val="100000"/>
              </a:lnSpc>
              <a:spcBef>
                <a:spcPts val="560"/>
              </a:spcBef>
              <a:buClr>
                <a:srgbClr val="94B6D1"/>
              </a:buClr>
              <a:buSzPct val="70833"/>
              <a:buFont typeface="Cambria"/>
              <a:buChar char="□"/>
              <a:tabLst>
                <a:tab pos="673735" algn="l"/>
                <a:tab pos="674370" algn="l"/>
              </a:tabLst>
            </a:pPr>
            <a:r>
              <a:rPr sz="2400" i="1" spc="-170" dirty="0" smtClean="0">
                <a:latin typeface="Arial"/>
                <a:cs typeface="Arial"/>
              </a:rPr>
              <a:t>CONVENCIO</a:t>
            </a:r>
            <a:r>
              <a:rPr sz="2400" i="1" spc="-204" dirty="0" smtClean="0">
                <a:latin typeface="Arial"/>
                <a:cs typeface="Arial"/>
              </a:rPr>
              <a:t>N</a:t>
            </a:r>
            <a:r>
              <a:rPr sz="2400" i="1" spc="-380" dirty="0" smtClean="0">
                <a:latin typeface="Arial"/>
                <a:cs typeface="Arial"/>
              </a:rPr>
              <a:t>ALES</a:t>
            </a:r>
            <a:r>
              <a:rPr sz="2400" i="1" spc="-10" dirty="0" smtClean="0">
                <a:latin typeface="Arial"/>
                <a:cs typeface="Arial"/>
              </a:rPr>
              <a:t> </a:t>
            </a:r>
            <a:r>
              <a:rPr sz="2400" i="1" spc="-135" dirty="0">
                <a:latin typeface="Arial"/>
                <a:cs typeface="Arial"/>
              </a:rPr>
              <a:t>o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204" dirty="0">
                <a:latin typeface="Arial"/>
                <a:cs typeface="Arial"/>
              </a:rPr>
              <a:t>LÓGICOS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spc="-135" dirty="0">
                <a:latin typeface="Arial"/>
                <a:cs typeface="Arial"/>
              </a:rPr>
              <a:t>o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415" dirty="0">
                <a:latin typeface="Arial"/>
                <a:cs typeface="Arial"/>
              </a:rPr>
              <a:t>DE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00" dirty="0">
                <a:latin typeface="Arial"/>
                <a:cs typeface="Arial"/>
              </a:rPr>
              <a:t>B</a:t>
            </a:r>
            <a:r>
              <a:rPr sz="2400" i="1" spc="-375" dirty="0">
                <a:latin typeface="Arial"/>
                <a:cs typeface="Arial"/>
              </a:rPr>
              <a:t>ASES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415" dirty="0">
                <a:latin typeface="Arial"/>
                <a:cs typeface="Arial"/>
              </a:rPr>
              <a:t>DE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405" dirty="0">
                <a:latin typeface="Arial"/>
                <a:cs typeface="Arial"/>
              </a:rPr>
              <a:t>D</a:t>
            </a:r>
            <a:r>
              <a:rPr sz="2400" i="1" spc="-250" dirty="0">
                <a:latin typeface="Arial"/>
                <a:cs typeface="Arial"/>
              </a:rPr>
              <a:t>A</a:t>
            </a:r>
            <a:r>
              <a:rPr sz="2400" i="1" spc="-370" dirty="0">
                <a:latin typeface="Arial"/>
                <a:cs typeface="Arial"/>
              </a:rPr>
              <a:t>T</a:t>
            </a:r>
            <a:r>
              <a:rPr sz="2400" i="1" spc="-120" dirty="0">
                <a:latin typeface="Arial"/>
                <a:cs typeface="Arial"/>
              </a:rPr>
              <a:t>OS:  </a:t>
            </a:r>
            <a:r>
              <a:rPr sz="2400" spc="-114" dirty="0">
                <a:latin typeface="Microsoft Sans Serif"/>
                <a:cs typeface="Microsoft Sans Serif"/>
              </a:rPr>
              <a:t>orientados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describir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90" dirty="0">
                <a:latin typeface="Microsoft Sans Serif"/>
                <a:cs typeface="Microsoft Sans Serif"/>
              </a:rPr>
              <a:t>los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datos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para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el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275" dirty="0">
                <a:latin typeface="Microsoft Sans Serif"/>
                <a:cs typeface="Microsoft Sans Serif"/>
              </a:rPr>
              <a:t>SGBD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para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el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50" dirty="0">
                <a:latin typeface="Microsoft Sans Serif"/>
                <a:cs typeface="Microsoft Sans Serif"/>
              </a:rPr>
              <a:t>que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95" dirty="0">
                <a:latin typeface="Microsoft Sans Serif"/>
                <a:cs typeface="Microsoft Sans Serif"/>
              </a:rPr>
              <a:t>estén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definido</a:t>
            </a:r>
            <a:r>
              <a:rPr sz="2400" spc="-135" dirty="0">
                <a:latin typeface="Microsoft Sans Serif"/>
                <a:cs typeface="Microsoft Sans Serif"/>
              </a:rPr>
              <a:t>s</a:t>
            </a:r>
            <a:r>
              <a:rPr sz="2400" spc="-140" dirty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  <a:p>
            <a:pPr marL="353695" indent="-341630">
              <a:lnSpc>
                <a:spcPct val="100000"/>
              </a:lnSpc>
              <a:spcBef>
                <a:spcPts val="735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spc="-295" dirty="0">
                <a:latin typeface="Microsoft Sans Serif"/>
                <a:cs typeface="Microsoft Sans Serif"/>
              </a:rPr>
              <a:t>INTERNO</a:t>
            </a:r>
            <a:r>
              <a:rPr sz="2650" spc="-125" dirty="0">
                <a:latin typeface="Microsoft Sans Serif"/>
                <a:cs typeface="Microsoft Sans Serif"/>
              </a:rPr>
              <a:t>: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punt</a:t>
            </a:r>
            <a:r>
              <a:rPr sz="2650" spc="-165" dirty="0">
                <a:latin typeface="Microsoft Sans Serif"/>
                <a:cs typeface="Microsoft Sans Serif"/>
              </a:rPr>
              <a:t>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</a:t>
            </a:r>
            <a:r>
              <a:rPr sz="2650" spc="-65" dirty="0">
                <a:latin typeface="Microsoft Sans Serif"/>
                <a:cs typeface="Microsoft Sans Serif"/>
              </a:rPr>
              <a:t>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20" dirty="0">
                <a:latin typeface="Microsoft Sans Serif"/>
                <a:cs typeface="Microsoft Sans Serif"/>
              </a:rPr>
              <a:t>vist</a:t>
            </a:r>
            <a:r>
              <a:rPr sz="2650" spc="-165" dirty="0">
                <a:latin typeface="Microsoft Sans Serif"/>
                <a:cs typeface="Microsoft Sans Serif"/>
              </a:rPr>
              <a:t>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</a:t>
            </a:r>
            <a:r>
              <a:rPr sz="2650" spc="-65" dirty="0">
                <a:latin typeface="Microsoft Sans Serif"/>
                <a:cs typeface="Microsoft Sans Serif"/>
              </a:rPr>
              <a:t>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0" dirty="0">
                <a:latin typeface="Microsoft Sans Serif"/>
                <a:cs typeface="Microsoft Sans Serif"/>
              </a:rPr>
              <a:t>la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máquina</a:t>
            </a:r>
            <a:endParaRPr sz="26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673" y="353567"/>
            <a:ext cx="6891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45" dirty="0"/>
              <a:t>Definición</a:t>
            </a:r>
            <a:r>
              <a:rPr sz="4400" spc="30" dirty="0"/>
              <a:t> </a:t>
            </a:r>
            <a:r>
              <a:rPr sz="4400" spc="-140" dirty="0"/>
              <a:t>de</a:t>
            </a:r>
            <a:r>
              <a:rPr sz="4400" spc="20" dirty="0"/>
              <a:t> </a:t>
            </a:r>
            <a:r>
              <a:rPr sz="4400" spc="-190" dirty="0"/>
              <a:t>Modelo</a:t>
            </a:r>
            <a:r>
              <a:rPr sz="4400" spc="20" dirty="0"/>
              <a:t> </a:t>
            </a:r>
            <a:r>
              <a:rPr sz="4400" spc="-140" dirty="0"/>
              <a:t>de</a:t>
            </a:r>
            <a:r>
              <a:rPr sz="4400" spc="25" dirty="0"/>
              <a:t> </a:t>
            </a:r>
            <a:r>
              <a:rPr sz="4400" spc="-220" dirty="0"/>
              <a:t>datos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70534" marR="5080" indent="-339725">
              <a:lnSpc>
                <a:spcPts val="2370"/>
              </a:lnSpc>
              <a:spcBef>
                <a:spcPts val="670"/>
              </a:spcBef>
              <a:buClr>
                <a:srgbClr val="DD8047"/>
              </a:buClr>
              <a:buSzPct val="59183"/>
              <a:buFont typeface="Cambria"/>
              <a:buChar char="◻"/>
              <a:tabLst>
                <a:tab pos="470534" algn="l"/>
                <a:tab pos="471170" algn="l"/>
              </a:tabLst>
            </a:pPr>
            <a:r>
              <a:rPr spc="-290" dirty="0"/>
              <a:t>La</a:t>
            </a:r>
            <a:r>
              <a:rPr spc="-254" dirty="0"/>
              <a:t>s</a:t>
            </a:r>
            <a:r>
              <a:rPr spc="20" dirty="0"/>
              <a:t> </a:t>
            </a:r>
            <a:r>
              <a:rPr spc="-5" dirty="0"/>
              <a:t>p</a:t>
            </a:r>
            <a:r>
              <a:rPr spc="-55" dirty="0"/>
              <a:t>r</a:t>
            </a:r>
            <a:r>
              <a:rPr spc="-95" dirty="0"/>
              <a:t>opiedades</a:t>
            </a:r>
            <a:r>
              <a:rPr spc="25" dirty="0"/>
              <a:t> </a:t>
            </a:r>
            <a:r>
              <a:rPr spc="-135" dirty="0"/>
              <a:t>o</a:t>
            </a:r>
            <a:r>
              <a:rPr spc="25" dirty="0"/>
              <a:t> </a:t>
            </a:r>
            <a:r>
              <a:rPr spc="-204" dirty="0"/>
              <a:t>componente</a:t>
            </a:r>
            <a:r>
              <a:rPr spc="-185" dirty="0"/>
              <a:t>s</a:t>
            </a:r>
            <a:r>
              <a:rPr spc="20" dirty="0"/>
              <a:t> </a:t>
            </a:r>
            <a:r>
              <a:rPr spc="-70" dirty="0"/>
              <a:t>de</a:t>
            </a:r>
            <a:r>
              <a:rPr spc="-30" dirty="0"/>
              <a:t>l</a:t>
            </a:r>
            <a:r>
              <a:rPr spc="20" dirty="0"/>
              <a:t> </a:t>
            </a:r>
            <a:r>
              <a:rPr spc="-140" dirty="0"/>
              <a:t>modelo</a:t>
            </a:r>
            <a:r>
              <a:rPr spc="20" dirty="0"/>
              <a:t> </a:t>
            </a:r>
            <a:r>
              <a:rPr spc="-240" dirty="0"/>
              <a:t>son:</a:t>
            </a:r>
            <a:r>
              <a:rPr spc="25" dirty="0"/>
              <a:t> </a:t>
            </a:r>
            <a:r>
              <a:rPr spc="-315" dirty="0"/>
              <a:t>ESTÁTIC</a:t>
            </a:r>
            <a:r>
              <a:rPr spc="-345" dirty="0"/>
              <a:t>A</a:t>
            </a:r>
            <a:r>
              <a:rPr spc="20" dirty="0"/>
              <a:t> </a:t>
            </a:r>
            <a:r>
              <a:rPr spc="5" dirty="0"/>
              <a:t>y  </a:t>
            </a:r>
            <a:r>
              <a:rPr spc="-175" dirty="0"/>
              <a:t>DINÁMICA.</a:t>
            </a:r>
          </a:p>
          <a:p>
            <a:pPr marL="470534" indent="-339725">
              <a:lnSpc>
                <a:spcPct val="100000"/>
              </a:lnSpc>
              <a:spcBef>
                <a:spcPts val="135"/>
              </a:spcBef>
              <a:buClr>
                <a:srgbClr val="DD8047"/>
              </a:buClr>
              <a:buSzPct val="59183"/>
              <a:buFont typeface="Cambria"/>
              <a:buChar char="◻"/>
              <a:tabLst>
                <a:tab pos="470534" algn="l"/>
                <a:tab pos="471170" algn="l"/>
              </a:tabLst>
            </a:pPr>
            <a:r>
              <a:rPr b="1" spc="-210" dirty="0">
                <a:latin typeface="Arial"/>
                <a:cs typeface="Arial"/>
              </a:rPr>
              <a:t>Estática</a:t>
            </a:r>
          </a:p>
          <a:p>
            <a:pPr marL="790575" lvl="1" indent="-294640">
              <a:lnSpc>
                <a:spcPct val="100000"/>
              </a:lnSpc>
              <a:spcBef>
                <a:spcPts val="30"/>
              </a:spcBef>
              <a:buClr>
                <a:srgbClr val="94B6D1"/>
              </a:buClr>
              <a:buSzPct val="70454"/>
              <a:buFont typeface="Cambria"/>
              <a:buChar char="□"/>
              <a:tabLst>
                <a:tab pos="790575" algn="l"/>
                <a:tab pos="791210" algn="l"/>
              </a:tabLst>
            </a:pPr>
            <a:r>
              <a:rPr sz="2200" u="heavy" spc="-19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Elemento</a:t>
            </a:r>
            <a:r>
              <a:rPr sz="2200" u="heavy" spc="-3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200" u="heavy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2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pe</a:t>
            </a:r>
            <a:r>
              <a:rPr sz="22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200" u="heavy" spc="-1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mitidos</a:t>
            </a:r>
            <a:endParaRPr sz="2200" dirty="0">
              <a:latin typeface="Microsoft Sans Serif"/>
              <a:cs typeface="Microsoft Sans Serif"/>
            </a:endParaRPr>
          </a:p>
          <a:p>
            <a:pPr marL="1064895" lvl="2" indent="-248285">
              <a:lnSpc>
                <a:spcPct val="100000"/>
              </a:lnSpc>
              <a:spcBef>
                <a:spcPts val="40"/>
              </a:spcBef>
              <a:buClr>
                <a:srgbClr val="DD8047"/>
              </a:buClr>
              <a:buSzPct val="74358"/>
              <a:buChar char="■"/>
              <a:tabLst>
                <a:tab pos="1064895" algn="l"/>
                <a:tab pos="1065530" algn="l"/>
              </a:tabLst>
            </a:pPr>
            <a:r>
              <a:rPr sz="1950" i="1" spc="-120" dirty="0">
                <a:latin typeface="Arial"/>
                <a:cs typeface="Arial"/>
              </a:rPr>
              <a:t>Objetos</a:t>
            </a:r>
            <a:r>
              <a:rPr sz="1950" i="1" spc="5" dirty="0">
                <a:latin typeface="Arial"/>
                <a:cs typeface="Arial"/>
              </a:rPr>
              <a:t> </a:t>
            </a:r>
            <a:r>
              <a:rPr sz="1950" spc="-105" dirty="0">
                <a:latin typeface="Microsoft Sans Serif"/>
                <a:cs typeface="Microsoft Sans Serif"/>
              </a:rPr>
              <a:t>(entidades,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relaciones,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registros,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etc)</a:t>
            </a:r>
            <a:endParaRPr sz="1950" dirty="0">
              <a:latin typeface="Microsoft Sans Serif"/>
              <a:cs typeface="Microsoft Sans Serif"/>
            </a:endParaRPr>
          </a:p>
          <a:p>
            <a:pPr marL="1064895" lvl="2" indent="-248285">
              <a:lnSpc>
                <a:spcPct val="100000"/>
              </a:lnSpc>
              <a:spcBef>
                <a:spcPts val="35"/>
              </a:spcBef>
              <a:buClr>
                <a:srgbClr val="DD8047"/>
              </a:buClr>
              <a:buSzPct val="74358"/>
              <a:buChar char="■"/>
              <a:tabLst>
                <a:tab pos="1064895" algn="l"/>
                <a:tab pos="1065530" algn="l"/>
              </a:tabLst>
            </a:pPr>
            <a:r>
              <a:rPr sz="1950" i="1" spc="-170" dirty="0">
                <a:latin typeface="Arial"/>
                <a:cs typeface="Arial"/>
              </a:rPr>
              <a:t>Asociaciones</a:t>
            </a:r>
            <a:r>
              <a:rPr sz="1950" i="1" spc="-5" dirty="0">
                <a:latin typeface="Arial"/>
                <a:cs typeface="Arial"/>
              </a:rPr>
              <a:t> </a:t>
            </a:r>
            <a:r>
              <a:rPr sz="1950" spc="-95" dirty="0">
                <a:latin typeface="Microsoft Sans Serif"/>
                <a:cs typeface="Microsoft Sans Serif"/>
              </a:rPr>
              <a:t>entre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-100" dirty="0">
                <a:latin typeface="Microsoft Sans Serif"/>
                <a:cs typeface="Microsoft Sans Serif"/>
              </a:rPr>
              <a:t>objetos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(interrelaciones)</a:t>
            </a:r>
            <a:endParaRPr sz="1950" dirty="0">
              <a:latin typeface="Microsoft Sans Serif"/>
              <a:cs typeface="Microsoft Sans Serif"/>
            </a:endParaRPr>
          </a:p>
          <a:p>
            <a:pPr marL="1064895" marR="558165" lvl="2" indent="-248285">
              <a:lnSpc>
                <a:spcPts val="1880"/>
              </a:lnSpc>
              <a:spcBef>
                <a:spcPts val="480"/>
              </a:spcBef>
              <a:buClr>
                <a:srgbClr val="DD8047"/>
              </a:buClr>
              <a:buSzPct val="74358"/>
              <a:buChar char="■"/>
              <a:tabLst>
                <a:tab pos="1064895" algn="l"/>
                <a:tab pos="1065530" algn="l"/>
              </a:tabLst>
            </a:pPr>
            <a:r>
              <a:rPr sz="1950" i="1" spc="-155" dirty="0">
                <a:latin typeface="Arial"/>
                <a:cs typeface="Arial"/>
              </a:rPr>
              <a:t>Propiedades</a:t>
            </a:r>
            <a:r>
              <a:rPr sz="1950" i="1" spc="-5" dirty="0">
                <a:latin typeface="Arial"/>
                <a:cs typeface="Arial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o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05" dirty="0">
                <a:latin typeface="Microsoft Sans Serif"/>
                <a:cs typeface="Microsoft Sans Serif"/>
              </a:rPr>
              <a:t>carácterísticas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60" dirty="0">
                <a:latin typeface="Microsoft Sans Serif"/>
                <a:cs typeface="Microsoft Sans Serif"/>
              </a:rPr>
              <a:t>de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55" dirty="0">
                <a:latin typeface="Microsoft Sans Serif"/>
                <a:cs typeface="Microsoft Sans Serif"/>
              </a:rPr>
              <a:t>los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00" dirty="0">
                <a:latin typeface="Microsoft Sans Serif"/>
                <a:cs typeface="Microsoft Sans Serif"/>
              </a:rPr>
              <a:t>objetos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o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60" dirty="0">
                <a:latin typeface="Microsoft Sans Serif"/>
                <a:cs typeface="Microsoft Sans Serif"/>
              </a:rPr>
              <a:t>de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las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50" dirty="0">
                <a:latin typeface="Microsoft Sans Serif"/>
                <a:cs typeface="Microsoft Sans Serif"/>
              </a:rPr>
              <a:t>asociaciones </a:t>
            </a:r>
            <a:r>
              <a:rPr sz="1950" spc="-505" dirty="0">
                <a:latin typeface="Microsoft Sans Serif"/>
                <a:cs typeface="Microsoft Sans Serif"/>
              </a:rPr>
              <a:t> </a:t>
            </a:r>
            <a:r>
              <a:rPr sz="1950" spc="-95" dirty="0">
                <a:latin typeface="Microsoft Sans Serif"/>
                <a:cs typeface="Microsoft Sans Serif"/>
              </a:rPr>
              <a:t>(atributos,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70" dirty="0">
                <a:latin typeface="Microsoft Sans Serif"/>
                <a:cs typeface="Microsoft Sans Serif"/>
              </a:rPr>
              <a:t>campos,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50" dirty="0">
                <a:latin typeface="Microsoft Sans Serif"/>
                <a:cs typeface="Microsoft Sans Serif"/>
              </a:rPr>
              <a:t>elementos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60" dirty="0">
                <a:latin typeface="Microsoft Sans Serif"/>
                <a:cs typeface="Microsoft Sans Serif"/>
              </a:rPr>
              <a:t>de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datos,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etc)</a:t>
            </a:r>
            <a:endParaRPr sz="1950" dirty="0">
              <a:latin typeface="Microsoft Sans Serif"/>
              <a:cs typeface="Microsoft Sans Serif"/>
            </a:endParaRPr>
          </a:p>
          <a:p>
            <a:pPr marL="1064895" marR="1207770" lvl="2" indent="-248285">
              <a:lnSpc>
                <a:spcPts val="1880"/>
              </a:lnSpc>
              <a:spcBef>
                <a:spcPts val="495"/>
              </a:spcBef>
              <a:buClr>
                <a:srgbClr val="DD8047"/>
              </a:buClr>
              <a:buSzPct val="74358"/>
              <a:buChar char="■"/>
              <a:tabLst>
                <a:tab pos="1064895" algn="l"/>
                <a:tab pos="1065530" algn="l"/>
              </a:tabLst>
            </a:pPr>
            <a:r>
              <a:rPr sz="1950" i="1" spc="-165" dirty="0">
                <a:latin typeface="Arial"/>
                <a:cs typeface="Arial"/>
              </a:rPr>
              <a:t>Dominios</a:t>
            </a:r>
            <a:r>
              <a:rPr sz="1950" spc="-165" dirty="0">
                <a:latin typeface="Microsoft Sans Serif"/>
                <a:cs typeface="Microsoft Sans Serif"/>
              </a:rPr>
              <a:t>,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70" dirty="0">
                <a:latin typeface="Microsoft Sans Serif"/>
                <a:cs typeface="Microsoft Sans Serif"/>
              </a:rPr>
              <a:t>conjuntos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60" dirty="0">
                <a:latin typeface="Microsoft Sans Serif"/>
                <a:cs typeface="Microsoft Sans Serif"/>
              </a:rPr>
              <a:t>de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valores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sobre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55" dirty="0">
                <a:latin typeface="Microsoft Sans Serif"/>
                <a:cs typeface="Microsoft Sans Serif"/>
              </a:rPr>
              <a:t>los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que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220" dirty="0">
                <a:latin typeface="Microsoft Sans Serif"/>
                <a:cs typeface="Microsoft Sans Serif"/>
              </a:rPr>
              <a:t>se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90" dirty="0">
                <a:latin typeface="Microsoft Sans Serif"/>
                <a:cs typeface="Microsoft Sans Serif"/>
              </a:rPr>
              <a:t>definen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25" dirty="0">
                <a:latin typeface="Microsoft Sans Serif"/>
                <a:cs typeface="Microsoft Sans Serif"/>
              </a:rPr>
              <a:t>las </a:t>
            </a:r>
            <a:r>
              <a:rPr sz="1950" spc="-500" dirty="0">
                <a:latin typeface="Microsoft Sans Serif"/>
                <a:cs typeface="Microsoft Sans Serif"/>
              </a:rPr>
              <a:t> </a:t>
            </a:r>
            <a:r>
              <a:rPr sz="1950" spc="-70" dirty="0">
                <a:latin typeface="Microsoft Sans Serif"/>
                <a:cs typeface="Microsoft Sans Serif"/>
              </a:rPr>
              <a:t>propiedades</a:t>
            </a:r>
            <a:endParaRPr sz="1950" dirty="0">
              <a:latin typeface="Microsoft Sans Serif"/>
              <a:cs typeface="Microsoft Sans Serif"/>
            </a:endParaRPr>
          </a:p>
          <a:p>
            <a:pPr marL="790575" lvl="1" indent="-294640">
              <a:lnSpc>
                <a:spcPct val="100000"/>
              </a:lnSpc>
              <a:spcBef>
                <a:spcPts val="45"/>
              </a:spcBef>
              <a:buClr>
                <a:srgbClr val="94B6D1"/>
              </a:buClr>
              <a:buSzPct val="70454"/>
              <a:buFont typeface="Cambria"/>
              <a:buChar char="□"/>
              <a:tabLst>
                <a:tab pos="790575" algn="l"/>
                <a:tab pos="791210" algn="l"/>
              </a:tabLst>
            </a:pPr>
            <a:r>
              <a:rPr sz="2200" u="heavy" spc="-19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Elemento</a:t>
            </a:r>
            <a:r>
              <a:rPr sz="2200" u="heavy" spc="-3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200" u="heavy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200" u="heavy" spc="-2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n</a:t>
            </a:r>
            <a:r>
              <a:rPr sz="22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200" u="heavy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200" u="heavy" spc="-5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pe</a:t>
            </a:r>
            <a:r>
              <a:rPr sz="22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</a:t>
            </a:r>
            <a:r>
              <a:rPr sz="2200" u="heavy" spc="-9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mitido</a:t>
            </a:r>
            <a:r>
              <a:rPr sz="2200" u="heavy" spc="-36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s</a:t>
            </a:r>
            <a:r>
              <a:rPr sz="2200" u="heavy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200" u="heavy" spc="-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o</a:t>
            </a:r>
            <a:r>
              <a:rPr sz="22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200" u="heavy" spc="-14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restricciones</a:t>
            </a:r>
            <a:endParaRPr sz="2200" dirty="0">
              <a:latin typeface="Microsoft Sans Serif"/>
              <a:cs typeface="Microsoft Sans Serif"/>
            </a:endParaRPr>
          </a:p>
          <a:p>
            <a:pPr marL="1064895" lvl="2" indent="-248285">
              <a:lnSpc>
                <a:spcPct val="100000"/>
              </a:lnSpc>
              <a:spcBef>
                <a:spcPts val="35"/>
              </a:spcBef>
              <a:buClr>
                <a:srgbClr val="DD8047"/>
              </a:buClr>
              <a:buSzPct val="74358"/>
              <a:buChar char="■"/>
              <a:tabLst>
                <a:tab pos="1064895" algn="l"/>
                <a:tab pos="1065530" algn="l"/>
              </a:tabLst>
            </a:pPr>
            <a:r>
              <a:rPr sz="1950" i="1" spc="-190" dirty="0">
                <a:latin typeface="Arial"/>
                <a:cs typeface="Arial"/>
              </a:rPr>
              <a:t>Restricciones</a:t>
            </a:r>
            <a:r>
              <a:rPr sz="1950" i="1" spc="-10" dirty="0">
                <a:latin typeface="Arial"/>
                <a:cs typeface="Arial"/>
              </a:rPr>
              <a:t> </a:t>
            </a:r>
            <a:r>
              <a:rPr sz="1950" i="1" spc="-180" dirty="0">
                <a:latin typeface="Arial"/>
                <a:cs typeface="Arial"/>
              </a:rPr>
              <a:t>inherentes</a:t>
            </a:r>
            <a:r>
              <a:rPr sz="1950" i="1" spc="50" dirty="0">
                <a:latin typeface="Arial"/>
                <a:cs typeface="Arial"/>
              </a:rPr>
              <a:t> </a:t>
            </a:r>
            <a:r>
              <a:rPr sz="1950" spc="-15" dirty="0">
                <a:latin typeface="Microsoft Sans Serif"/>
                <a:cs typeface="Microsoft Sans Serif"/>
              </a:rPr>
              <a:t>al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14" dirty="0">
                <a:latin typeface="Microsoft Sans Serif"/>
                <a:cs typeface="Microsoft Sans Serif"/>
              </a:rPr>
              <a:t>modelo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55" dirty="0">
                <a:latin typeface="Microsoft Sans Serif"/>
                <a:cs typeface="Microsoft Sans Serif"/>
              </a:rPr>
              <a:t>(en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todos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55" dirty="0">
                <a:latin typeface="Microsoft Sans Serif"/>
                <a:cs typeface="Microsoft Sans Serif"/>
              </a:rPr>
              <a:t>los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90" dirty="0">
                <a:latin typeface="Microsoft Sans Serif"/>
                <a:cs typeface="Microsoft Sans Serif"/>
              </a:rPr>
              <a:t>casos)</a:t>
            </a:r>
            <a:endParaRPr sz="1950" dirty="0">
              <a:latin typeface="Microsoft Sans Serif"/>
              <a:cs typeface="Microsoft Sans Serif"/>
            </a:endParaRPr>
          </a:p>
          <a:p>
            <a:pPr marL="1064895" marR="103505" lvl="2" indent="-248285">
              <a:lnSpc>
                <a:spcPts val="1880"/>
              </a:lnSpc>
              <a:spcBef>
                <a:spcPts val="484"/>
              </a:spcBef>
              <a:buClr>
                <a:srgbClr val="DD8047"/>
              </a:buClr>
              <a:buSzPct val="74358"/>
              <a:buChar char="■"/>
              <a:tabLst>
                <a:tab pos="1064895" algn="l"/>
                <a:tab pos="1065530" algn="l"/>
              </a:tabLst>
            </a:pPr>
            <a:r>
              <a:rPr sz="1950" i="1" spc="-190" dirty="0">
                <a:latin typeface="Arial"/>
                <a:cs typeface="Arial"/>
              </a:rPr>
              <a:t>Restricciones</a:t>
            </a:r>
            <a:r>
              <a:rPr sz="1950" i="1" spc="-5" dirty="0">
                <a:latin typeface="Arial"/>
                <a:cs typeface="Arial"/>
              </a:rPr>
              <a:t> </a:t>
            </a:r>
            <a:r>
              <a:rPr sz="1950" i="1" spc="-170" dirty="0">
                <a:latin typeface="Arial"/>
                <a:cs typeface="Arial"/>
              </a:rPr>
              <a:t>de</a:t>
            </a:r>
            <a:r>
              <a:rPr sz="1950" i="1" dirty="0">
                <a:latin typeface="Arial"/>
                <a:cs typeface="Arial"/>
              </a:rPr>
              <a:t> </a:t>
            </a:r>
            <a:r>
              <a:rPr sz="1950" i="1" spc="-90" dirty="0">
                <a:latin typeface="Arial"/>
                <a:cs typeface="Arial"/>
              </a:rPr>
              <a:t>integridad</a:t>
            </a:r>
            <a:r>
              <a:rPr sz="1950" i="1" dirty="0">
                <a:latin typeface="Arial"/>
                <a:cs typeface="Arial"/>
              </a:rPr>
              <a:t> </a:t>
            </a:r>
            <a:r>
              <a:rPr sz="1950" i="1" spc="-110" dirty="0">
                <a:latin typeface="Arial"/>
                <a:cs typeface="Arial"/>
              </a:rPr>
              <a:t>o</a:t>
            </a:r>
            <a:r>
              <a:rPr sz="1950" i="1" dirty="0">
                <a:latin typeface="Arial"/>
                <a:cs typeface="Arial"/>
              </a:rPr>
              <a:t> </a:t>
            </a:r>
            <a:r>
              <a:rPr sz="1950" i="1" spc="-190" dirty="0">
                <a:latin typeface="Arial"/>
                <a:cs typeface="Arial"/>
              </a:rPr>
              <a:t>semánticas</a:t>
            </a:r>
            <a:r>
              <a:rPr sz="1950" i="1" spc="70" dirty="0">
                <a:latin typeface="Arial"/>
                <a:cs typeface="Arial"/>
              </a:rPr>
              <a:t> </a:t>
            </a:r>
            <a:r>
              <a:rPr sz="1950" spc="-110" dirty="0">
                <a:latin typeface="Microsoft Sans Serif"/>
                <a:cs typeface="Microsoft Sans Serif"/>
              </a:rPr>
              <a:t>(dependen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60" dirty="0">
                <a:latin typeface="Microsoft Sans Serif"/>
                <a:cs typeface="Microsoft Sans Serif"/>
              </a:rPr>
              <a:t>de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-15" dirty="0">
                <a:latin typeface="Microsoft Sans Serif"/>
                <a:cs typeface="Microsoft Sans Serif"/>
              </a:rPr>
              <a:t>la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130" dirty="0">
                <a:latin typeface="Microsoft Sans Serif"/>
                <a:cs typeface="Microsoft Sans Serif"/>
              </a:rPr>
              <a:t>situación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-120" dirty="0">
                <a:latin typeface="Microsoft Sans Serif"/>
                <a:cs typeface="Microsoft Sans Serif"/>
              </a:rPr>
              <a:t>que </a:t>
            </a:r>
            <a:r>
              <a:rPr sz="1950" spc="-505" dirty="0">
                <a:latin typeface="Microsoft Sans Serif"/>
                <a:cs typeface="Microsoft Sans Serif"/>
              </a:rPr>
              <a:t> </a:t>
            </a:r>
            <a:r>
              <a:rPr sz="1950" spc="-175" dirty="0">
                <a:latin typeface="Microsoft Sans Serif"/>
                <a:cs typeface="Microsoft Sans Serif"/>
              </a:rPr>
              <a:t>estamos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-100" dirty="0">
                <a:latin typeface="Microsoft Sans Serif"/>
                <a:cs typeface="Microsoft Sans Serif"/>
              </a:rPr>
              <a:t>representando).</a:t>
            </a:r>
            <a:endParaRPr sz="19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673" y="87579"/>
            <a:ext cx="7772653" cy="607859"/>
          </a:xfrm>
        </p:spPr>
        <p:txBody>
          <a:bodyPr/>
          <a:lstStyle/>
          <a:p>
            <a:r>
              <a:rPr lang="es-ES" dirty="0" smtClean="0"/>
              <a:t>DOMINIO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05000"/>
            <a:ext cx="751049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6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673" y="353567"/>
            <a:ext cx="6891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45" dirty="0"/>
              <a:t>Definición</a:t>
            </a:r>
            <a:r>
              <a:rPr sz="4400" spc="30" dirty="0"/>
              <a:t> </a:t>
            </a:r>
            <a:r>
              <a:rPr sz="4400" spc="-140" dirty="0"/>
              <a:t>de</a:t>
            </a:r>
            <a:r>
              <a:rPr sz="4400" spc="20" dirty="0"/>
              <a:t> </a:t>
            </a:r>
            <a:r>
              <a:rPr sz="4400" spc="-190" dirty="0"/>
              <a:t>Modelo</a:t>
            </a:r>
            <a:r>
              <a:rPr sz="4400" spc="20" dirty="0"/>
              <a:t> </a:t>
            </a:r>
            <a:r>
              <a:rPr sz="4400" spc="-140" dirty="0"/>
              <a:t>de</a:t>
            </a:r>
            <a:r>
              <a:rPr sz="4400" spc="25" dirty="0"/>
              <a:t> </a:t>
            </a:r>
            <a:r>
              <a:rPr sz="4400" spc="-220" dirty="0"/>
              <a:t>datos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09600" y="2362200"/>
            <a:ext cx="7978140" cy="293984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3695" marR="817880" indent="-341630">
              <a:lnSpc>
                <a:spcPts val="2580"/>
              </a:lnSpc>
              <a:spcBef>
                <a:spcPts val="715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b="1" spc="-160" dirty="0">
                <a:latin typeface="Arial"/>
                <a:cs typeface="Arial"/>
              </a:rPr>
              <a:t>Dinámica</a:t>
            </a:r>
            <a:r>
              <a:rPr sz="2650" spc="-160" dirty="0">
                <a:latin typeface="Microsoft Sans Serif"/>
                <a:cs typeface="Microsoft Sans Serif"/>
              </a:rPr>
              <a:t>: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90" dirty="0">
                <a:latin typeface="Microsoft Sans Serif"/>
                <a:cs typeface="Microsoft Sans Serif"/>
              </a:rPr>
              <a:t>conjunto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de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00" dirty="0">
                <a:latin typeface="Microsoft Sans Serif"/>
                <a:cs typeface="Microsoft Sans Serif"/>
              </a:rPr>
              <a:t>operadores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que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285" dirty="0">
                <a:latin typeface="Microsoft Sans Serif"/>
                <a:cs typeface="Microsoft Sans Serif"/>
              </a:rPr>
              <a:t>se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r>
              <a:rPr sz="2650" spc="-110" dirty="0">
                <a:latin typeface="Microsoft Sans Serif"/>
                <a:cs typeface="Microsoft Sans Serif"/>
              </a:rPr>
              <a:t>definen </a:t>
            </a:r>
            <a:r>
              <a:rPr sz="2650" spc="-690" dirty="0">
                <a:latin typeface="Microsoft Sans Serif"/>
                <a:cs typeface="Microsoft Sans Serif"/>
              </a:rPr>
              <a:t> </a:t>
            </a:r>
            <a:r>
              <a:rPr sz="2650" spc="-140" dirty="0">
                <a:latin typeface="Microsoft Sans Serif"/>
                <a:cs typeface="Microsoft Sans Serif"/>
              </a:rPr>
              <a:t>sobre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0" dirty="0">
                <a:latin typeface="Microsoft Sans Serif"/>
                <a:cs typeface="Microsoft Sans Serif"/>
              </a:rPr>
              <a:t>la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45" dirty="0">
                <a:latin typeface="Microsoft Sans Serif"/>
                <a:cs typeface="Microsoft Sans Serif"/>
              </a:rPr>
              <a:t>estructura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55" dirty="0">
                <a:latin typeface="Microsoft Sans Serif"/>
                <a:cs typeface="Microsoft Sans Serif"/>
              </a:rPr>
              <a:t>del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modelo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30" dirty="0">
                <a:latin typeface="Microsoft Sans Serif"/>
                <a:cs typeface="Microsoft Sans Serif"/>
              </a:rPr>
              <a:t>datos.</a:t>
            </a:r>
            <a:endParaRPr sz="2650" dirty="0">
              <a:latin typeface="Microsoft Sans Serif"/>
              <a:cs typeface="Microsoft Sans Serif"/>
            </a:endParaRPr>
          </a:p>
          <a:p>
            <a:pPr marL="353695" marR="5080" indent="-341630">
              <a:lnSpc>
                <a:spcPts val="2580"/>
              </a:lnSpc>
              <a:spcBef>
                <a:spcPts val="690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spc="-225" dirty="0">
                <a:latin typeface="Microsoft Sans Serif"/>
                <a:cs typeface="Microsoft Sans Serif"/>
              </a:rPr>
              <a:t>L</a:t>
            </a:r>
            <a:r>
              <a:rPr sz="2650" spc="-220" dirty="0">
                <a:latin typeface="Microsoft Sans Serif"/>
                <a:cs typeface="Microsoft Sans Serif"/>
              </a:rPr>
              <a:t>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10" dirty="0">
                <a:latin typeface="Microsoft Sans Serif"/>
                <a:cs typeface="Microsoft Sans Serif"/>
              </a:rPr>
              <a:t>aplicació</a:t>
            </a:r>
            <a:r>
              <a:rPr sz="2650" spc="-135" dirty="0">
                <a:latin typeface="Microsoft Sans Serif"/>
                <a:cs typeface="Microsoft Sans Serif"/>
              </a:rPr>
              <a:t>n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</a:t>
            </a:r>
            <a:r>
              <a:rPr sz="2650" spc="-65" dirty="0">
                <a:latin typeface="Microsoft Sans Serif"/>
                <a:cs typeface="Microsoft Sans Serif"/>
              </a:rPr>
              <a:t>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10" dirty="0">
                <a:latin typeface="Microsoft Sans Serif"/>
                <a:cs typeface="Microsoft Sans Serif"/>
              </a:rPr>
              <a:t>un</a:t>
            </a:r>
            <a:r>
              <a:rPr sz="2650" spc="-200" dirty="0">
                <a:latin typeface="Microsoft Sans Serif"/>
                <a:cs typeface="Microsoft Sans Serif"/>
              </a:rPr>
              <a:t>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oper</a:t>
            </a:r>
            <a:r>
              <a:rPr sz="2650" spc="-150" dirty="0">
                <a:latin typeface="Microsoft Sans Serif"/>
                <a:cs typeface="Microsoft Sans Serif"/>
              </a:rPr>
              <a:t>ació</a:t>
            </a:r>
            <a:r>
              <a:rPr sz="2650" spc="-175" dirty="0">
                <a:latin typeface="Microsoft Sans Serif"/>
                <a:cs typeface="Microsoft Sans Serif"/>
              </a:rPr>
              <a:t>n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40" dirty="0">
                <a:latin typeface="Microsoft Sans Serif"/>
                <a:cs typeface="Microsoft Sans Serif"/>
              </a:rPr>
              <a:t>sobre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210" dirty="0">
                <a:latin typeface="Microsoft Sans Serif"/>
                <a:cs typeface="Microsoft Sans Serif"/>
              </a:rPr>
              <a:t>un</a:t>
            </a:r>
            <a:r>
              <a:rPr sz="2650" spc="-200" dirty="0">
                <a:latin typeface="Microsoft Sans Serif"/>
                <a:cs typeface="Microsoft Sans Serif"/>
              </a:rPr>
              <a:t>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45" dirty="0">
                <a:latin typeface="Microsoft Sans Serif"/>
                <a:cs typeface="Microsoft Sans Serif"/>
              </a:rPr>
              <a:t>ocurrencia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55" dirty="0">
                <a:latin typeface="Microsoft Sans Serif"/>
                <a:cs typeface="Microsoft Sans Serif"/>
              </a:rPr>
              <a:t>de  </a:t>
            </a:r>
            <a:r>
              <a:rPr sz="2650" spc="-305" dirty="0">
                <a:latin typeface="Microsoft Sans Serif"/>
                <a:cs typeface="Microsoft Sans Serif"/>
              </a:rPr>
              <a:t>un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04" dirty="0">
                <a:latin typeface="Microsoft Sans Serif"/>
                <a:cs typeface="Microsoft Sans Serif"/>
              </a:rPr>
              <a:t>esquema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285" dirty="0">
                <a:latin typeface="Microsoft Sans Serif"/>
                <a:cs typeface="Microsoft Sans Serif"/>
              </a:rPr>
              <a:t>se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r>
              <a:rPr sz="2650" spc="-85" dirty="0">
                <a:latin typeface="Microsoft Sans Serif"/>
                <a:cs typeface="Microsoft Sans Serif"/>
              </a:rPr>
              <a:t>debe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10" dirty="0">
                <a:latin typeface="Microsoft Sans Serif"/>
                <a:cs typeface="Microsoft Sans Serif"/>
              </a:rPr>
              <a:t>transformar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220" dirty="0">
                <a:latin typeface="Microsoft Sans Serif"/>
                <a:cs typeface="Microsoft Sans Serif"/>
              </a:rPr>
              <a:t>en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40" dirty="0">
                <a:latin typeface="Microsoft Sans Serif"/>
                <a:cs typeface="Microsoft Sans Serif"/>
              </a:rPr>
              <a:t>otra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45" dirty="0">
                <a:latin typeface="Microsoft Sans Serif"/>
                <a:cs typeface="Microsoft Sans Serif"/>
              </a:rPr>
              <a:t>ocurrencia.</a:t>
            </a:r>
            <a:endParaRPr sz="2650" dirty="0">
              <a:latin typeface="Microsoft Sans Serif"/>
              <a:cs typeface="Microsoft Sans Serif"/>
            </a:endParaRPr>
          </a:p>
          <a:p>
            <a:pPr marL="353695" indent="-341630">
              <a:lnSpc>
                <a:spcPts val="3170"/>
              </a:lnSpc>
              <a:spcBef>
                <a:spcPts val="105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spc="-200" dirty="0">
                <a:latin typeface="Microsoft Sans Serif"/>
                <a:cs typeface="Microsoft Sans Serif"/>
              </a:rPr>
              <a:t>Una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14" dirty="0">
                <a:latin typeface="Microsoft Sans Serif"/>
                <a:cs typeface="Microsoft Sans Serif"/>
              </a:rPr>
              <a:t>operación</a:t>
            </a:r>
            <a:r>
              <a:rPr sz="2650" spc="20" dirty="0">
                <a:latin typeface="Microsoft Sans Serif"/>
                <a:cs typeface="Microsoft Sans Serif"/>
              </a:rPr>
              <a:t> </a:t>
            </a:r>
            <a:r>
              <a:rPr sz="2650" spc="-130" dirty="0">
                <a:latin typeface="Microsoft Sans Serif"/>
                <a:cs typeface="Microsoft Sans Serif"/>
              </a:rPr>
              <a:t>tiene</a:t>
            </a:r>
            <a:r>
              <a:rPr sz="2650" spc="20" dirty="0">
                <a:latin typeface="Microsoft Sans Serif"/>
                <a:cs typeface="Microsoft Sans Serif"/>
              </a:rPr>
              <a:t> </a:t>
            </a:r>
            <a:r>
              <a:rPr sz="2650" spc="-190" dirty="0">
                <a:latin typeface="Microsoft Sans Serif"/>
                <a:cs typeface="Microsoft Sans Serif"/>
              </a:rPr>
              <a:t>dos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10" dirty="0">
                <a:latin typeface="Microsoft Sans Serif"/>
                <a:cs typeface="Microsoft Sans Serif"/>
              </a:rPr>
              <a:t>componentes:</a:t>
            </a:r>
            <a:endParaRPr sz="2650" dirty="0">
              <a:latin typeface="Microsoft Sans Serif"/>
              <a:cs typeface="Microsoft Sans Serif"/>
            </a:endParaRPr>
          </a:p>
          <a:p>
            <a:pPr marL="673735" marR="496570" lvl="1" indent="-295910">
              <a:lnSpc>
                <a:spcPts val="2310"/>
              </a:lnSpc>
              <a:spcBef>
                <a:spcPts val="545"/>
              </a:spcBef>
              <a:buClr>
                <a:srgbClr val="94B6D1"/>
              </a:buClr>
              <a:buSzPct val="68750"/>
              <a:buFont typeface="Cambria"/>
              <a:buChar char="□"/>
              <a:tabLst>
                <a:tab pos="673735" algn="l"/>
                <a:tab pos="674370" algn="l"/>
              </a:tabLst>
            </a:pPr>
            <a:r>
              <a:rPr sz="2400" spc="-150" dirty="0">
                <a:latin typeface="Microsoft Sans Serif"/>
                <a:cs typeface="Microsoft Sans Serif"/>
              </a:rPr>
              <a:t>Localización: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245" dirty="0">
                <a:latin typeface="Microsoft Sans Serif"/>
                <a:cs typeface="Microsoft Sans Serif"/>
              </a:rPr>
              <a:t>buscamos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0" dirty="0">
                <a:latin typeface="Microsoft Sans Serif"/>
                <a:cs typeface="Microsoft Sans Serif"/>
              </a:rPr>
              <a:t>localizamos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90" dirty="0">
                <a:latin typeface="Microsoft Sans Serif"/>
                <a:cs typeface="Microsoft Sans Serif"/>
              </a:rPr>
              <a:t>los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datos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sobre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90" dirty="0">
                <a:latin typeface="Microsoft Sans Serif"/>
                <a:cs typeface="Microsoft Sans Serif"/>
              </a:rPr>
              <a:t>los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145" dirty="0">
                <a:latin typeface="Microsoft Sans Serif"/>
                <a:cs typeface="Microsoft Sans Serif"/>
              </a:rPr>
              <a:t>que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realizar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la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20" dirty="0">
                <a:latin typeface="Microsoft Sans Serif"/>
                <a:cs typeface="Microsoft Sans Serif"/>
              </a:rPr>
              <a:t>operación</a:t>
            </a:r>
            <a:endParaRPr sz="2400" dirty="0">
              <a:latin typeface="Microsoft Sans Serif"/>
              <a:cs typeface="Microsoft Sans Serif"/>
            </a:endParaRPr>
          </a:p>
          <a:p>
            <a:pPr marL="673735" lvl="1" indent="-296545">
              <a:lnSpc>
                <a:spcPts val="2875"/>
              </a:lnSpc>
              <a:buClr>
                <a:srgbClr val="94B6D1"/>
              </a:buClr>
              <a:buSzPct val="68750"/>
              <a:buFont typeface="Cambria"/>
              <a:buChar char="□"/>
              <a:tabLst>
                <a:tab pos="673735" algn="l"/>
                <a:tab pos="674370" algn="l"/>
              </a:tabLst>
            </a:pPr>
            <a:r>
              <a:rPr sz="2400" spc="-185" dirty="0">
                <a:latin typeface="Microsoft Sans Serif"/>
                <a:cs typeface="Microsoft Sans Serif"/>
              </a:rPr>
              <a:t>Acción: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30" dirty="0">
                <a:latin typeface="Microsoft Sans Serif"/>
                <a:cs typeface="Microsoft Sans Serif"/>
              </a:rPr>
              <a:t>realizamos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la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70" dirty="0">
                <a:latin typeface="Microsoft Sans Serif"/>
                <a:cs typeface="Microsoft Sans Serif"/>
              </a:rPr>
              <a:t>acción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35" dirty="0">
                <a:latin typeface="Microsoft Sans Serif"/>
                <a:cs typeface="Microsoft Sans Serif"/>
              </a:rPr>
              <a:t>sobre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270" dirty="0">
                <a:latin typeface="Microsoft Sans Serif"/>
                <a:cs typeface="Microsoft Sans Serif"/>
              </a:rPr>
              <a:t>esos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25" dirty="0" err="1">
                <a:latin typeface="Microsoft Sans Serif"/>
                <a:cs typeface="Microsoft Sans Serif"/>
              </a:rPr>
              <a:t>datos</a:t>
            </a:r>
            <a:r>
              <a:rPr sz="2400" spc="-125" dirty="0" smtClean="0">
                <a:latin typeface="Microsoft Sans Serif"/>
                <a:cs typeface="Microsoft Sans Serif"/>
              </a:rPr>
              <a:t>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673" y="87579"/>
            <a:ext cx="7772653" cy="607859"/>
          </a:xfrm>
        </p:spPr>
        <p:txBody>
          <a:bodyPr/>
          <a:lstStyle/>
          <a:p>
            <a:r>
              <a:rPr lang="es-ES" dirty="0" smtClean="0"/>
              <a:t>EJEMPLO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7340" y="1552971"/>
            <a:ext cx="8596660" cy="3634328"/>
          </a:xfrm>
        </p:spPr>
        <p:txBody>
          <a:bodyPr/>
          <a:lstStyle/>
          <a:p>
            <a:pPr marL="353695" indent="-341630">
              <a:lnSpc>
                <a:spcPct val="100000"/>
              </a:lnSpc>
              <a:spcBef>
                <a:spcPts val="90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lang="es-ES" sz="3200" spc="-190" dirty="0"/>
              <a:t>Ejemplo:</a:t>
            </a:r>
            <a:endParaRPr lang="es-ES" sz="3200" dirty="0"/>
          </a:p>
          <a:p>
            <a:pPr marL="719455">
              <a:lnSpc>
                <a:spcPct val="100000"/>
              </a:lnSpc>
              <a:spcBef>
                <a:spcPts val="20"/>
              </a:spcBef>
            </a:pPr>
            <a:r>
              <a:rPr lang="es-ES" sz="2800" spc="10" dirty="0">
                <a:latin typeface="Courier New"/>
                <a:cs typeface="Courier New"/>
              </a:rPr>
              <a:t>SELECT</a:t>
            </a:r>
            <a:r>
              <a:rPr lang="es-ES" sz="2800" spc="-10" dirty="0">
                <a:latin typeface="Courier New"/>
                <a:cs typeface="Courier New"/>
              </a:rPr>
              <a:t> </a:t>
            </a:r>
            <a:r>
              <a:rPr lang="es-ES" sz="2800" spc="10" dirty="0">
                <a:latin typeface="Courier New"/>
                <a:cs typeface="Courier New"/>
              </a:rPr>
              <a:t>título,</a:t>
            </a:r>
            <a:r>
              <a:rPr lang="es-ES" sz="2800" spc="-10" dirty="0">
                <a:latin typeface="Courier New"/>
                <a:cs typeface="Courier New"/>
              </a:rPr>
              <a:t> </a:t>
            </a:r>
            <a:r>
              <a:rPr lang="es-ES" sz="2800" spc="10" dirty="0">
                <a:latin typeface="Courier New"/>
                <a:cs typeface="Courier New"/>
              </a:rPr>
              <a:t>autor</a:t>
            </a:r>
            <a:endParaRPr lang="es-ES" sz="2800" dirty="0">
              <a:latin typeface="Courier New"/>
              <a:cs typeface="Courier New"/>
            </a:endParaRPr>
          </a:p>
          <a:p>
            <a:pPr marL="719455">
              <a:lnSpc>
                <a:spcPts val="2490"/>
              </a:lnSpc>
              <a:spcBef>
                <a:spcPts val="25"/>
              </a:spcBef>
            </a:pPr>
            <a:r>
              <a:rPr lang="es-ES" sz="2800" spc="10" dirty="0">
                <a:latin typeface="Courier New"/>
                <a:cs typeface="Courier New"/>
              </a:rPr>
              <a:t>FROM</a:t>
            </a:r>
            <a:r>
              <a:rPr lang="es-ES" sz="2800" spc="5" dirty="0">
                <a:latin typeface="Courier New"/>
                <a:cs typeface="Courier New"/>
              </a:rPr>
              <a:t> </a:t>
            </a:r>
            <a:r>
              <a:rPr lang="es-ES" sz="2800" spc="10" dirty="0">
                <a:latin typeface="Courier New"/>
                <a:cs typeface="Courier New"/>
              </a:rPr>
              <a:t>libro WHERE </a:t>
            </a:r>
            <a:r>
              <a:rPr lang="es-ES" sz="2800" spc="10" dirty="0" err="1">
                <a:latin typeface="Courier New"/>
                <a:cs typeface="Courier New"/>
              </a:rPr>
              <a:t>año_edición</a:t>
            </a:r>
            <a:r>
              <a:rPr lang="es-ES" sz="2800" spc="10" dirty="0">
                <a:latin typeface="Courier New"/>
                <a:cs typeface="Courier New"/>
              </a:rPr>
              <a:t> </a:t>
            </a:r>
            <a:r>
              <a:rPr lang="es-ES" sz="2800" spc="15" dirty="0">
                <a:latin typeface="Courier New"/>
                <a:cs typeface="Courier New"/>
              </a:rPr>
              <a:t>=</a:t>
            </a:r>
            <a:r>
              <a:rPr lang="es-ES" sz="2800" spc="5" dirty="0">
                <a:latin typeface="Courier New"/>
                <a:cs typeface="Courier New"/>
              </a:rPr>
              <a:t> </a:t>
            </a:r>
            <a:r>
              <a:rPr lang="es-ES" sz="2800" spc="10" dirty="0" smtClean="0">
                <a:latin typeface="Courier New"/>
                <a:cs typeface="Courier New"/>
              </a:rPr>
              <a:t>2010</a:t>
            </a:r>
          </a:p>
          <a:p>
            <a:pPr marL="719455">
              <a:lnSpc>
                <a:spcPts val="2490"/>
              </a:lnSpc>
              <a:spcBef>
                <a:spcPts val="25"/>
              </a:spcBef>
            </a:pPr>
            <a:endParaRPr lang="es-ES" sz="2800" dirty="0">
              <a:latin typeface="Courier New"/>
              <a:cs typeface="Courier New"/>
            </a:endParaRPr>
          </a:p>
          <a:p>
            <a:pPr marL="948055" marR="523875" indent="-195580">
              <a:lnSpc>
                <a:spcPts val="2310"/>
              </a:lnSpc>
              <a:spcBef>
                <a:spcPts val="520"/>
              </a:spcBef>
              <a:buClr>
                <a:srgbClr val="DD8047"/>
              </a:buClr>
              <a:buSzPct val="75000"/>
              <a:buFont typeface="Cambria"/>
              <a:buChar char="▪"/>
              <a:tabLst>
                <a:tab pos="948690" algn="l"/>
              </a:tabLst>
            </a:pPr>
            <a:r>
              <a:rPr lang="es-ES" sz="2800" i="1" spc="-170" dirty="0">
                <a:latin typeface="Arial"/>
                <a:cs typeface="Arial"/>
              </a:rPr>
              <a:t>Localización</a:t>
            </a:r>
            <a:r>
              <a:rPr lang="es-ES" sz="2800" i="1" spc="10" dirty="0">
                <a:latin typeface="Arial"/>
                <a:cs typeface="Arial"/>
              </a:rPr>
              <a:t> </a:t>
            </a:r>
            <a:r>
              <a:rPr lang="es-ES" sz="2800" spc="495" dirty="0"/>
              <a:t>–</a:t>
            </a:r>
            <a:r>
              <a:rPr lang="es-ES" sz="2800" spc="25" dirty="0"/>
              <a:t> </a:t>
            </a:r>
            <a:r>
              <a:rPr lang="es-ES" sz="2800" spc="-210" dirty="0"/>
              <a:t>campos</a:t>
            </a:r>
            <a:r>
              <a:rPr lang="es-ES" sz="2800" spc="25" dirty="0"/>
              <a:t> </a:t>
            </a:r>
            <a:r>
              <a:rPr lang="es-ES" sz="2800" spc="-60" dirty="0"/>
              <a:t>del</a:t>
            </a:r>
            <a:r>
              <a:rPr lang="es-ES" sz="2800" spc="25" dirty="0"/>
              <a:t> </a:t>
            </a:r>
            <a:r>
              <a:rPr lang="es-ES" sz="2800" spc="-420" dirty="0"/>
              <a:t>SELECT,</a:t>
            </a:r>
            <a:r>
              <a:rPr lang="es-ES" sz="2800" spc="-405" dirty="0"/>
              <a:t> </a:t>
            </a:r>
            <a:r>
              <a:rPr lang="es-ES" sz="2800" spc="-85" dirty="0"/>
              <a:t>tablas</a:t>
            </a:r>
            <a:r>
              <a:rPr lang="es-ES" sz="2800" spc="20" dirty="0"/>
              <a:t> </a:t>
            </a:r>
            <a:r>
              <a:rPr lang="es-ES" sz="2800" spc="-60" dirty="0"/>
              <a:t>del</a:t>
            </a:r>
            <a:r>
              <a:rPr lang="es-ES" sz="2800" spc="20" dirty="0"/>
              <a:t> </a:t>
            </a:r>
            <a:r>
              <a:rPr lang="es-ES" sz="2800" spc="-280" dirty="0"/>
              <a:t>FROM</a:t>
            </a:r>
            <a:r>
              <a:rPr lang="es-ES" sz="2800" spc="20" dirty="0"/>
              <a:t> </a:t>
            </a:r>
            <a:r>
              <a:rPr lang="es-ES" sz="2800" dirty="0"/>
              <a:t>y </a:t>
            </a:r>
            <a:r>
              <a:rPr lang="es-ES" sz="2800" spc="-625" dirty="0"/>
              <a:t> </a:t>
            </a:r>
            <a:r>
              <a:rPr lang="es-ES" sz="2800" spc="-165" dirty="0"/>
              <a:t>condición</a:t>
            </a:r>
            <a:r>
              <a:rPr lang="es-ES" sz="2800" spc="15" dirty="0"/>
              <a:t> </a:t>
            </a:r>
            <a:r>
              <a:rPr lang="es-ES" sz="2800" spc="-60" dirty="0"/>
              <a:t>del</a:t>
            </a:r>
            <a:r>
              <a:rPr lang="es-ES" sz="2800" spc="20" dirty="0"/>
              <a:t> </a:t>
            </a:r>
            <a:r>
              <a:rPr lang="es-ES" sz="2800" spc="-355" dirty="0" smtClean="0"/>
              <a:t>WHERE</a:t>
            </a:r>
          </a:p>
          <a:p>
            <a:pPr marL="752475" marR="523875">
              <a:lnSpc>
                <a:spcPts val="2310"/>
              </a:lnSpc>
              <a:spcBef>
                <a:spcPts val="520"/>
              </a:spcBef>
              <a:buClr>
                <a:srgbClr val="DD8047"/>
              </a:buClr>
              <a:buSzPct val="75000"/>
              <a:tabLst>
                <a:tab pos="948690" algn="l"/>
              </a:tabLst>
            </a:pPr>
            <a:endParaRPr lang="es-ES" sz="2800" dirty="0"/>
          </a:p>
          <a:p>
            <a:pPr marL="948055" indent="-195580">
              <a:lnSpc>
                <a:spcPts val="2825"/>
              </a:lnSpc>
              <a:buClr>
                <a:srgbClr val="DD8047"/>
              </a:buClr>
              <a:buSzPct val="75000"/>
              <a:buFont typeface="Cambria"/>
              <a:buChar char="▪"/>
              <a:tabLst>
                <a:tab pos="948690" algn="l"/>
              </a:tabLst>
            </a:pPr>
            <a:r>
              <a:rPr lang="es-ES" sz="2800" i="1" spc="-190" dirty="0">
                <a:latin typeface="Arial"/>
                <a:cs typeface="Arial"/>
              </a:rPr>
              <a:t>Acción</a:t>
            </a:r>
            <a:r>
              <a:rPr lang="es-ES" sz="2800" i="1" spc="-10" dirty="0">
                <a:latin typeface="Arial"/>
                <a:cs typeface="Arial"/>
              </a:rPr>
              <a:t> </a:t>
            </a:r>
            <a:r>
              <a:rPr lang="es-ES" sz="2800" spc="495" dirty="0"/>
              <a:t>–</a:t>
            </a:r>
            <a:r>
              <a:rPr lang="es-ES" sz="2800" spc="20" dirty="0"/>
              <a:t> </a:t>
            </a:r>
            <a:r>
              <a:rPr lang="es-ES" sz="2800" spc="-434" dirty="0"/>
              <a:t>SELECT</a:t>
            </a:r>
            <a:r>
              <a:rPr lang="es-ES" sz="2800" spc="20" dirty="0"/>
              <a:t> </a:t>
            </a:r>
            <a:r>
              <a:rPr lang="es-ES" sz="2800" spc="-200" dirty="0"/>
              <a:t>(most</a:t>
            </a:r>
            <a:r>
              <a:rPr lang="es-ES" sz="2800" spc="-155" dirty="0"/>
              <a:t>r</a:t>
            </a:r>
            <a:r>
              <a:rPr lang="es-ES" sz="2800" spc="-10" dirty="0"/>
              <a:t>a</a:t>
            </a:r>
            <a:r>
              <a:rPr lang="es-ES" sz="2800" spc="-5" dirty="0"/>
              <a:t>r</a:t>
            </a:r>
            <a:r>
              <a:rPr lang="es-ES" sz="2800" spc="20" dirty="0"/>
              <a:t> </a:t>
            </a:r>
            <a:r>
              <a:rPr lang="es-ES" sz="2800" spc="-175" dirty="0"/>
              <a:t>lo</a:t>
            </a:r>
            <a:r>
              <a:rPr lang="es-ES" sz="2800" spc="-215" dirty="0"/>
              <a:t>s</a:t>
            </a:r>
            <a:r>
              <a:rPr lang="es-ES" sz="2800" spc="20" dirty="0"/>
              <a:t> </a:t>
            </a:r>
            <a:r>
              <a:rPr lang="es-ES" sz="2800" spc="-200" dirty="0"/>
              <a:t>campos)</a:t>
            </a:r>
            <a:endParaRPr lang="es-ES" sz="28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120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673" y="87579"/>
            <a:ext cx="7776845" cy="123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spc="-990" dirty="0"/>
              <a:t>R</a:t>
            </a:r>
            <a:r>
              <a:rPr spc="-285" dirty="0"/>
              <a:t>estricciones</a:t>
            </a:r>
            <a:r>
              <a:rPr spc="35" dirty="0"/>
              <a:t> </a:t>
            </a:r>
            <a:r>
              <a:rPr spc="-125" dirty="0"/>
              <a:t>d</a:t>
            </a:r>
            <a:r>
              <a:rPr spc="-114" dirty="0"/>
              <a:t>e</a:t>
            </a:r>
            <a:r>
              <a:rPr spc="30" dirty="0"/>
              <a:t> </a:t>
            </a:r>
            <a:r>
              <a:rPr spc="-150" dirty="0"/>
              <a:t>integridad/semánticas  </a:t>
            </a:r>
            <a:r>
              <a:rPr spc="-340" dirty="0"/>
              <a:t>en</a:t>
            </a:r>
            <a:r>
              <a:rPr spc="35" dirty="0"/>
              <a:t> </a:t>
            </a:r>
            <a:r>
              <a:rPr spc="-285" dirty="0"/>
              <a:t>lo</a:t>
            </a:r>
            <a:r>
              <a:rPr spc="-355" dirty="0"/>
              <a:t>s</a:t>
            </a:r>
            <a:r>
              <a:rPr spc="35" dirty="0"/>
              <a:t> </a:t>
            </a:r>
            <a:r>
              <a:rPr spc="-300" dirty="0"/>
              <a:t>modelo</a:t>
            </a:r>
            <a:r>
              <a:rPr spc="-265" dirty="0"/>
              <a:t>s</a:t>
            </a:r>
            <a:r>
              <a:rPr spc="30" dirty="0"/>
              <a:t> </a:t>
            </a:r>
            <a:r>
              <a:rPr spc="-125" dirty="0"/>
              <a:t>d</a:t>
            </a:r>
            <a:r>
              <a:rPr spc="-114" dirty="0"/>
              <a:t>e</a:t>
            </a:r>
            <a:r>
              <a:rPr spc="30" dirty="0"/>
              <a:t> </a:t>
            </a:r>
            <a:r>
              <a:rPr spc="-19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673" y="2209800"/>
            <a:ext cx="7748905" cy="327205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53695" marR="551815" indent="-341630">
              <a:lnSpc>
                <a:spcPts val="2580"/>
              </a:lnSpc>
              <a:spcBef>
                <a:spcPts val="715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spc="-295" dirty="0">
                <a:latin typeface="Microsoft Sans Serif"/>
                <a:cs typeface="Microsoft Sans Serif"/>
              </a:rPr>
              <a:t>Las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04" dirty="0">
                <a:latin typeface="Microsoft Sans Serif"/>
                <a:cs typeface="Microsoft Sans Serif"/>
              </a:rPr>
              <a:t>bases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20" dirty="0">
                <a:latin typeface="Microsoft Sans Serif"/>
                <a:cs typeface="Microsoft Sans Serif"/>
              </a:rPr>
              <a:t>datos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14" dirty="0">
                <a:latin typeface="Microsoft Sans Serif"/>
                <a:cs typeface="Microsoft Sans Serif"/>
              </a:rPr>
              <a:t>pretenden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5" dirty="0">
                <a:latin typeface="Microsoft Sans Serif"/>
                <a:cs typeface="Microsoft Sans Serif"/>
              </a:rPr>
              <a:t>reflejar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70" dirty="0">
                <a:latin typeface="Microsoft Sans Serif"/>
                <a:cs typeface="Microsoft Sans Serif"/>
              </a:rPr>
              <a:t>de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0" dirty="0">
                <a:latin typeface="Microsoft Sans Serif"/>
                <a:cs typeface="Microsoft Sans Serif"/>
              </a:rPr>
              <a:t>la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mejor </a:t>
            </a:r>
            <a:r>
              <a:rPr sz="2650" spc="-690" dirty="0">
                <a:latin typeface="Microsoft Sans Serif"/>
                <a:cs typeface="Microsoft Sans Serif"/>
              </a:rPr>
              <a:t> </a:t>
            </a:r>
            <a:r>
              <a:rPr sz="2650" spc="-190" dirty="0">
                <a:latin typeface="Microsoft Sans Serif"/>
                <a:cs typeface="Microsoft Sans Serif"/>
              </a:rPr>
              <a:t>mane</a:t>
            </a:r>
            <a:r>
              <a:rPr sz="2650" spc="-130" dirty="0">
                <a:latin typeface="Microsoft Sans Serif"/>
                <a:cs typeface="Microsoft Sans Serif"/>
              </a:rPr>
              <a:t>r</a:t>
            </a:r>
            <a:r>
              <a:rPr sz="2650" spc="5" dirty="0">
                <a:latin typeface="Microsoft Sans Serif"/>
                <a:cs typeface="Microsoft Sans Serif"/>
              </a:rPr>
              <a:t>a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05" dirty="0">
                <a:latin typeface="Microsoft Sans Serif"/>
                <a:cs typeface="Microsoft Sans Serif"/>
              </a:rPr>
              <a:t>posibl</a:t>
            </a:r>
            <a:r>
              <a:rPr sz="2650" spc="-130" dirty="0">
                <a:latin typeface="Microsoft Sans Serif"/>
                <a:cs typeface="Microsoft Sans Serif"/>
              </a:rPr>
              <a:t>e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75" dirty="0">
                <a:latin typeface="Microsoft Sans Serif"/>
                <a:cs typeface="Microsoft Sans Serif"/>
              </a:rPr>
              <a:t>el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370" dirty="0">
                <a:latin typeface="Microsoft Sans Serif"/>
                <a:cs typeface="Microsoft Sans Serif"/>
              </a:rPr>
              <a:t>m</a:t>
            </a:r>
            <a:r>
              <a:rPr sz="2650" spc="-195" dirty="0">
                <a:latin typeface="Microsoft Sans Serif"/>
                <a:cs typeface="Microsoft Sans Serif"/>
              </a:rPr>
              <a:t>und</a:t>
            </a:r>
            <a:r>
              <a:rPr sz="2650" spc="-185" dirty="0">
                <a:latin typeface="Microsoft Sans Serif"/>
                <a:cs typeface="Microsoft Sans Serif"/>
              </a:rPr>
              <a:t>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60" dirty="0">
                <a:latin typeface="Microsoft Sans Serif"/>
                <a:cs typeface="Microsoft Sans Serif"/>
              </a:rPr>
              <a:t>real.</a:t>
            </a:r>
            <a:endParaRPr sz="2650" dirty="0">
              <a:latin typeface="Microsoft Sans Serif"/>
              <a:cs typeface="Microsoft Sans Serif"/>
            </a:endParaRPr>
          </a:p>
          <a:p>
            <a:pPr marL="353695" marR="28575" indent="-341630">
              <a:lnSpc>
                <a:spcPts val="2580"/>
              </a:lnSpc>
              <a:spcBef>
                <a:spcPts val="690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sz="2650" spc="-229" dirty="0">
                <a:latin typeface="Microsoft Sans Serif"/>
                <a:cs typeface="Microsoft Sans Serif"/>
              </a:rPr>
              <a:t>Por</a:t>
            </a:r>
            <a:r>
              <a:rPr sz="2650" spc="-225" dirty="0">
                <a:latin typeface="Microsoft Sans Serif"/>
                <a:cs typeface="Microsoft Sans Serif"/>
              </a:rPr>
              <a:t> </a:t>
            </a:r>
            <a:r>
              <a:rPr sz="2650" spc="-110" dirty="0">
                <a:latin typeface="Microsoft Sans Serif"/>
                <a:cs typeface="Microsoft Sans Serif"/>
              </a:rPr>
              <a:t>ello, </a:t>
            </a:r>
            <a:r>
              <a:rPr sz="2650" spc="-160" dirty="0">
                <a:latin typeface="Microsoft Sans Serif"/>
                <a:cs typeface="Microsoft Sans Serif"/>
              </a:rPr>
              <a:t>junto </a:t>
            </a:r>
            <a:r>
              <a:rPr sz="2650" spc="-245" dirty="0">
                <a:latin typeface="Microsoft Sans Serif"/>
                <a:cs typeface="Microsoft Sans Serif"/>
              </a:rPr>
              <a:t>con</a:t>
            </a:r>
            <a:r>
              <a:rPr sz="2650" spc="-240" dirty="0">
                <a:latin typeface="Microsoft Sans Serif"/>
                <a:cs typeface="Microsoft Sans Serif"/>
              </a:rPr>
              <a:t> </a:t>
            </a:r>
            <a:r>
              <a:rPr sz="2650" spc="-200" dirty="0">
                <a:latin typeface="Microsoft Sans Serif"/>
                <a:cs typeface="Microsoft Sans Serif"/>
              </a:rPr>
              <a:t>los</a:t>
            </a:r>
            <a:r>
              <a:rPr sz="2650" spc="-195" dirty="0">
                <a:latin typeface="Microsoft Sans Serif"/>
                <a:cs typeface="Microsoft Sans Serif"/>
              </a:rPr>
              <a:t> </a:t>
            </a:r>
            <a:r>
              <a:rPr sz="2650" spc="-190" dirty="0">
                <a:latin typeface="Microsoft Sans Serif"/>
                <a:cs typeface="Microsoft Sans Serif"/>
              </a:rPr>
              <a:t>elementos </a:t>
            </a:r>
            <a:r>
              <a:rPr sz="2650" spc="-125" dirty="0">
                <a:latin typeface="Microsoft Sans Serif"/>
                <a:cs typeface="Microsoft Sans Serif"/>
              </a:rPr>
              <a:t>permitidos, </a:t>
            </a:r>
            <a:r>
              <a:rPr sz="2650" spc="-285" dirty="0">
                <a:latin typeface="Microsoft Sans Serif"/>
                <a:cs typeface="Microsoft Sans Serif"/>
              </a:rPr>
              <a:t>se</a:t>
            </a:r>
            <a:r>
              <a:rPr sz="2650" spc="-280" dirty="0">
                <a:latin typeface="Microsoft Sans Serif"/>
                <a:cs typeface="Microsoft Sans Serif"/>
              </a:rPr>
              <a:t> </a:t>
            </a:r>
            <a:r>
              <a:rPr sz="2650" spc="-110" dirty="0">
                <a:latin typeface="Microsoft Sans Serif"/>
                <a:cs typeface="Microsoft Sans Serif"/>
              </a:rPr>
              <a:t>utilizan </a:t>
            </a:r>
            <a:r>
              <a:rPr sz="2650" spc="-105" dirty="0">
                <a:latin typeface="Microsoft Sans Serif"/>
                <a:cs typeface="Microsoft Sans Serif"/>
              </a:rPr>
              <a:t> </a:t>
            </a:r>
            <a:r>
              <a:rPr sz="2650" spc="-170" dirty="0">
                <a:latin typeface="Microsoft Sans Serif"/>
                <a:cs typeface="Microsoft Sans Serif"/>
              </a:rPr>
              <a:t>restricciones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r>
              <a:rPr sz="2650" spc="-135" dirty="0">
                <a:latin typeface="Microsoft Sans Serif"/>
                <a:cs typeface="Microsoft Sans Serif"/>
              </a:rPr>
              <a:t>o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r>
              <a:rPr sz="2650" spc="-95" dirty="0">
                <a:latin typeface="Microsoft Sans Serif"/>
                <a:cs typeface="Microsoft Sans Serif"/>
              </a:rPr>
              <a:t>reglas</a:t>
            </a:r>
            <a:r>
              <a:rPr sz="2650" spc="40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que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14" dirty="0">
                <a:latin typeface="Microsoft Sans Serif"/>
                <a:cs typeface="Microsoft Sans Serif"/>
              </a:rPr>
              <a:t>pretenden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r>
              <a:rPr sz="2650" spc="-95" dirty="0">
                <a:latin typeface="Microsoft Sans Serif"/>
                <a:cs typeface="Microsoft Sans Serif"/>
              </a:rPr>
              <a:t>indicar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qué</a:t>
            </a:r>
            <a:r>
              <a:rPr sz="2650" spc="35" dirty="0">
                <a:latin typeface="Microsoft Sans Serif"/>
                <a:cs typeface="Microsoft Sans Serif"/>
              </a:rPr>
              <a:t> </a:t>
            </a:r>
            <a:r>
              <a:rPr sz="2650" spc="-120" dirty="0">
                <a:latin typeface="Microsoft Sans Serif"/>
                <a:cs typeface="Microsoft Sans Serif"/>
              </a:rPr>
              <a:t>datos </a:t>
            </a:r>
            <a:r>
              <a:rPr sz="2650" spc="-690" dirty="0">
                <a:latin typeface="Microsoft Sans Serif"/>
                <a:cs typeface="Microsoft Sans Serif"/>
              </a:rPr>
              <a:t> </a:t>
            </a:r>
            <a:r>
              <a:rPr sz="2650" spc="-290" dirty="0">
                <a:latin typeface="Microsoft Sans Serif"/>
                <a:cs typeface="Microsoft Sans Serif"/>
              </a:rPr>
              <a:t>son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14" dirty="0">
                <a:latin typeface="Microsoft Sans Serif"/>
                <a:cs typeface="Microsoft Sans Serif"/>
              </a:rPr>
              <a:t>válido</a:t>
            </a:r>
            <a:r>
              <a:rPr sz="2650" spc="-120" dirty="0">
                <a:latin typeface="Microsoft Sans Serif"/>
                <a:cs typeface="Microsoft Sans Serif"/>
              </a:rPr>
              <a:t>s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15" dirty="0">
                <a:latin typeface="Microsoft Sans Serif"/>
                <a:cs typeface="Microsoft Sans Serif"/>
              </a:rPr>
              <a:t>y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50" dirty="0">
                <a:latin typeface="Microsoft Sans Serif"/>
                <a:cs typeface="Microsoft Sans Serif"/>
              </a:rPr>
              <a:t>qu</a:t>
            </a:r>
            <a:r>
              <a:rPr sz="2650" spc="-145" dirty="0">
                <a:latin typeface="Microsoft Sans Serif"/>
                <a:cs typeface="Microsoft Sans Serif"/>
              </a:rPr>
              <a:t>é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120" dirty="0">
                <a:latin typeface="Microsoft Sans Serif"/>
                <a:cs typeface="Microsoft Sans Serif"/>
              </a:rPr>
              <a:t>dato</a:t>
            </a:r>
            <a:r>
              <a:rPr sz="2650" spc="-114" dirty="0">
                <a:latin typeface="Microsoft Sans Serif"/>
                <a:cs typeface="Microsoft Sans Serif"/>
              </a:rPr>
              <a:t>s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29" dirty="0">
                <a:latin typeface="Microsoft Sans Serif"/>
                <a:cs typeface="Microsoft Sans Serif"/>
              </a:rPr>
              <a:t>n</a:t>
            </a:r>
            <a:r>
              <a:rPr sz="2650" spc="-220" dirty="0">
                <a:latin typeface="Microsoft Sans Serif"/>
                <a:cs typeface="Microsoft Sans Serif"/>
              </a:rPr>
              <a:t>o</a:t>
            </a:r>
            <a:r>
              <a:rPr sz="2650" spc="25" dirty="0">
                <a:latin typeface="Microsoft Sans Serif"/>
                <a:cs typeface="Microsoft Sans Serif"/>
              </a:rPr>
              <a:t> </a:t>
            </a:r>
            <a:r>
              <a:rPr sz="2650" spc="-290" dirty="0">
                <a:latin typeface="Microsoft Sans Serif"/>
                <a:cs typeface="Microsoft Sans Serif"/>
              </a:rPr>
              <a:t>son</a:t>
            </a:r>
            <a:r>
              <a:rPr sz="2650" spc="30" dirty="0">
                <a:latin typeface="Microsoft Sans Serif"/>
                <a:cs typeface="Microsoft Sans Serif"/>
              </a:rPr>
              <a:t> </a:t>
            </a:r>
            <a:r>
              <a:rPr sz="2650" spc="-110" dirty="0">
                <a:latin typeface="Microsoft Sans Serif"/>
                <a:cs typeface="Microsoft Sans Serif"/>
              </a:rPr>
              <a:t>válido</a:t>
            </a:r>
            <a:r>
              <a:rPr sz="2650" spc="-150" dirty="0">
                <a:latin typeface="Microsoft Sans Serif"/>
                <a:cs typeface="Microsoft Sans Serif"/>
              </a:rPr>
              <a:t>s.</a:t>
            </a:r>
            <a:endParaRPr sz="2650" dirty="0">
              <a:latin typeface="Microsoft Sans Serif"/>
              <a:cs typeface="Microsoft Sans Serif"/>
            </a:endParaRPr>
          </a:p>
          <a:p>
            <a:pPr marL="353695" marR="41910" indent="-341630" algn="just">
              <a:lnSpc>
                <a:spcPts val="2580"/>
              </a:lnSpc>
              <a:spcBef>
                <a:spcPts val="690"/>
              </a:spcBef>
              <a:buClr>
                <a:srgbClr val="DD8047"/>
              </a:buClr>
              <a:buSzPct val="62264"/>
              <a:buFont typeface="Cambria"/>
              <a:buChar char="◻"/>
              <a:tabLst>
                <a:tab pos="354330" algn="l"/>
              </a:tabLst>
            </a:pPr>
            <a:r>
              <a:rPr sz="2650" i="1" spc="-229" dirty="0">
                <a:latin typeface="Arial"/>
                <a:cs typeface="Arial"/>
              </a:rPr>
              <a:t>Por </a:t>
            </a:r>
            <a:r>
              <a:rPr sz="2650" i="1" spc="-200" dirty="0">
                <a:latin typeface="Arial"/>
                <a:cs typeface="Arial"/>
              </a:rPr>
              <a:t>ejemplo, </a:t>
            </a:r>
            <a:r>
              <a:rPr sz="2650" i="1" spc="-155" dirty="0">
                <a:latin typeface="Arial"/>
                <a:cs typeface="Arial"/>
              </a:rPr>
              <a:t>el </a:t>
            </a:r>
            <a:r>
              <a:rPr sz="2650" i="1" spc="-200" dirty="0">
                <a:latin typeface="Arial"/>
                <a:cs typeface="Arial"/>
              </a:rPr>
              <a:t>socio </a:t>
            </a:r>
            <a:r>
              <a:rPr sz="2650" i="1" spc="-220" dirty="0">
                <a:latin typeface="Arial"/>
                <a:cs typeface="Arial"/>
              </a:rPr>
              <a:t>de </a:t>
            </a:r>
            <a:r>
              <a:rPr sz="2650" i="1" spc="-310" dirty="0">
                <a:latin typeface="Arial"/>
                <a:cs typeface="Arial"/>
              </a:rPr>
              <a:t>un </a:t>
            </a:r>
            <a:r>
              <a:rPr sz="2650" i="1" spc="-175" dirty="0">
                <a:latin typeface="Arial"/>
                <a:cs typeface="Arial"/>
              </a:rPr>
              <a:t>club </a:t>
            </a:r>
            <a:r>
              <a:rPr sz="2650" i="1" spc="-225" dirty="0">
                <a:latin typeface="Arial"/>
                <a:cs typeface="Arial"/>
              </a:rPr>
              <a:t>no </a:t>
            </a:r>
            <a:r>
              <a:rPr sz="2650" i="1" spc="-235" dirty="0">
                <a:latin typeface="Arial"/>
                <a:cs typeface="Arial"/>
              </a:rPr>
              <a:t>puede </a:t>
            </a:r>
            <a:r>
              <a:rPr sz="2650" i="1" spc="-240" dirty="0">
                <a:latin typeface="Arial"/>
                <a:cs typeface="Arial"/>
              </a:rPr>
              <a:t>ser </a:t>
            </a:r>
            <a:r>
              <a:rPr sz="2650" i="1" spc="-235" dirty="0">
                <a:latin typeface="Arial"/>
                <a:cs typeface="Arial"/>
              </a:rPr>
              <a:t>menor </a:t>
            </a:r>
            <a:r>
              <a:rPr sz="2650" i="1" spc="-220" dirty="0">
                <a:latin typeface="Arial"/>
                <a:cs typeface="Arial"/>
              </a:rPr>
              <a:t>de </a:t>
            </a:r>
            <a:r>
              <a:rPr sz="2650" i="1" spc="-215" dirty="0">
                <a:latin typeface="Arial"/>
                <a:cs typeface="Arial"/>
              </a:rPr>
              <a:t> </a:t>
            </a:r>
            <a:r>
              <a:rPr sz="2650" i="1" spc="-170" dirty="0">
                <a:latin typeface="Arial"/>
                <a:cs typeface="Arial"/>
              </a:rPr>
              <a:t>edad</a:t>
            </a:r>
            <a:r>
              <a:rPr sz="2650" i="1" spc="-80" dirty="0">
                <a:latin typeface="Arial"/>
                <a:cs typeface="Arial"/>
              </a:rPr>
              <a:t>,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370" dirty="0">
                <a:latin typeface="Arial"/>
                <a:cs typeface="Arial"/>
              </a:rPr>
              <a:t>su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185" dirty="0">
                <a:latin typeface="Arial"/>
                <a:cs typeface="Arial"/>
              </a:rPr>
              <a:t>eda</a:t>
            </a:r>
            <a:r>
              <a:rPr sz="2650" i="1" spc="-175" dirty="0">
                <a:latin typeface="Arial"/>
                <a:cs typeface="Arial"/>
              </a:rPr>
              <a:t>d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225" dirty="0">
                <a:latin typeface="Arial"/>
                <a:cs typeface="Arial"/>
              </a:rPr>
              <a:t>n</a:t>
            </a:r>
            <a:r>
              <a:rPr sz="2650" i="1" spc="-220" dirty="0">
                <a:latin typeface="Arial"/>
                <a:cs typeface="Arial"/>
              </a:rPr>
              <a:t>o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35" dirty="0">
                <a:latin typeface="Arial"/>
                <a:cs typeface="Arial"/>
              </a:rPr>
              <a:t>puede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40" dirty="0">
                <a:latin typeface="Arial"/>
                <a:cs typeface="Arial"/>
              </a:rPr>
              <a:t>ser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60" dirty="0">
                <a:latin typeface="Arial"/>
                <a:cs typeface="Arial"/>
              </a:rPr>
              <a:t>meno</a:t>
            </a:r>
            <a:r>
              <a:rPr sz="2650" i="1" spc="-135" dirty="0">
                <a:latin typeface="Arial"/>
                <a:cs typeface="Arial"/>
              </a:rPr>
              <a:t>r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20" dirty="0">
                <a:latin typeface="Arial"/>
                <a:cs typeface="Arial"/>
              </a:rPr>
              <a:t>de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60" dirty="0">
                <a:latin typeface="Arial"/>
                <a:cs typeface="Arial"/>
              </a:rPr>
              <a:t>18</a:t>
            </a:r>
            <a:r>
              <a:rPr sz="2650" i="1" spc="-30" dirty="0">
                <a:latin typeface="Arial"/>
                <a:cs typeface="Arial"/>
              </a:rPr>
              <a:t>.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5" dirty="0">
                <a:latin typeface="Arial"/>
                <a:cs typeface="Arial"/>
              </a:rPr>
              <a:t>O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315" dirty="0">
                <a:latin typeface="Arial"/>
                <a:cs typeface="Arial"/>
              </a:rPr>
              <a:t>u</a:t>
            </a:r>
            <a:r>
              <a:rPr sz="2650" i="1" spc="-305" dirty="0">
                <a:latin typeface="Arial"/>
                <a:cs typeface="Arial"/>
              </a:rPr>
              <a:t>n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100" dirty="0">
                <a:latin typeface="Arial"/>
                <a:cs typeface="Arial"/>
              </a:rPr>
              <a:t>pa</a:t>
            </a:r>
            <a:r>
              <a:rPr sz="2650" i="1" spc="-114" dirty="0">
                <a:latin typeface="Arial"/>
                <a:cs typeface="Arial"/>
              </a:rPr>
              <a:t>r</a:t>
            </a:r>
            <a:r>
              <a:rPr sz="2650" i="1" spc="-75" dirty="0">
                <a:latin typeface="Arial"/>
                <a:cs typeface="Arial"/>
              </a:rPr>
              <a:t>tido  </a:t>
            </a:r>
            <a:r>
              <a:rPr sz="2650" i="1" spc="-220" dirty="0">
                <a:latin typeface="Arial"/>
                <a:cs typeface="Arial"/>
              </a:rPr>
              <a:t>de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70" dirty="0">
                <a:latin typeface="Arial"/>
                <a:cs typeface="Arial"/>
              </a:rPr>
              <a:t>fútbol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175" dirty="0">
                <a:latin typeface="Arial"/>
                <a:cs typeface="Arial"/>
              </a:rPr>
              <a:t>sólo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35" dirty="0">
                <a:latin typeface="Arial"/>
                <a:cs typeface="Arial"/>
              </a:rPr>
              <a:t>puede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40" dirty="0">
                <a:latin typeface="Arial"/>
                <a:cs typeface="Arial"/>
              </a:rPr>
              <a:t>ser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120" dirty="0">
                <a:latin typeface="Arial"/>
                <a:cs typeface="Arial"/>
              </a:rPr>
              <a:t>jugad</a:t>
            </a:r>
            <a:r>
              <a:rPr sz="2650" i="1" spc="-130" dirty="0">
                <a:latin typeface="Arial"/>
                <a:cs typeface="Arial"/>
              </a:rPr>
              <a:t>o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85" dirty="0">
                <a:latin typeface="Arial"/>
                <a:cs typeface="Arial"/>
              </a:rPr>
              <a:t>por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35" dirty="0">
                <a:latin typeface="Arial"/>
                <a:cs typeface="Arial"/>
              </a:rPr>
              <a:t>dos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210" dirty="0">
                <a:latin typeface="Arial"/>
                <a:cs typeface="Arial"/>
              </a:rPr>
              <a:t>equipo</a:t>
            </a:r>
            <a:r>
              <a:rPr sz="2650" i="1" spc="-235" dirty="0">
                <a:latin typeface="Arial"/>
                <a:cs typeface="Arial"/>
              </a:rPr>
              <a:t>s</a:t>
            </a:r>
            <a:r>
              <a:rPr sz="2650" i="1" spc="-150" dirty="0">
                <a:latin typeface="Arial"/>
                <a:cs typeface="Arial"/>
              </a:rPr>
              <a:t>.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5" dirty="0">
                <a:latin typeface="Arial"/>
                <a:cs typeface="Arial"/>
              </a:rPr>
              <a:t>O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210" dirty="0">
                <a:latin typeface="Arial"/>
                <a:cs typeface="Arial"/>
              </a:rPr>
              <a:t>una  </a:t>
            </a:r>
            <a:r>
              <a:rPr sz="2650" i="1" spc="-229" dirty="0">
                <a:latin typeface="Arial"/>
                <a:cs typeface="Arial"/>
              </a:rPr>
              <a:t>cuenta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155" dirty="0">
                <a:latin typeface="Arial"/>
                <a:cs typeface="Arial"/>
              </a:rPr>
              <a:t>corriente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235" dirty="0">
                <a:latin typeface="Arial"/>
                <a:cs typeface="Arial"/>
              </a:rPr>
              <a:t>puede</a:t>
            </a:r>
            <a:r>
              <a:rPr sz="2650" i="1" spc="5" dirty="0">
                <a:latin typeface="Arial"/>
                <a:cs typeface="Arial"/>
              </a:rPr>
              <a:t> </a:t>
            </a:r>
            <a:r>
              <a:rPr sz="2650" i="1" spc="-190" dirty="0">
                <a:latin typeface="Arial"/>
                <a:cs typeface="Arial"/>
              </a:rPr>
              <a:t>tener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254" dirty="0">
                <a:latin typeface="Arial"/>
                <a:cs typeface="Arial"/>
              </a:rPr>
              <a:t>uno</a:t>
            </a:r>
            <a:r>
              <a:rPr sz="2650" i="1" spc="-5" dirty="0">
                <a:latin typeface="Arial"/>
                <a:cs typeface="Arial"/>
              </a:rPr>
              <a:t> </a:t>
            </a:r>
            <a:r>
              <a:rPr sz="2650" i="1" spc="-135" dirty="0">
                <a:latin typeface="Arial"/>
                <a:cs typeface="Arial"/>
              </a:rPr>
              <a:t>o</a:t>
            </a:r>
            <a:r>
              <a:rPr sz="2650" i="1" spc="5" dirty="0">
                <a:latin typeface="Arial"/>
                <a:cs typeface="Arial"/>
              </a:rPr>
              <a:t> </a:t>
            </a:r>
            <a:r>
              <a:rPr sz="2650" i="1" spc="-145" dirty="0">
                <a:latin typeface="Arial"/>
                <a:cs typeface="Arial"/>
              </a:rPr>
              <a:t>varios</a:t>
            </a:r>
            <a:r>
              <a:rPr sz="2650" i="1" dirty="0">
                <a:latin typeface="Arial"/>
                <a:cs typeface="Arial"/>
              </a:rPr>
              <a:t> </a:t>
            </a:r>
            <a:r>
              <a:rPr sz="2650" i="1" spc="-125" dirty="0" err="1">
                <a:latin typeface="Arial"/>
                <a:cs typeface="Arial"/>
              </a:rPr>
              <a:t>titulares</a:t>
            </a:r>
            <a:r>
              <a:rPr sz="2650" spc="-125" dirty="0" smtClean="0">
                <a:latin typeface="Microsoft Sans Serif"/>
                <a:cs typeface="Microsoft Sans Serif"/>
              </a:rPr>
              <a:t>.</a:t>
            </a:r>
            <a:endParaRPr sz="26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673" y="87579"/>
            <a:ext cx="7648575" cy="123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spc="-880" dirty="0"/>
              <a:t>T</a:t>
            </a:r>
            <a:r>
              <a:rPr spc="-40" dirty="0"/>
              <a:t>r</a:t>
            </a:r>
            <a:r>
              <a:rPr spc="-265" dirty="0"/>
              <a:t>ans</a:t>
            </a:r>
            <a:r>
              <a:rPr spc="-220" dirty="0"/>
              <a:t>f</a:t>
            </a:r>
            <a:r>
              <a:rPr spc="-135" dirty="0"/>
              <a:t>o</a:t>
            </a:r>
            <a:r>
              <a:rPr spc="-5" dirty="0"/>
              <a:t>r</a:t>
            </a:r>
            <a:r>
              <a:rPr spc="-315" dirty="0"/>
              <a:t>mación</a:t>
            </a:r>
            <a:r>
              <a:rPr spc="30" dirty="0"/>
              <a:t> </a:t>
            </a:r>
            <a:r>
              <a:rPr spc="-120" dirty="0"/>
              <a:t>de</a:t>
            </a:r>
            <a:r>
              <a:rPr spc="-45" dirty="0"/>
              <a:t>l</a:t>
            </a:r>
            <a:r>
              <a:rPr spc="30" dirty="0"/>
              <a:t> </a:t>
            </a:r>
            <a:r>
              <a:rPr spc="-575" dirty="0"/>
              <a:t>m</a:t>
            </a:r>
            <a:r>
              <a:rPr spc="-300" dirty="0"/>
              <a:t>und</a:t>
            </a:r>
            <a:r>
              <a:rPr spc="-290" dirty="0"/>
              <a:t>o</a:t>
            </a:r>
            <a:r>
              <a:rPr spc="30" dirty="0"/>
              <a:t> </a:t>
            </a:r>
            <a:r>
              <a:rPr spc="-80" dirty="0"/>
              <a:t>rea</a:t>
            </a:r>
            <a:r>
              <a:rPr spc="-40" dirty="0"/>
              <a:t>l</a:t>
            </a:r>
            <a:r>
              <a:rPr spc="35" dirty="0"/>
              <a:t> </a:t>
            </a:r>
            <a:r>
              <a:rPr spc="-340" dirty="0"/>
              <a:t>en</a:t>
            </a:r>
            <a:r>
              <a:rPr spc="35" dirty="0"/>
              <a:t> </a:t>
            </a:r>
            <a:r>
              <a:rPr spc="-260" dirty="0"/>
              <a:t>una  </a:t>
            </a:r>
            <a:r>
              <a:rPr spc="-235" dirty="0"/>
              <a:t>base</a:t>
            </a:r>
            <a:r>
              <a:rPr spc="25" dirty="0"/>
              <a:t> </a:t>
            </a:r>
            <a:r>
              <a:rPr spc="-120" dirty="0"/>
              <a:t>de</a:t>
            </a:r>
            <a:r>
              <a:rPr spc="30" dirty="0"/>
              <a:t> </a:t>
            </a:r>
            <a:r>
              <a:rPr spc="-195" dirty="0"/>
              <a:t>datos</a:t>
            </a:r>
            <a:r>
              <a:rPr spc="30" dirty="0"/>
              <a:t> </a:t>
            </a:r>
            <a:r>
              <a:rPr spc="-165" dirty="0"/>
              <a:t>física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28" y="1578434"/>
            <a:ext cx="6344374" cy="4711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672" y="304800"/>
            <a:ext cx="7772653" cy="607859"/>
          </a:xfrm>
        </p:spPr>
        <p:txBody>
          <a:bodyPr/>
          <a:lstStyle/>
          <a:p>
            <a:r>
              <a:rPr lang="es-ES" dirty="0" smtClean="0"/>
              <a:t>Lo que nos interesa (DER)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7338" y="1676400"/>
            <a:ext cx="8049319" cy="754053"/>
          </a:xfrm>
        </p:spPr>
        <p:txBody>
          <a:bodyPr/>
          <a:lstStyle/>
          <a:p>
            <a:r>
              <a:rPr lang="es-ES" dirty="0" smtClean="0"/>
              <a:t>Nuestra problemática en base de datos nos acerca mas a los diagramas E/R</a:t>
            </a:r>
            <a:endParaRPr lang="es-ES" dirty="0"/>
          </a:p>
        </p:txBody>
      </p:sp>
      <p:pic>
        <p:nvPicPr>
          <p:cNvPr id="1026" name="Picture 2" descr="El modelo Entidad-Relación: el esquema de una base de da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8" y="2819400"/>
            <a:ext cx="8572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70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odelo entidad-relación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227684" cy="4557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716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onceptos semana 2: Modelo Entidad Relación | Flashcar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764" y="1143000"/>
            <a:ext cx="9178764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17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919010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7340" y="304800"/>
            <a:ext cx="7772653" cy="607859"/>
          </a:xfrm>
        </p:spPr>
        <p:txBody>
          <a:bodyPr/>
          <a:lstStyle/>
          <a:p>
            <a:r>
              <a:rPr lang="es-ES" dirty="0" smtClean="0"/>
              <a:t>ACTIVIDAD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09006" y="1981200"/>
            <a:ext cx="8049319" cy="147732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s-ES" sz="3200" dirty="0" smtClean="0"/>
              <a:t>Buscar en internet herramientas de ayuda a la representación grafica de diagramas entidad relación.</a:t>
            </a:r>
            <a:endParaRPr lang="es-ES" sz="3200" dirty="0"/>
          </a:p>
        </p:txBody>
      </p:sp>
      <p:pic>
        <p:nvPicPr>
          <p:cNvPr id="1026" name="Picture 2" descr="carloselcacahuate on X: &quot;Yo no se que es eso del diu morra yo solo conozco  el siuuu @Cristiano #siuuu #cr7 #elbicho https://t.co/LLhbhHh7gI&quot; / 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0386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737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1479</TotalTime>
  <Words>1345</Words>
  <Application>Microsoft Office PowerPoint</Application>
  <PresentationFormat>Presentación en pantalla (4:3)</PresentationFormat>
  <Paragraphs>120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Microsoft Sans Serif</vt:lpstr>
      <vt:lpstr>Söhne</vt:lpstr>
      <vt:lpstr>Verdana</vt:lpstr>
      <vt:lpstr>Office Theme</vt:lpstr>
      <vt:lpstr>TEMA 2.1  MODELOS DE DATOS</vt:lpstr>
      <vt:lpstr>OBJETIVOS</vt:lpstr>
      <vt:lpstr>MAPA CONCEPTUAL</vt:lpstr>
      <vt:lpstr>GLOSARIO</vt:lpstr>
      <vt:lpstr>GLOSARIO</vt:lpstr>
      <vt:lpstr>Introducción</vt:lpstr>
      <vt:lpstr>Presentación de PowerPoint</vt:lpstr>
      <vt:lpstr>Modelo de datos</vt:lpstr>
      <vt:lpstr>Modelización</vt:lpstr>
      <vt:lpstr>Modelo Analisis</vt:lpstr>
      <vt:lpstr>Presentación de PowerPoint</vt:lpstr>
      <vt:lpstr>Presentación de PowerPoint</vt:lpstr>
      <vt:lpstr>Actividad</vt:lpstr>
      <vt:lpstr>CONSEJO</vt:lpstr>
      <vt:lpstr>Presentación de PowerPoint</vt:lpstr>
      <vt:lpstr>Modelización de datos</vt:lpstr>
      <vt:lpstr>Presentación de PowerPoint</vt:lpstr>
      <vt:lpstr>Modelos de datos:  niveles de abstracción</vt:lpstr>
      <vt:lpstr>Definición de Modelo de datos</vt:lpstr>
      <vt:lpstr>DOMINIO</vt:lpstr>
      <vt:lpstr>Definición de Modelo de datos</vt:lpstr>
      <vt:lpstr>EJEMPLO</vt:lpstr>
      <vt:lpstr>Restricciones de integridad/semánticas  en los modelos de datos</vt:lpstr>
      <vt:lpstr>Transformación del mundo real en una  base de datos física</vt:lpstr>
      <vt:lpstr>Lo que nos interesa (DER)</vt:lpstr>
      <vt:lpstr>Presentación de PowerPoint</vt:lpstr>
      <vt:lpstr>Presentación de PowerPoint</vt:lpstr>
      <vt:lpstr>Presentación de PowerPoint</vt:lpstr>
      <vt:lpstr>ACTIVIDAD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 2 – Modelos de datos.pptx</dc:title>
  <cp:lastModifiedBy>German</cp:lastModifiedBy>
  <cp:revision>19</cp:revision>
  <dcterms:created xsi:type="dcterms:W3CDTF">2023-09-19T18:53:20Z</dcterms:created>
  <dcterms:modified xsi:type="dcterms:W3CDTF">2023-09-25T17:59:05Z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