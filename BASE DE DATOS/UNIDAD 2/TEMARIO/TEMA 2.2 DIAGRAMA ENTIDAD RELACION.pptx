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1" r:id="rId5"/>
    <p:sldId id="263"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80" r:id="rId21"/>
    <p:sldId id="277" r:id="rId22"/>
    <p:sldId id="279" r:id="rId23"/>
    <p:sldId id="282" r:id="rId24"/>
    <p:sldId id="281" r:id="rId25"/>
    <p:sldId id="278" r:id="rId26"/>
    <p:sldId id="283" r:id="rId27"/>
    <p:sldId id="284" r:id="rId28"/>
    <p:sldId id="285" r:id="rId29"/>
    <p:sldId id="286" r:id="rId30"/>
    <p:sldId id="287" r:id="rId31"/>
    <p:sldId id="259" r:id="rId32"/>
    <p:sldId id="288" r:id="rId33"/>
    <p:sldId id="289" r:id="rId34"/>
    <p:sldId id="290" r:id="rId35"/>
    <p:sldId id="291" r:id="rId36"/>
    <p:sldId id="292" r:id="rId37"/>
    <p:sldId id="293" r:id="rId38"/>
    <p:sldId id="294" r:id="rId39"/>
    <p:sldId id="295" r:id="rId40"/>
    <p:sldId id="260" r:id="rId4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EF772527-15EB-46B7-AFD9-856C014EACDF}" type="datetimeFigureOut">
              <a:rPr lang="es-ES" smtClean="0"/>
              <a:t>29/09/2023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145BDC-2D18-44F7-BF77-9EC88973DCF3}"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92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F772527-15EB-46B7-AFD9-856C014EACDF}" type="datetimeFigureOut">
              <a:rPr lang="es-ES" smtClean="0"/>
              <a:t>29/09/2023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150155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EF772527-15EB-46B7-AFD9-856C014EACDF}" type="datetimeFigureOut">
              <a:rPr lang="es-ES" smtClean="0"/>
              <a:t>29/09/2023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145BDC-2D18-44F7-BF77-9EC88973DCF3}"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550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F772527-15EB-46B7-AFD9-856C014EACDF}" type="datetimeFigureOut">
              <a:rPr lang="es-ES" smtClean="0"/>
              <a:t>29/09/2023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4108038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EF772527-15EB-46B7-AFD9-856C014EACDF}" type="datetimeFigureOut">
              <a:rPr lang="es-ES" smtClean="0"/>
              <a:t>29/09/2023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2435488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EF772527-15EB-46B7-AFD9-856C014EACDF}" type="datetimeFigureOut">
              <a:rPr lang="es-ES" smtClean="0"/>
              <a:t>29/09/2023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3426489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F772527-15EB-46B7-AFD9-856C014EACDF}" type="datetimeFigureOut">
              <a:rPr lang="es-ES" smtClean="0"/>
              <a:t>29/09/2023</a:t>
            </a:fld>
            <a:endParaRPr lang="es-E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ES"/>
          </a:p>
        </p:txBody>
      </p:sp>
      <p:sp>
        <p:nvSpPr>
          <p:cNvPr id="9" name="Slide Number Placeholder 8"/>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1860384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F772527-15EB-46B7-AFD9-856C014EACDF}" type="datetimeFigureOut">
              <a:rPr lang="es-ES" smtClean="0"/>
              <a:t>29/09/2023</a:t>
            </a:fld>
            <a:endParaRPr lang="es-E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E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C145BDC-2D18-44F7-BF77-9EC88973DCF3}" type="slidenum">
              <a:rPr lang="es-ES" smtClean="0"/>
              <a:t>‹Nº›</a:t>
            </a:fld>
            <a:endParaRPr lang="es-ES"/>
          </a:p>
        </p:txBody>
      </p:sp>
    </p:spTree>
    <p:extLst>
      <p:ext uri="{BB962C8B-B14F-4D97-AF65-F5344CB8AC3E}">
        <p14:creationId xmlns:p14="http://schemas.microsoft.com/office/powerpoint/2010/main" val="2647813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EF772527-15EB-46B7-AFD9-856C014EACDF}" type="datetimeFigureOut">
              <a:rPr lang="es-ES" smtClean="0"/>
              <a:t>29/09/2023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783567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F772527-15EB-46B7-AFD9-856C014EACDF}" type="datetimeFigureOut">
              <a:rPr lang="es-ES" smtClean="0"/>
              <a:t>29/09/2023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433264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F772527-15EB-46B7-AFD9-856C014EACDF}" type="datetimeFigureOut">
              <a:rPr lang="es-ES" smtClean="0"/>
              <a:t>29/09/2023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145BDC-2D18-44F7-BF77-9EC88973DCF3}" type="slidenum">
              <a:rPr lang="es-ES" smtClean="0"/>
              <a:t>‹Nº›</a:t>
            </a:fld>
            <a:endParaRPr lang="es-ES"/>
          </a:p>
        </p:txBody>
      </p:sp>
    </p:spTree>
    <p:extLst>
      <p:ext uri="{BB962C8B-B14F-4D97-AF65-F5344CB8AC3E}">
        <p14:creationId xmlns:p14="http://schemas.microsoft.com/office/powerpoint/2010/main" val="1228097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F772527-15EB-46B7-AFD9-856C014EACDF}" type="datetimeFigureOut">
              <a:rPr lang="es-ES" smtClean="0"/>
              <a:t>29/09/2023</a:t>
            </a:fld>
            <a:endParaRPr lang="es-E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E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C145BDC-2D18-44F7-BF77-9EC88973DCF3}"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5364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smtClean="0"/>
              <a:t>TEMA 2.2</a:t>
            </a:r>
            <a:endParaRPr lang="es-ES" dirty="0"/>
          </a:p>
        </p:txBody>
      </p:sp>
      <p:sp>
        <p:nvSpPr>
          <p:cNvPr id="3" name="Subtítulo 2"/>
          <p:cNvSpPr>
            <a:spLocks noGrp="1"/>
          </p:cNvSpPr>
          <p:nvPr>
            <p:ph type="subTitle" idx="1"/>
          </p:nvPr>
        </p:nvSpPr>
        <p:spPr/>
        <p:txBody>
          <a:bodyPr/>
          <a:lstStyle/>
          <a:p>
            <a:r>
              <a:rPr lang="es-ES" dirty="0"/>
              <a:t>Modelo </a:t>
            </a:r>
            <a:r>
              <a:rPr lang="es-ES" dirty="0" smtClean="0"/>
              <a:t>Entidad relación</a:t>
            </a:r>
          </a:p>
          <a:p>
            <a:r>
              <a:rPr lang="es-ES" dirty="0" smtClean="0"/>
              <a:t>GERMAN MARTINEZ CALVENTE</a:t>
            </a:r>
            <a:endParaRPr lang="es-ES" dirty="0"/>
          </a:p>
        </p:txBody>
      </p:sp>
    </p:spTree>
    <p:extLst>
      <p:ext uri="{BB962C8B-B14F-4D97-AF65-F5344CB8AC3E}">
        <p14:creationId xmlns:p14="http://schemas.microsoft.com/office/powerpoint/2010/main" val="41906053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DIAGRAMA ENTIDAD/RELACION (DER)</a:t>
            </a:r>
            <a:endParaRPr lang="es-ES" dirty="0"/>
          </a:p>
        </p:txBody>
      </p:sp>
      <p:sp>
        <p:nvSpPr>
          <p:cNvPr id="3" name="Marcador de contenido 2"/>
          <p:cNvSpPr>
            <a:spLocks noGrp="1"/>
          </p:cNvSpPr>
          <p:nvPr>
            <p:ph idx="1"/>
          </p:nvPr>
        </p:nvSpPr>
        <p:spPr/>
        <p:txBody>
          <a:bodyPr/>
          <a:lstStyle/>
          <a:p>
            <a:r>
              <a:rPr lang="es-ES" dirty="0" smtClean="0"/>
              <a:t>Técnica de representación y definición de datos de un sistema de información.</a:t>
            </a:r>
            <a:endParaRPr lang="es-ES" dirty="0"/>
          </a:p>
        </p:txBody>
      </p:sp>
      <p:sp>
        <p:nvSpPr>
          <p:cNvPr id="4" name="Rectángulo 3"/>
          <p:cNvSpPr/>
          <p:nvPr/>
        </p:nvSpPr>
        <p:spPr>
          <a:xfrm>
            <a:off x="978568" y="3077964"/>
            <a:ext cx="5930201" cy="1477328"/>
          </a:xfrm>
          <a:prstGeom prst="rect">
            <a:avLst/>
          </a:prstGeom>
        </p:spPr>
        <p:txBody>
          <a:bodyPr wrap="square">
            <a:spAutoFit/>
          </a:bodyPr>
          <a:lstStyle/>
          <a:p>
            <a:pPr algn="just"/>
            <a:r>
              <a:rPr lang="es-ES" i="1" dirty="0" smtClean="0"/>
              <a:t>Técnica cuyo objetivo es la representación y definición de todos los datos que se introducen, almacenan, transforman y producen dentro de un sistema de información, sin tener en cuenta las necesidades de la tecnología existente, ni otras restricciones.</a:t>
            </a:r>
            <a:endParaRPr lang="es-ES" i="1" dirty="0"/>
          </a:p>
        </p:txBody>
      </p:sp>
      <p:pic>
        <p:nvPicPr>
          <p:cNvPr id="6" name="Imagen 5"/>
          <p:cNvPicPr>
            <a:picLocks noChangeAspect="1"/>
          </p:cNvPicPr>
          <p:nvPr/>
        </p:nvPicPr>
        <p:blipFill>
          <a:blip r:embed="rId2"/>
          <a:stretch>
            <a:fillRect/>
          </a:stretch>
        </p:blipFill>
        <p:spPr>
          <a:xfrm>
            <a:off x="7259690" y="2577933"/>
            <a:ext cx="3743189" cy="3231732"/>
          </a:xfrm>
          <a:prstGeom prst="rect">
            <a:avLst/>
          </a:prstGeom>
        </p:spPr>
      </p:pic>
    </p:spTree>
    <p:extLst>
      <p:ext uri="{BB962C8B-B14F-4D97-AF65-F5344CB8AC3E}">
        <p14:creationId xmlns:p14="http://schemas.microsoft.com/office/powerpoint/2010/main" val="85954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ELEMENTOS</a:t>
            </a:r>
            <a:endParaRPr lang="es-ES" dirty="0"/>
          </a:p>
        </p:txBody>
      </p:sp>
      <p:sp>
        <p:nvSpPr>
          <p:cNvPr id="3" name="Marcador de contenido 2"/>
          <p:cNvSpPr>
            <a:spLocks noGrp="1"/>
          </p:cNvSpPr>
          <p:nvPr>
            <p:ph idx="1"/>
          </p:nvPr>
        </p:nvSpPr>
        <p:spPr>
          <a:xfrm>
            <a:off x="1097280" y="1845734"/>
            <a:ext cx="6176356" cy="2693015"/>
          </a:xfrm>
        </p:spPr>
        <p:txBody>
          <a:bodyPr/>
          <a:lstStyle/>
          <a:p>
            <a:r>
              <a:rPr lang="es-ES" b="1" dirty="0" smtClean="0"/>
              <a:t>Entidad.</a:t>
            </a:r>
          </a:p>
          <a:p>
            <a:r>
              <a:rPr lang="es-ES" b="1" dirty="0" smtClean="0"/>
              <a:t>Relación.</a:t>
            </a:r>
          </a:p>
          <a:p>
            <a:r>
              <a:rPr lang="es-ES" b="1" dirty="0" err="1" smtClean="0"/>
              <a:t>Cardinalidad</a:t>
            </a:r>
            <a:r>
              <a:rPr lang="es-ES" b="1" dirty="0" smtClean="0"/>
              <a:t> y modalidad.</a:t>
            </a:r>
          </a:p>
          <a:p>
            <a:r>
              <a:rPr lang="es-ES" b="1" dirty="0" smtClean="0"/>
              <a:t>Atributos de relación</a:t>
            </a:r>
          </a:p>
          <a:p>
            <a:r>
              <a:rPr lang="es-ES" b="1" dirty="0" smtClean="0"/>
              <a:t>Clave primaria y claves candidatas.</a:t>
            </a:r>
            <a:endParaRPr lang="es-ES" b="1" dirty="0"/>
          </a:p>
        </p:txBody>
      </p:sp>
      <p:pic>
        <p:nvPicPr>
          <p:cNvPr id="1026" name="Picture 2" descr="Let's go: How the meme became men's favorite phras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9236" y="2709948"/>
            <a:ext cx="4796444" cy="3197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43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6"/>
                                        </p:tgtEl>
                                        <p:attrNameLst>
                                          <p:attrName>style.visibility</p:attrName>
                                        </p:attrNameLst>
                                      </p:cBhvr>
                                      <p:to>
                                        <p:strVal val="visible"/>
                                      </p:to>
                                    </p:set>
                                    <p:animEffect transition="in" filter="fade">
                                      <p:cBhvr>
                                        <p:cTn id="3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ENTIDAD</a:t>
            </a:r>
            <a:endParaRPr lang="es-ES" dirty="0"/>
          </a:p>
        </p:txBody>
      </p:sp>
      <p:sp>
        <p:nvSpPr>
          <p:cNvPr id="3" name="Marcador de contenido 2"/>
          <p:cNvSpPr>
            <a:spLocks noGrp="1"/>
          </p:cNvSpPr>
          <p:nvPr>
            <p:ph idx="1"/>
          </p:nvPr>
        </p:nvSpPr>
        <p:spPr/>
        <p:txBody>
          <a:bodyPr/>
          <a:lstStyle/>
          <a:p>
            <a:r>
              <a:rPr lang="es-ES" dirty="0" smtClean="0"/>
              <a:t>Cualquier objeto real o abstracto que existe y se puede identificar de forma clara, el cual se desea registrar información en el sistema.</a:t>
            </a:r>
          </a:p>
          <a:p>
            <a:r>
              <a:rPr lang="es-ES" dirty="0" smtClean="0"/>
              <a:t>Ejemplos:</a:t>
            </a:r>
          </a:p>
          <a:p>
            <a:pPr lvl="1"/>
            <a:r>
              <a:rPr lang="es-ES" dirty="0" smtClean="0"/>
              <a:t>Empleado, Cliente, Factura, Proveedor,…</a:t>
            </a:r>
          </a:p>
        </p:txBody>
      </p:sp>
      <p:pic>
        <p:nvPicPr>
          <p:cNvPr id="4" name="Imagen 3"/>
          <p:cNvPicPr>
            <a:picLocks noChangeAspect="1"/>
          </p:cNvPicPr>
          <p:nvPr/>
        </p:nvPicPr>
        <p:blipFill>
          <a:blip r:embed="rId2"/>
          <a:stretch>
            <a:fillRect/>
          </a:stretch>
        </p:blipFill>
        <p:spPr>
          <a:xfrm>
            <a:off x="1621755" y="3827045"/>
            <a:ext cx="8394291" cy="2044366"/>
          </a:xfrm>
          <a:prstGeom prst="rect">
            <a:avLst/>
          </a:prstGeom>
        </p:spPr>
      </p:pic>
    </p:spTree>
    <p:extLst>
      <p:ext uri="{BB962C8B-B14F-4D97-AF65-F5344CB8AC3E}">
        <p14:creationId xmlns:p14="http://schemas.microsoft.com/office/powerpoint/2010/main" val="350317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6"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80">
                                          <p:stCondLst>
                                            <p:cond delay="0"/>
                                          </p:stCondLst>
                                        </p:cTn>
                                        <p:tgtEl>
                                          <p:spTgt spid="4"/>
                                        </p:tgtEl>
                                      </p:cBhvr>
                                    </p:animEffect>
                                    <p:anim calcmode="lin" valueType="num">
                                      <p:cBhvr>
                                        <p:cTn id="25"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0" dur="26">
                                          <p:stCondLst>
                                            <p:cond delay="650"/>
                                          </p:stCondLst>
                                        </p:cTn>
                                        <p:tgtEl>
                                          <p:spTgt spid="4"/>
                                        </p:tgtEl>
                                      </p:cBhvr>
                                      <p:to x="100000" y="60000"/>
                                    </p:animScale>
                                    <p:animScale>
                                      <p:cBhvr>
                                        <p:cTn id="31" dur="166" decel="50000">
                                          <p:stCondLst>
                                            <p:cond delay="676"/>
                                          </p:stCondLst>
                                        </p:cTn>
                                        <p:tgtEl>
                                          <p:spTgt spid="4"/>
                                        </p:tgtEl>
                                      </p:cBhvr>
                                      <p:to x="100000" y="100000"/>
                                    </p:animScale>
                                    <p:animScale>
                                      <p:cBhvr>
                                        <p:cTn id="32" dur="26">
                                          <p:stCondLst>
                                            <p:cond delay="1312"/>
                                          </p:stCondLst>
                                        </p:cTn>
                                        <p:tgtEl>
                                          <p:spTgt spid="4"/>
                                        </p:tgtEl>
                                      </p:cBhvr>
                                      <p:to x="100000" y="80000"/>
                                    </p:animScale>
                                    <p:animScale>
                                      <p:cBhvr>
                                        <p:cTn id="33" dur="166" decel="50000">
                                          <p:stCondLst>
                                            <p:cond delay="1338"/>
                                          </p:stCondLst>
                                        </p:cTn>
                                        <p:tgtEl>
                                          <p:spTgt spid="4"/>
                                        </p:tgtEl>
                                      </p:cBhvr>
                                      <p:to x="100000" y="100000"/>
                                    </p:animScale>
                                    <p:animScale>
                                      <p:cBhvr>
                                        <p:cTn id="34" dur="26">
                                          <p:stCondLst>
                                            <p:cond delay="1642"/>
                                          </p:stCondLst>
                                        </p:cTn>
                                        <p:tgtEl>
                                          <p:spTgt spid="4"/>
                                        </p:tgtEl>
                                      </p:cBhvr>
                                      <p:to x="100000" y="90000"/>
                                    </p:animScale>
                                    <p:animScale>
                                      <p:cBhvr>
                                        <p:cTn id="35" dur="166" decel="50000">
                                          <p:stCondLst>
                                            <p:cond delay="1668"/>
                                          </p:stCondLst>
                                        </p:cTn>
                                        <p:tgtEl>
                                          <p:spTgt spid="4"/>
                                        </p:tgtEl>
                                      </p:cBhvr>
                                      <p:to x="100000" y="100000"/>
                                    </p:animScale>
                                    <p:animScale>
                                      <p:cBhvr>
                                        <p:cTn id="36" dur="26">
                                          <p:stCondLst>
                                            <p:cond delay="1808"/>
                                          </p:stCondLst>
                                        </p:cTn>
                                        <p:tgtEl>
                                          <p:spTgt spid="4"/>
                                        </p:tgtEl>
                                      </p:cBhvr>
                                      <p:to x="100000" y="95000"/>
                                    </p:animScale>
                                    <p:animScale>
                                      <p:cBhvr>
                                        <p:cTn id="37"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ATRIBUTO</a:t>
            </a:r>
            <a:endParaRPr lang="es-ES" dirty="0"/>
          </a:p>
        </p:txBody>
      </p:sp>
      <p:sp>
        <p:nvSpPr>
          <p:cNvPr id="3" name="Marcador de contenido 2"/>
          <p:cNvSpPr>
            <a:spLocks noGrp="1"/>
          </p:cNvSpPr>
          <p:nvPr>
            <p:ph idx="1"/>
          </p:nvPr>
        </p:nvSpPr>
        <p:spPr>
          <a:xfrm>
            <a:off x="838200" y="1825625"/>
            <a:ext cx="10515600" cy="1960312"/>
          </a:xfrm>
        </p:spPr>
        <p:txBody>
          <a:bodyPr/>
          <a:lstStyle/>
          <a:p>
            <a:r>
              <a:rPr lang="es-ES" dirty="0" smtClean="0"/>
              <a:t>Nos permiten describir las características o propiedades de cada ENTIDAD.</a:t>
            </a:r>
          </a:p>
          <a:p>
            <a:r>
              <a:rPr lang="es-ES" dirty="0" smtClean="0"/>
              <a:t>EJEMPLOS:</a:t>
            </a:r>
          </a:p>
          <a:p>
            <a:pPr lvl="1"/>
            <a:r>
              <a:rPr lang="es-ES" dirty="0" smtClean="0"/>
              <a:t>DNI, Nombre, Primer apellido, Teléfono, Genero, Cantidad,…</a:t>
            </a:r>
            <a:endParaRPr lang="es-ES" dirty="0"/>
          </a:p>
        </p:txBody>
      </p:sp>
      <p:pic>
        <p:nvPicPr>
          <p:cNvPr id="3076" name="Picture 4" descr="Modelo relacional. Conceptos básicos y fundamento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756" y="3430423"/>
            <a:ext cx="8635498" cy="2810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90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3076"/>
                                        </p:tgtEl>
                                        <p:attrNameLst>
                                          <p:attrName>style.visibility</p:attrName>
                                        </p:attrNameLst>
                                      </p:cBhvr>
                                      <p:to>
                                        <p:strVal val="visible"/>
                                      </p:to>
                                    </p:set>
                                    <p:anim calcmode="lin" valueType="num">
                                      <p:cBhvr>
                                        <p:cTn id="24" dur="1000" fill="hold"/>
                                        <p:tgtEl>
                                          <p:spTgt spid="3076"/>
                                        </p:tgtEl>
                                        <p:attrNameLst>
                                          <p:attrName>ppt_w</p:attrName>
                                        </p:attrNameLst>
                                      </p:cBhvr>
                                      <p:tavLst>
                                        <p:tav tm="0">
                                          <p:val>
                                            <p:fltVal val="0"/>
                                          </p:val>
                                        </p:tav>
                                        <p:tav tm="100000">
                                          <p:val>
                                            <p:strVal val="#ppt_w"/>
                                          </p:val>
                                        </p:tav>
                                      </p:tavLst>
                                    </p:anim>
                                    <p:anim calcmode="lin" valueType="num">
                                      <p:cBhvr>
                                        <p:cTn id="25" dur="1000" fill="hold"/>
                                        <p:tgtEl>
                                          <p:spTgt spid="3076"/>
                                        </p:tgtEl>
                                        <p:attrNameLst>
                                          <p:attrName>ppt_h</p:attrName>
                                        </p:attrNameLst>
                                      </p:cBhvr>
                                      <p:tavLst>
                                        <p:tav tm="0">
                                          <p:val>
                                            <p:fltVal val="0"/>
                                          </p:val>
                                        </p:tav>
                                        <p:tav tm="100000">
                                          <p:val>
                                            <p:strVal val="#ppt_h"/>
                                          </p:val>
                                        </p:tav>
                                      </p:tavLst>
                                    </p:anim>
                                    <p:anim calcmode="lin" valueType="num">
                                      <p:cBhvr>
                                        <p:cTn id="26" dur="1000" fill="hold"/>
                                        <p:tgtEl>
                                          <p:spTgt spid="3076"/>
                                        </p:tgtEl>
                                        <p:attrNameLst>
                                          <p:attrName>style.rotation</p:attrName>
                                        </p:attrNameLst>
                                      </p:cBhvr>
                                      <p:tavLst>
                                        <p:tav tm="0">
                                          <p:val>
                                            <p:fltVal val="90"/>
                                          </p:val>
                                        </p:tav>
                                        <p:tav tm="100000">
                                          <p:val>
                                            <p:fltVal val="0"/>
                                          </p:val>
                                        </p:tav>
                                      </p:tavLst>
                                    </p:anim>
                                    <p:animEffect transition="in" filter="fade">
                                      <p:cBhvr>
                                        <p:cTn id="27" dur="10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Ocurrencia</a:t>
            </a:r>
            <a:endParaRPr lang="es-ES" dirty="0"/>
          </a:p>
        </p:txBody>
      </p:sp>
      <p:sp>
        <p:nvSpPr>
          <p:cNvPr id="3" name="Marcador de contenido 2"/>
          <p:cNvSpPr>
            <a:spLocks noGrp="1"/>
          </p:cNvSpPr>
          <p:nvPr>
            <p:ph idx="1"/>
          </p:nvPr>
        </p:nvSpPr>
        <p:spPr>
          <a:xfrm>
            <a:off x="838200" y="1825625"/>
            <a:ext cx="10515600" cy="2313238"/>
          </a:xfrm>
        </p:spPr>
        <p:txBody>
          <a:bodyPr/>
          <a:lstStyle/>
          <a:p>
            <a:r>
              <a:rPr lang="es-ES" dirty="0" smtClean="0"/>
              <a:t>Cada elemento concreto de una entidad es una ocurrencia.</a:t>
            </a:r>
          </a:p>
          <a:p>
            <a:r>
              <a:rPr lang="es-ES" dirty="0" smtClean="0"/>
              <a:t>DNI: </a:t>
            </a:r>
            <a:r>
              <a:rPr lang="es-ES" dirty="0" smtClean="0">
                <a:solidFill>
                  <a:srgbClr val="FF0000"/>
                </a:solidFill>
              </a:rPr>
              <a:t>123456789Z</a:t>
            </a:r>
          </a:p>
          <a:p>
            <a:r>
              <a:rPr lang="es-ES" dirty="0" smtClean="0"/>
              <a:t>NOMBRE: </a:t>
            </a:r>
            <a:r>
              <a:rPr lang="es-ES" dirty="0" smtClean="0">
                <a:solidFill>
                  <a:srgbClr val="FF0000"/>
                </a:solidFill>
              </a:rPr>
              <a:t>MANOLO LAMA</a:t>
            </a:r>
          </a:p>
          <a:p>
            <a:r>
              <a:rPr lang="es-ES" dirty="0" smtClean="0"/>
              <a:t>PUESTO: </a:t>
            </a:r>
            <a:r>
              <a:rPr lang="es-ES" dirty="0" smtClean="0">
                <a:solidFill>
                  <a:srgbClr val="FF0000"/>
                </a:solidFill>
              </a:rPr>
              <a:t>BEBEDOR DE CHARCOS</a:t>
            </a:r>
          </a:p>
          <a:p>
            <a:pPr marL="0" indent="0">
              <a:buNone/>
            </a:pPr>
            <a:endParaRPr lang="es-ES" dirty="0"/>
          </a:p>
        </p:txBody>
      </p:sp>
      <p:pic>
        <p:nvPicPr>
          <p:cNvPr id="2050" name="Picture 2" descr="Meme Personalizado - POS MU BIEN CHAMPION - 1873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1528" y="96253"/>
            <a:ext cx="3990472" cy="3192379"/>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610000" y="3910008"/>
            <a:ext cx="11032960" cy="221599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ES" sz="2400" b="1" dirty="0" smtClean="0"/>
              <a:t>Toda entidad debe cumplir dos características:</a:t>
            </a:r>
          </a:p>
          <a:p>
            <a:pPr marL="342900" indent="-342900" algn="just">
              <a:buFont typeface="+mj-lt"/>
              <a:buAutoNum type="arabicPeriod"/>
            </a:pPr>
            <a:r>
              <a:rPr lang="es-ES" sz="2400" dirty="0" smtClean="0"/>
              <a:t>Presencia del mismo conjunto de atributos para todas las ocurrencias, independientemente de que alguna ocurrencia carezca de valor para algún atributo.</a:t>
            </a:r>
          </a:p>
          <a:p>
            <a:pPr marL="342900" indent="-342900" algn="just">
              <a:buFont typeface="+mj-lt"/>
              <a:buAutoNum type="arabicPeriod"/>
            </a:pPr>
            <a:r>
              <a:rPr lang="es-ES" sz="2400" dirty="0" smtClean="0"/>
              <a:t>Diferenciación univoca de ocurrencias. No puede haber dos ocurrencias con los mismos valores para todos sus atributos.</a:t>
            </a:r>
          </a:p>
          <a:p>
            <a:pPr marL="342900" indent="-342900">
              <a:buFont typeface="+mj-lt"/>
              <a:buAutoNum type="arabicPeriod"/>
            </a:pPr>
            <a:endParaRPr lang="es-ES" dirty="0"/>
          </a:p>
        </p:txBody>
      </p:sp>
    </p:spTree>
    <p:extLst>
      <p:ext uri="{BB962C8B-B14F-4D97-AF65-F5344CB8AC3E}">
        <p14:creationId xmlns:p14="http://schemas.microsoft.com/office/powerpoint/2010/main" val="127768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2050"/>
                                        </p:tgtEl>
                                        <p:attrNameLst>
                                          <p:attrName>ppt_x</p:attrName>
                                        </p:attrNameLst>
                                      </p:cBhvr>
                                      <p:tavLst>
                                        <p:tav tm="0">
                                          <p:val>
                                            <p:strVal val="ppt_x"/>
                                          </p:val>
                                        </p:tav>
                                        <p:tav tm="100000">
                                          <p:val>
                                            <p:strVal val="ppt_x"/>
                                          </p:val>
                                        </p:tav>
                                      </p:tavLst>
                                    </p:anim>
                                    <p:anim calcmode="lin" valueType="num">
                                      <p:cBhvr additive="base">
                                        <p:cTn id="17" dur="500"/>
                                        <p:tgtEl>
                                          <p:spTgt spid="2050"/>
                                        </p:tgtEl>
                                        <p:attrNameLst>
                                          <p:attrName>ppt_y</p:attrName>
                                        </p:attrNameLst>
                                      </p:cBhvr>
                                      <p:tavLst>
                                        <p:tav tm="0">
                                          <p:val>
                                            <p:strVal val="ppt_y"/>
                                          </p:val>
                                        </p:tav>
                                        <p:tav tm="100000">
                                          <p:val>
                                            <p:strVal val="1+ppt_h/2"/>
                                          </p:val>
                                        </p:tav>
                                      </p:tavLst>
                                    </p:anim>
                                    <p:set>
                                      <p:cBhvr>
                                        <p:cTn id="18" dur="1" fill="hold">
                                          <p:stCondLst>
                                            <p:cond delay="499"/>
                                          </p:stCondLst>
                                        </p:cTn>
                                        <p:tgtEl>
                                          <p:spTgt spid="205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GRAFICAMENTE</a:t>
            </a:r>
            <a:endParaRPr lang="es-ES" dirty="0"/>
          </a:p>
        </p:txBody>
      </p:sp>
      <p:pic>
        <p:nvPicPr>
          <p:cNvPr id="5" name="Imagen 4"/>
          <p:cNvPicPr>
            <a:picLocks noChangeAspect="1"/>
          </p:cNvPicPr>
          <p:nvPr/>
        </p:nvPicPr>
        <p:blipFill>
          <a:blip r:embed="rId2"/>
          <a:stretch>
            <a:fillRect/>
          </a:stretch>
        </p:blipFill>
        <p:spPr>
          <a:xfrm>
            <a:off x="838200" y="2343902"/>
            <a:ext cx="10654784" cy="2757488"/>
          </a:xfrm>
          <a:prstGeom prst="rect">
            <a:avLst/>
          </a:prstGeom>
        </p:spPr>
      </p:pic>
      <p:cxnSp>
        <p:nvCxnSpPr>
          <p:cNvPr id="7" name="Conector recto 6"/>
          <p:cNvCxnSpPr/>
          <p:nvPr/>
        </p:nvCxnSpPr>
        <p:spPr>
          <a:xfrm>
            <a:off x="1662545" y="3075709"/>
            <a:ext cx="374073" cy="83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9975273" y="3832167"/>
            <a:ext cx="307571" cy="83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994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80">
                                          <p:stCondLst>
                                            <p:cond delay="0"/>
                                          </p:stCondLst>
                                        </p:cTn>
                                        <p:tgtEl>
                                          <p:spTgt spid="7"/>
                                        </p:tgtEl>
                                      </p:cBhvr>
                                    </p:animEffect>
                                    <p:anim calcmode="lin" valueType="num">
                                      <p:cBhvr>
                                        <p:cTn id="2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9" dur="26">
                                          <p:stCondLst>
                                            <p:cond delay="650"/>
                                          </p:stCondLst>
                                        </p:cTn>
                                        <p:tgtEl>
                                          <p:spTgt spid="7"/>
                                        </p:tgtEl>
                                      </p:cBhvr>
                                      <p:to x="100000" y="60000"/>
                                    </p:animScale>
                                    <p:animScale>
                                      <p:cBhvr>
                                        <p:cTn id="30" dur="166" decel="50000">
                                          <p:stCondLst>
                                            <p:cond delay="676"/>
                                          </p:stCondLst>
                                        </p:cTn>
                                        <p:tgtEl>
                                          <p:spTgt spid="7"/>
                                        </p:tgtEl>
                                      </p:cBhvr>
                                      <p:to x="100000" y="100000"/>
                                    </p:animScale>
                                    <p:animScale>
                                      <p:cBhvr>
                                        <p:cTn id="31" dur="26">
                                          <p:stCondLst>
                                            <p:cond delay="1312"/>
                                          </p:stCondLst>
                                        </p:cTn>
                                        <p:tgtEl>
                                          <p:spTgt spid="7"/>
                                        </p:tgtEl>
                                      </p:cBhvr>
                                      <p:to x="100000" y="80000"/>
                                    </p:animScale>
                                    <p:animScale>
                                      <p:cBhvr>
                                        <p:cTn id="32" dur="166" decel="50000">
                                          <p:stCondLst>
                                            <p:cond delay="1338"/>
                                          </p:stCondLst>
                                        </p:cTn>
                                        <p:tgtEl>
                                          <p:spTgt spid="7"/>
                                        </p:tgtEl>
                                      </p:cBhvr>
                                      <p:to x="100000" y="100000"/>
                                    </p:animScale>
                                    <p:animScale>
                                      <p:cBhvr>
                                        <p:cTn id="33" dur="26">
                                          <p:stCondLst>
                                            <p:cond delay="1642"/>
                                          </p:stCondLst>
                                        </p:cTn>
                                        <p:tgtEl>
                                          <p:spTgt spid="7"/>
                                        </p:tgtEl>
                                      </p:cBhvr>
                                      <p:to x="100000" y="90000"/>
                                    </p:animScale>
                                    <p:animScale>
                                      <p:cBhvr>
                                        <p:cTn id="34" dur="166" decel="50000">
                                          <p:stCondLst>
                                            <p:cond delay="1668"/>
                                          </p:stCondLst>
                                        </p:cTn>
                                        <p:tgtEl>
                                          <p:spTgt spid="7"/>
                                        </p:tgtEl>
                                      </p:cBhvr>
                                      <p:to x="100000" y="100000"/>
                                    </p:animScale>
                                    <p:animScale>
                                      <p:cBhvr>
                                        <p:cTn id="35" dur="26">
                                          <p:stCondLst>
                                            <p:cond delay="1808"/>
                                          </p:stCondLst>
                                        </p:cTn>
                                        <p:tgtEl>
                                          <p:spTgt spid="7"/>
                                        </p:tgtEl>
                                      </p:cBhvr>
                                      <p:to x="100000" y="95000"/>
                                    </p:animScale>
                                    <p:animScale>
                                      <p:cBhvr>
                                        <p:cTn id="36" dur="166" decel="50000">
                                          <p:stCondLst>
                                            <p:cond delay="1834"/>
                                          </p:stCondLst>
                                        </p:cTn>
                                        <p:tgtEl>
                                          <p:spTgt spid="7"/>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barn(inVertical)">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ENTIDAD FUERTE/DEBIL</a:t>
            </a:r>
            <a:endParaRPr lang="es-ES" dirty="0"/>
          </a:p>
        </p:txBody>
      </p:sp>
      <p:sp>
        <p:nvSpPr>
          <p:cNvPr id="3" name="Marcador de contenido 2"/>
          <p:cNvSpPr>
            <a:spLocks noGrp="1"/>
          </p:cNvSpPr>
          <p:nvPr>
            <p:ph idx="1"/>
          </p:nvPr>
        </p:nvSpPr>
        <p:spPr>
          <a:xfrm>
            <a:off x="838198" y="1841455"/>
            <a:ext cx="10515600" cy="4351338"/>
          </a:xfrm>
        </p:spPr>
        <p:txBody>
          <a:bodyPr/>
          <a:lstStyle/>
          <a:p>
            <a:r>
              <a:rPr lang="es-ES" b="1" dirty="0" smtClean="0"/>
              <a:t>Hay dos tipos de entidades:</a:t>
            </a:r>
          </a:p>
          <a:p>
            <a:pPr lvl="1"/>
            <a:r>
              <a:rPr lang="es-ES" dirty="0" smtClean="0"/>
              <a:t>Fuerte o regular. No depende de otra. Corresponde a la inmensa mayoría de las entidades.</a:t>
            </a:r>
          </a:p>
          <a:p>
            <a:pPr lvl="1"/>
            <a:r>
              <a:rPr lang="es-ES" dirty="0" smtClean="0"/>
              <a:t>Débil. La existencia de sus ocurrencias depende de la existencia de ocurrencias en otras entidades.</a:t>
            </a:r>
            <a:endParaRPr lang="es-ES" dirty="0"/>
          </a:p>
        </p:txBody>
      </p:sp>
      <p:pic>
        <p:nvPicPr>
          <p:cNvPr id="4" name="Imagen 3"/>
          <p:cNvPicPr>
            <a:picLocks noChangeAspect="1"/>
          </p:cNvPicPr>
          <p:nvPr/>
        </p:nvPicPr>
        <p:blipFill>
          <a:blip r:embed="rId2"/>
          <a:stretch>
            <a:fillRect/>
          </a:stretch>
        </p:blipFill>
        <p:spPr>
          <a:xfrm>
            <a:off x="4776787" y="3479828"/>
            <a:ext cx="2638425" cy="1095375"/>
          </a:xfrm>
          <a:prstGeom prst="rect">
            <a:avLst/>
          </a:prstGeom>
        </p:spPr>
      </p:pic>
      <p:sp>
        <p:nvSpPr>
          <p:cNvPr id="5" name="Rectángulo 4"/>
          <p:cNvSpPr/>
          <p:nvPr/>
        </p:nvSpPr>
        <p:spPr>
          <a:xfrm>
            <a:off x="766155" y="4738768"/>
            <a:ext cx="10659687"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s-ES" dirty="0" smtClean="0"/>
              <a:t>Supongamos un sistema de información de una biblioteca. Si queremos llevar un control sobre las multas impuestas a los socios por devolución tardía de libros, crearemos una entidad "Multa”. </a:t>
            </a:r>
          </a:p>
          <a:p>
            <a:pPr algn="just"/>
            <a:r>
              <a:rPr lang="es-ES" dirty="0" smtClean="0"/>
              <a:t>Toda multa se impone a un socio; por tanto, no podrá haber ocurrencias en la entidad "Multa" si no existe una ocurrencia correspondiente a un socio en la entidad "Socio".</a:t>
            </a:r>
            <a:endParaRPr lang="es-ES" dirty="0"/>
          </a:p>
        </p:txBody>
      </p:sp>
    </p:spTree>
    <p:extLst>
      <p:ext uri="{BB962C8B-B14F-4D97-AF65-F5344CB8AC3E}">
        <p14:creationId xmlns:p14="http://schemas.microsoft.com/office/powerpoint/2010/main" val="3155946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98022"/>
            <a:ext cx="10058400" cy="939338"/>
          </a:xfrm>
        </p:spPr>
        <p:txBody>
          <a:bodyPr/>
          <a:lstStyle/>
          <a:p>
            <a:r>
              <a:rPr lang="es-ES" dirty="0" smtClean="0"/>
              <a:t>Actividad Grupal</a:t>
            </a:r>
            <a:endParaRPr lang="es-ES" dirty="0"/>
          </a:p>
        </p:txBody>
      </p:sp>
      <p:sp>
        <p:nvSpPr>
          <p:cNvPr id="3" name="Marcador de contenido 2"/>
          <p:cNvSpPr>
            <a:spLocks noGrp="1"/>
          </p:cNvSpPr>
          <p:nvPr>
            <p:ph idx="1"/>
          </p:nvPr>
        </p:nvSpPr>
        <p:spPr>
          <a:xfrm>
            <a:off x="1097280" y="2469188"/>
            <a:ext cx="10058400" cy="1487670"/>
          </a:xfrm>
        </p:spPr>
        <p:style>
          <a:lnRef idx="2">
            <a:schemeClr val="accent1"/>
          </a:lnRef>
          <a:fillRef idx="1">
            <a:schemeClr val="lt1"/>
          </a:fillRef>
          <a:effectRef idx="0">
            <a:schemeClr val="accent1"/>
          </a:effectRef>
          <a:fontRef idx="minor">
            <a:schemeClr val="dk1"/>
          </a:fontRef>
        </p:style>
        <p:txBody>
          <a:bodyPr>
            <a:noAutofit/>
          </a:bodyPr>
          <a:lstStyle/>
          <a:p>
            <a:pPr algn="just"/>
            <a:r>
              <a:rPr lang="es-ES" sz="3200" b="1" dirty="0" smtClean="0"/>
              <a:t>Elaborad una lista con las posibles entidades de un bar, tienda, empresa, centro educativo,… y luego añádele los atributos que creas que mas le convengan.</a:t>
            </a:r>
            <a:endParaRPr lang="es-ES" sz="3200" b="1" dirty="0"/>
          </a:p>
        </p:txBody>
      </p:sp>
    </p:spTree>
    <p:extLst>
      <p:ext uri="{BB962C8B-B14F-4D97-AF65-F5344CB8AC3E}">
        <p14:creationId xmlns:p14="http://schemas.microsoft.com/office/powerpoint/2010/main" val="1654886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RELACION</a:t>
            </a:r>
            <a:endParaRPr lang="es-ES" dirty="0"/>
          </a:p>
        </p:txBody>
      </p:sp>
      <p:sp>
        <p:nvSpPr>
          <p:cNvPr id="3" name="Marcador de contenido 2"/>
          <p:cNvSpPr>
            <a:spLocks noGrp="1"/>
          </p:cNvSpPr>
          <p:nvPr>
            <p:ph idx="1"/>
          </p:nvPr>
        </p:nvSpPr>
        <p:spPr>
          <a:xfrm>
            <a:off x="1097280" y="1845734"/>
            <a:ext cx="10058400" cy="1266434"/>
          </a:xfrm>
        </p:spPr>
        <p:txBody>
          <a:bodyPr/>
          <a:lstStyle/>
          <a:p>
            <a:r>
              <a:rPr lang="es-ES" sz="2800" dirty="0" smtClean="0"/>
              <a:t>Asociación entre varias entidades.</a:t>
            </a:r>
          </a:p>
          <a:p>
            <a:pPr lvl="1"/>
            <a:r>
              <a:rPr lang="es-ES" sz="2000" dirty="0" smtClean="0"/>
              <a:t>Estas puedes ser desde 1 hasta muchas entidades</a:t>
            </a:r>
          </a:p>
          <a:p>
            <a:pPr lvl="1"/>
            <a:r>
              <a:rPr lang="es-ES" sz="2000" dirty="0" smtClean="0"/>
              <a:t>Las mas comunes suelen ser las binarias. (2 Entidades)</a:t>
            </a:r>
            <a:endParaRPr lang="es-ES" sz="2000" dirty="0"/>
          </a:p>
        </p:txBody>
      </p:sp>
      <p:pic>
        <p:nvPicPr>
          <p:cNvPr id="4" name="Imagen 3"/>
          <p:cNvPicPr>
            <a:picLocks noChangeAspect="1"/>
          </p:cNvPicPr>
          <p:nvPr/>
        </p:nvPicPr>
        <p:blipFill>
          <a:blip r:embed="rId2"/>
          <a:stretch>
            <a:fillRect/>
          </a:stretch>
        </p:blipFill>
        <p:spPr>
          <a:xfrm>
            <a:off x="4199021" y="3567363"/>
            <a:ext cx="3505200" cy="1295400"/>
          </a:xfrm>
          <a:prstGeom prst="rect">
            <a:avLst/>
          </a:prstGeom>
        </p:spPr>
      </p:pic>
      <p:pic>
        <p:nvPicPr>
          <p:cNvPr id="1026" name="Picture 2" descr="Pin by DIY Crafting Mama on Funny Memes | Memes sarcastic, Funny, Funny  mem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7869" y="3220541"/>
            <a:ext cx="4121777" cy="2650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39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BINARIAS</a:t>
            </a:r>
            <a:endParaRPr lang="es-ES" dirty="0"/>
          </a:p>
        </p:txBody>
      </p:sp>
      <p:sp>
        <p:nvSpPr>
          <p:cNvPr id="3" name="Marcador de contenido 2"/>
          <p:cNvSpPr>
            <a:spLocks noGrp="1"/>
          </p:cNvSpPr>
          <p:nvPr>
            <p:ph idx="1"/>
          </p:nvPr>
        </p:nvSpPr>
        <p:spPr>
          <a:xfrm>
            <a:off x="1097280" y="1845734"/>
            <a:ext cx="10058400" cy="672877"/>
          </a:xfrm>
        </p:spPr>
        <p:txBody>
          <a:bodyPr/>
          <a:lstStyle/>
          <a:p>
            <a:r>
              <a:rPr lang="es-ES" dirty="0" smtClean="0"/>
              <a:t>Relacionan 2 entidades</a:t>
            </a:r>
            <a:endParaRPr lang="es-ES" dirty="0"/>
          </a:p>
        </p:txBody>
      </p:sp>
      <p:pic>
        <p:nvPicPr>
          <p:cNvPr id="4" name="Imagen 3"/>
          <p:cNvPicPr>
            <a:picLocks noChangeAspect="1"/>
          </p:cNvPicPr>
          <p:nvPr/>
        </p:nvPicPr>
        <p:blipFill>
          <a:blip r:embed="rId2"/>
          <a:stretch>
            <a:fillRect/>
          </a:stretch>
        </p:blipFill>
        <p:spPr>
          <a:xfrm>
            <a:off x="2489535" y="3127458"/>
            <a:ext cx="7277100" cy="1533525"/>
          </a:xfrm>
          <a:prstGeom prst="rect">
            <a:avLst/>
          </a:prstGeom>
        </p:spPr>
      </p:pic>
    </p:spTree>
    <p:extLst>
      <p:ext uri="{BB962C8B-B14F-4D97-AF65-F5344CB8AC3E}">
        <p14:creationId xmlns:p14="http://schemas.microsoft.com/office/powerpoint/2010/main" val="31823538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TERNARIAS</a:t>
            </a:r>
            <a:endParaRPr lang="es-ES" dirty="0"/>
          </a:p>
        </p:txBody>
      </p:sp>
      <p:sp>
        <p:nvSpPr>
          <p:cNvPr id="3" name="Marcador de contenido 2"/>
          <p:cNvSpPr>
            <a:spLocks noGrp="1"/>
          </p:cNvSpPr>
          <p:nvPr>
            <p:ph idx="1"/>
          </p:nvPr>
        </p:nvSpPr>
        <p:spPr>
          <a:xfrm>
            <a:off x="1097280" y="1845734"/>
            <a:ext cx="10058400" cy="672877"/>
          </a:xfrm>
        </p:spPr>
        <p:txBody>
          <a:bodyPr/>
          <a:lstStyle/>
          <a:p>
            <a:r>
              <a:rPr lang="es-ES" dirty="0" smtClean="0"/>
              <a:t>Relacionan 3 entidades</a:t>
            </a:r>
            <a:endParaRPr lang="es-ES" dirty="0"/>
          </a:p>
        </p:txBody>
      </p:sp>
      <p:pic>
        <p:nvPicPr>
          <p:cNvPr id="5" name="Imagen 4"/>
          <p:cNvPicPr>
            <a:picLocks noChangeAspect="1"/>
          </p:cNvPicPr>
          <p:nvPr/>
        </p:nvPicPr>
        <p:blipFill>
          <a:blip r:embed="rId2"/>
          <a:stretch>
            <a:fillRect/>
          </a:stretch>
        </p:blipFill>
        <p:spPr>
          <a:xfrm>
            <a:off x="2749867" y="2805363"/>
            <a:ext cx="6753225" cy="2209800"/>
          </a:xfrm>
          <a:prstGeom prst="rect">
            <a:avLst/>
          </a:prstGeom>
        </p:spPr>
      </p:pic>
    </p:spTree>
    <p:extLst>
      <p:ext uri="{BB962C8B-B14F-4D97-AF65-F5344CB8AC3E}">
        <p14:creationId xmlns:p14="http://schemas.microsoft.com/office/powerpoint/2010/main" val="36943869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N-ARIAS</a:t>
            </a:r>
            <a:endParaRPr lang="es-ES" dirty="0"/>
          </a:p>
        </p:txBody>
      </p:sp>
      <p:sp>
        <p:nvSpPr>
          <p:cNvPr id="3" name="Marcador de contenido 2"/>
          <p:cNvSpPr>
            <a:spLocks noGrp="1"/>
          </p:cNvSpPr>
          <p:nvPr>
            <p:ph idx="1"/>
          </p:nvPr>
        </p:nvSpPr>
        <p:spPr>
          <a:xfrm>
            <a:off x="1097280" y="1845734"/>
            <a:ext cx="10058400" cy="672877"/>
          </a:xfrm>
        </p:spPr>
        <p:txBody>
          <a:bodyPr/>
          <a:lstStyle/>
          <a:p>
            <a:r>
              <a:rPr lang="es-ES" dirty="0" smtClean="0"/>
              <a:t>Relacionan N entidades</a:t>
            </a:r>
            <a:endParaRPr lang="es-ES" dirty="0"/>
          </a:p>
        </p:txBody>
      </p:sp>
      <p:pic>
        <p:nvPicPr>
          <p:cNvPr id="4" name="Imagen 3"/>
          <p:cNvPicPr>
            <a:picLocks noChangeAspect="1"/>
          </p:cNvPicPr>
          <p:nvPr/>
        </p:nvPicPr>
        <p:blipFill>
          <a:blip r:embed="rId2"/>
          <a:stretch>
            <a:fillRect/>
          </a:stretch>
        </p:blipFill>
        <p:spPr>
          <a:xfrm>
            <a:off x="2754630" y="2182172"/>
            <a:ext cx="6743700" cy="3095625"/>
          </a:xfrm>
          <a:prstGeom prst="rect">
            <a:avLst/>
          </a:prstGeom>
        </p:spPr>
      </p:pic>
      <p:sp>
        <p:nvSpPr>
          <p:cNvPr id="6" name="Marcador de contenido 2"/>
          <p:cNvSpPr txBox="1">
            <a:spLocks/>
          </p:cNvSpPr>
          <p:nvPr/>
        </p:nvSpPr>
        <p:spPr>
          <a:xfrm>
            <a:off x="1097280" y="5693944"/>
            <a:ext cx="10058400" cy="469643"/>
          </a:xfrm>
          <a:prstGeom prst="rect">
            <a:avLst/>
          </a:prstGeom>
        </p:spPr>
        <p:style>
          <a:lnRef idx="2">
            <a:schemeClr val="accent2"/>
          </a:lnRef>
          <a:fillRef idx="1">
            <a:schemeClr val="lt1"/>
          </a:fillRef>
          <a:effectRef idx="0">
            <a:schemeClr val="accent2"/>
          </a:effectRef>
          <a:fontRef idx="minor">
            <a:schemeClr val="dk1"/>
          </a:fontRef>
        </p:style>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smtClean="0"/>
              <a:t>Tanto las ternarias como N-arias no suelen ser muy optimas, es mejor evitarlas si es posible.</a:t>
            </a:r>
            <a:endParaRPr lang="es-ES" b="1" dirty="0"/>
          </a:p>
        </p:txBody>
      </p:sp>
      <p:pic>
        <p:nvPicPr>
          <p:cNvPr id="2052" name="Picture 4" descr="Poster Owl Teacher Cartoon Character With Graduate Cap ,Pointer -  PIXERS.NET.AU"/>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26883" y="3123789"/>
            <a:ext cx="2657472" cy="2570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1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fade">
                                      <p:cBhvr>
                                        <p:cTn id="12"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Reflexivas</a:t>
            </a:r>
            <a:endParaRPr lang="es-ES" dirty="0"/>
          </a:p>
        </p:txBody>
      </p:sp>
      <p:sp>
        <p:nvSpPr>
          <p:cNvPr id="3" name="Marcador de contenido 2"/>
          <p:cNvSpPr>
            <a:spLocks noGrp="1"/>
          </p:cNvSpPr>
          <p:nvPr>
            <p:ph idx="1"/>
          </p:nvPr>
        </p:nvSpPr>
        <p:spPr>
          <a:xfrm>
            <a:off x="1097280" y="1845734"/>
            <a:ext cx="10058400" cy="592666"/>
          </a:xfrm>
        </p:spPr>
        <p:txBody>
          <a:bodyPr/>
          <a:lstStyle/>
          <a:p>
            <a:r>
              <a:rPr lang="es-ES" dirty="0" smtClean="0"/>
              <a:t>Relacionan entre si ocurrencias de la misma entidad</a:t>
            </a:r>
            <a:endParaRPr lang="es-ES" dirty="0"/>
          </a:p>
        </p:txBody>
      </p:sp>
      <p:pic>
        <p:nvPicPr>
          <p:cNvPr id="4" name="Imagen 3"/>
          <p:cNvPicPr>
            <a:picLocks noChangeAspect="1"/>
          </p:cNvPicPr>
          <p:nvPr/>
        </p:nvPicPr>
        <p:blipFill>
          <a:blip r:embed="rId2"/>
          <a:stretch>
            <a:fillRect/>
          </a:stretch>
        </p:blipFill>
        <p:spPr>
          <a:xfrm>
            <a:off x="1834815" y="2546774"/>
            <a:ext cx="7765277" cy="2678529"/>
          </a:xfrm>
          <a:prstGeom prst="rect">
            <a:avLst/>
          </a:prstGeom>
        </p:spPr>
      </p:pic>
    </p:spTree>
    <p:extLst>
      <p:ext uri="{BB962C8B-B14F-4D97-AF65-F5344CB8AC3E}">
        <p14:creationId xmlns:p14="http://schemas.microsoft.com/office/powerpoint/2010/main" val="2808687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ACTIVIDAD</a:t>
            </a:r>
            <a:endParaRPr lang="es-ES" dirty="0"/>
          </a:p>
        </p:txBody>
      </p:sp>
      <p:sp>
        <p:nvSpPr>
          <p:cNvPr id="3" name="Marcador de contenido 2"/>
          <p:cNvSpPr>
            <a:spLocks noGrp="1"/>
          </p:cNvSpPr>
          <p:nvPr>
            <p:ph idx="1"/>
          </p:nvPr>
        </p:nvSpPr>
        <p:spPr>
          <a:xfrm>
            <a:off x="1097280" y="2792218"/>
            <a:ext cx="10058400" cy="1474982"/>
          </a:xfrm>
        </p:spPr>
        <p:style>
          <a:lnRef idx="2">
            <a:schemeClr val="accent2"/>
          </a:lnRef>
          <a:fillRef idx="1">
            <a:schemeClr val="lt1"/>
          </a:fillRef>
          <a:effectRef idx="0">
            <a:schemeClr val="accent2"/>
          </a:effectRef>
          <a:fontRef idx="minor">
            <a:schemeClr val="dk1"/>
          </a:fontRef>
        </p:style>
        <p:txBody>
          <a:bodyPr/>
          <a:lstStyle/>
          <a:p>
            <a:r>
              <a:rPr lang="es-ES" dirty="0" smtClean="0"/>
              <a:t>Con las entidades de la actividad anterior dibuja las relaciones que habrían entre ellas.</a:t>
            </a:r>
          </a:p>
          <a:p>
            <a:r>
              <a:rPr lang="es-ES" dirty="0" smtClean="0"/>
              <a:t>No hace falta darles </a:t>
            </a:r>
            <a:r>
              <a:rPr lang="es-ES" dirty="0" err="1" smtClean="0"/>
              <a:t>cardinalidad</a:t>
            </a:r>
            <a:r>
              <a:rPr lang="es-ES" dirty="0" smtClean="0"/>
              <a:t> aun.</a:t>
            </a:r>
          </a:p>
          <a:p>
            <a:r>
              <a:rPr lang="es-ES" dirty="0" smtClean="0"/>
              <a:t>Debate y razona si alguna podría ser reflexiva, ternario o n-arias.</a:t>
            </a:r>
            <a:endParaRPr lang="es-ES" dirty="0"/>
          </a:p>
        </p:txBody>
      </p:sp>
    </p:spTree>
    <p:extLst>
      <p:ext uri="{BB962C8B-B14F-4D97-AF65-F5344CB8AC3E}">
        <p14:creationId xmlns:p14="http://schemas.microsoft.com/office/powerpoint/2010/main" val="2064440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689957" y="515389"/>
            <a:ext cx="11130742" cy="2862322"/>
          </a:xfrm>
          <a:prstGeom prst="rect">
            <a:avLst/>
          </a:prstGeom>
          <a:noFill/>
        </p:spPr>
        <p:txBody>
          <a:bodyPr wrap="square" rtlCol="0">
            <a:spAutoFit/>
          </a:bodyPr>
          <a:lstStyle/>
          <a:p>
            <a:pPr algn="just"/>
            <a:r>
              <a:rPr lang="es-ES" dirty="0" smtClean="0">
                <a:latin typeface="Arial Rounded MT Bold" panose="020F0704030504030204" pitchFamily="34" charset="0"/>
              </a:rPr>
              <a:t>Buenos días </a:t>
            </a:r>
            <a:r>
              <a:rPr lang="es-ES" dirty="0" err="1" smtClean="0">
                <a:latin typeface="Arial Rounded MT Bold" panose="020F0704030504030204" pitchFamily="34" charset="0"/>
              </a:rPr>
              <a:t>Pinchacodigos</a:t>
            </a:r>
            <a:r>
              <a:rPr lang="es-ES" dirty="0" smtClean="0">
                <a:latin typeface="Arial Rounded MT Bold" panose="020F0704030504030204" pitchFamily="34" charset="0"/>
              </a:rPr>
              <a:t>:</a:t>
            </a:r>
          </a:p>
          <a:p>
            <a:pPr algn="just"/>
            <a:endParaRPr lang="es-ES" dirty="0">
              <a:latin typeface="Arial Rounded MT Bold" panose="020F0704030504030204" pitchFamily="34" charset="0"/>
            </a:endParaRPr>
          </a:p>
          <a:p>
            <a:pPr algn="just"/>
            <a:r>
              <a:rPr lang="es-ES" dirty="0" smtClean="0">
                <a:latin typeface="Arial Rounded MT Bold" panose="020F0704030504030204" pitchFamily="34" charset="0"/>
              </a:rPr>
              <a:t>Quiero que me hagas un DER sobre una pequeña tienda, en principio solamente habría que estructurar a los clientes, que compran y los proveedores, como buen </a:t>
            </a:r>
            <a:r>
              <a:rPr lang="es-ES" dirty="0" err="1" smtClean="0">
                <a:latin typeface="Arial Rounded MT Bold" panose="020F0704030504030204" pitchFamily="34" charset="0"/>
              </a:rPr>
              <a:t>protoinformatico</a:t>
            </a:r>
            <a:r>
              <a:rPr lang="es-ES" dirty="0" smtClean="0">
                <a:latin typeface="Arial Rounded MT Bold" panose="020F0704030504030204" pitchFamily="34" charset="0"/>
              </a:rPr>
              <a:t> debes saber bien sus entidades y sus atributos necesarios como las relaciones entre ellos.</a:t>
            </a:r>
          </a:p>
          <a:p>
            <a:pPr algn="just"/>
            <a:endParaRPr lang="es-ES" dirty="0">
              <a:latin typeface="Arial Rounded MT Bold" panose="020F0704030504030204" pitchFamily="34" charset="0"/>
            </a:endParaRPr>
          </a:p>
          <a:p>
            <a:pPr algn="just"/>
            <a:r>
              <a:rPr lang="es-ES" dirty="0" smtClean="0">
                <a:latin typeface="Arial Rounded MT Bold" panose="020F0704030504030204" pitchFamily="34" charset="0"/>
              </a:rPr>
              <a:t>Ala a currar que no me sales barato.</a:t>
            </a:r>
          </a:p>
          <a:p>
            <a:pPr algn="just"/>
            <a:endParaRPr lang="es-ES" dirty="0">
              <a:latin typeface="Arial Rounded MT Bold" panose="020F0704030504030204" pitchFamily="34" charset="0"/>
            </a:endParaRPr>
          </a:p>
          <a:p>
            <a:pPr algn="just"/>
            <a:r>
              <a:rPr lang="es-ES" dirty="0" smtClean="0">
                <a:latin typeface="Arial Rounded MT Bold" panose="020F0704030504030204" pitchFamily="34" charset="0"/>
              </a:rPr>
              <a:t>Estimado</a:t>
            </a:r>
          </a:p>
          <a:p>
            <a:pPr algn="just"/>
            <a:r>
              <a:rPr lang="es-ES" dirty="0" smtClean="0">
                <a:latin typeface="Arial Rounded MT Bold" panose="020F0704030504030204" pitchFamily="34" charset="0"/>
              </a:rPr>
              <a:t>Tu jefe que te quiere.</a:t>
            </a:r>
          </a:p>
        </p:txBody>
      </p:sp>
      <p:pic>
        <p:nvPicPr>
          <p:cNvPr id="3074" name="Picture 2" descr="Mr Burns meme - excelente | Mr burns, Burns, Montgomery bur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047" y="2443942"/>
            <a:ext cx="3103110" cy="3627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76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smtClean="0"/>
              <a:t>CARDINALIDAD Y MODALIDAD</a:t>
            </a:r>
            <a:endParaRPr lang="es-ES" dirty="0"/>
          </a:p>
        </p:txBody>
      </p:sp>
      <p:sp>
        <p:nvSpPr>
          <p:cNvPr id="2" name="Rectángulo 1"/>
          <p:cNvSpPr/>
          <p:nvPr/>
        </p:nvSpPr>
        <p:spPr>
          <a:xfrm>
            <a:off x="1097280" y="1924697"/>
            <a:ext cx="10058400" cy="2031325"/>
          </a:xfrm>
          <a:prstGeom prst="rect">
            <a:avLst/>
          </a:prstGeom>
        </p:spPr>
        <p:txBody>
          <a:bodyPr wrap="square">
            <a:spAutoFit/>
          </a:bodyPr>
          <a:lstStyle/>
          <a:p>
            <a:r>
              <a:rPr lang="es-ES" b="1" dirty="0" smtClean="0"/>
              <a:t>MODALIDAD:</a:t>
            </a:r>
          </a:p>
          <a:p>
            <a:r>
              <a:rPr lang="es-ES" dirty="0" smtClean="0"/>
              <a:t>Define el numero mínimo y máximo de ocurrencias que una entidad relaciona con la otra entidad con la que esta relacionada.</a:t>
            </a:r>
          </a:p>
          <a:p>
            <a:endParaRPr lang="es-ES" dirty="0" smtClean="0"/>
          </a:p>
          <a:p>
            <a:r>
              <a:rPr lang="es-ES" b="1" dirty="0" smtClean="0"/>
              <a:t>CARDINALIDAD:</a:t>
            </a:r>
          </a:p>
          <a:p>
            <a:r>
              <a:rPr lang="es-ES" dirty="0" smtClean="0"/>
              <a:t>Termino </a:t>
            </a:r>
            <a:r>
              <a:rPr lang="es-ES" dirty="0"/>
              <a:t>que se utiliza en las bases de datos, para referirnos a la cantidad de </a:t>
            </a:r>
            <a:r>
              <a:rPr lang="es-ES" dirty="0" smtClean="0"/>
              <a:t>MAXIMA de veces </a:t>
            </a:r>
            <a:r>
              <a:rPr lang="es-ES" dirty="0"/>
              <a:t>en que nuestras entidades se relacionan.</a:t>
            </a:r>
          </a:p>
        </p:txBody>
      </p:sp>
      <p:pic>
        <p:nvPicPr>
          <p:cNvPr id="5" name="Imagen 4"/>
          <p:cNvPicPr>
            <a:picLocks noChangeAspect="1"/>
          </p:cNvPicPr>
          <p:nvPr/>
        </p:nvPicPr>
        <p:blipFill>
          <a:blip r:embed="rId2"/>
          <a:stretch>
            <a:fillRect/>
          </a:stretch>
        </p:blipFill>
        <p:spPr>
          <a:xfrm>
            <a:off x="2830830" y="4422832"/>
            <a:ext cx="6591300" cy="1514475"/>
          </a:xfrm>
          <a:prstGeom prst="rect">
            <a:avLst/>
          </a:prstGeom>
        </p:spPr>
      </p:pic>
      <p:sp>
        <p:nvSpPr>
          <p:cNvPr id="6" name="Elipse 5"/>
          <p:cNvSpPr/>
          <p:nvPr/>
        </p:nvSpPr>
        <p:spPr>
          <a:xfrm>
            <a:off x="4846320" y="4879571"/>
            <a:ext cx="556953" cy="39901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p:cNvSpPr txBox="1"/>
          <p:nvPr/>
        </p:nvSpPr>
        <p:spPr>
          <a:xfrm>
            <a:off x="3790604" y="4468516"/>
            <a:ext cx="1429789" cy="369332"/>
          </a:xfrm>
          <a:prstGeom prst="rect">
            <a:avLst/>
          </a:prstGeom>
          <a:noFill/>
        </p:spPr>
        <p:txBody>
          <a:bodyPr wrap="square" rtlCol="0">
            <a:spAutoFit/>
          </a:bodyPr>
          <a:lstStyle/>
          <a:p>
            <a:r>
              <a:rPr lang="es-ES" dirty="0" smtClean="0"/>
              <a:t>MODALIDAD</a:t>
            </a:r>
            <a:endParaRPr lang="es-ES" dirty="0"/>
          </a:p>
        </p:txBody>
      </p:sp>
      <p:sp>
        <p:nvSpPr>
          <p:cNvPr id="8" name="CuadroTexto 7"/>
          <p:cNvSpPr txBox="1"/>
          <p:nvPr/>
        </p:nvSpPr>
        <p:spPr>
          <a:xfrm>
            <a:off x="5985164" y="4422832"/>
            <a:ext cx="1620982" cy="369332"/>
          </a:xfrm>
          <a:prstGeom prst="rect">
            <a:avLst/>
          </a:prstGeom>
          <a:noFill/>
        </p:spPr>
        <p:txBody>
          <a:bodyPr wrap="square" rtlCol="0">
            <a:spAutoFit/>
          </a:bodyPr>
          <a:lstStyle/>
          <a:p>
            <a:r>
              <a:rPr lang="es-ES" dirty="0" smtClean="0"/>
              <a:t>CARDINALIDAD</a:t>
            </a:r>
            <a:endParaRPr lang="es-ES" dirty="0"/>
          </a:p>
        </p:txBody>
      </p:sp>
      <p:sp>
        <p:nvSpPr>
          <p:cNvPr id="9" name="Elipse 8"/>
          <p:cNvSpPr/>
          <p:nvPr/>
        </p:nvSpPr>
        <p:spPr>
          <a:xfrm>
            <a:off x="5985164" y="4653182"/>
            <a:ext cx="556952" cy="2893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29441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anim calcmode="lin" valueType="num">
                                      <p:cBhvr>
                                        <p:cTn id="2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1000"/>
                                        <p:tgtEl>
                                          <p:spTgt spid="2">
                                            <p:txEl>
                                              <p:pRg st="4" end="4"/>
                                            </p:txEl>
                                          </p:spTgt>
                                        </p:tgtEl>
                                      </p:cBhvr>
                                    </p:animEffect>
                                    <p:anim calcmode="lin" valueType="num">
                                      <p:cBhvr>
                                        <p:cTn id="2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randombar(horizontal)">
                                      <p:cBhvr>
                                        <p:cTn id="34" dur="500"/>
                                        <p:tgtEl>
                                          <p:spTgt spid="6"/>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randombar(horizontal)">
                                      <p:cBhvr>
                                        <p:cTn id="37" dur="500"/>
                                        <p:tgtEl>
                                          <p:spTgt spid="7"/>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randombar(horizontal)">
                                      <p:cBhvr>
                                        <p:cTn id="40" dur="500"/>
                                        <p:tgtEl>
                                          <p:spTgt spid="8"/>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randombar(horizontal)">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a:t>
            </a:r>
            <a:r>
              <a:rPr lang="es-ES" dirty="0" smtClean="0"/>
              <a:t>ARDINALIDAD</a:t>
            </a:r>
            <a:endParaRPr lang="es-ES" dirty="0"/>
          </a:p>
        </p:txBody>
      </p:sp>
      <p:pic>
        <p:nvPicPr>
          <p:cNvPr id="3" name="Imagen 2"/>
          <p:cNvPicPr>
            <a:picLocks noChangeAspect="1"/>
          </p:cNvPicPr>
          <p:nvPr/>
        </p:nvPicPr>
        <p:blipFill>
          <a:blip r:embed="rId2"/>
          <a:stretch>
            <a:fillRect/>
          </a:stretch>
        </p:blipFill>
        <p:spPr>
          <a:xfrm>
            <a:off x="1125777" y="2316047"/>
            <a:ext cx="10001406" cy="3053975"/>
          </a:xfrm>
          <a:prstGeom prst="rect">
            <a:avLst/>
          </a:prstGeom>
        </p:spPr>
      </p:pic>
    </p:spTree>
    <p:extLst>
      <p:ext uri="{BB962C8B-B14F-4D97-AF65-F5344CB8AC3E}">
        <p14:creationId xmlns:p14="http://schemas.microsoft.com/office/powerpoint/2010/main" val="13743009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ORDINALIDAD</a:t>
            </a:r>
            <a:endParaRPr lang="es-ES" dirty="0"/>
          </a:p>
        </p:txBody>
      </p:sp>
      <p:pic>
        <p:nvPicPr>
          <p:cNvPr id="3" name="Imagen 2"/>
          <p:cNvPicPr>
            <a:picLocks noChangeAspect="1"/>
          </p:cNvPicPr>
          <p:nvPr/>
        </p:nvPicPr>
        <p:blipFill>
          <a:blip r:embed="rId2"/>
          <a:stretch>
            <a:fillRect/>
          </a:stretch>
        </p:blipFill>
        <p:spPr>
          <a:xfrm>
            <a:off x="1097280" y="1669300"/>
            <a:ext cx="10139283" cy="4615122"/>
          </a:xfrm>
          <a:prstGeom prst="rect">
            <a:avLst/>
          </a:prstGeom>
        </p:spPr>
      </p:pic>
    </p:spTree>
    <p:extLst>
      <p:ext uri="{BB962C8B-B14F-4D97-AF65-F5344CB8AC3E}">
        <p14:creationId xmlns:p14="http://schemas.microsoft.com/office/powerpoint/2010/main" val="6822694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0:1</a:t>
            </a:r>
            <a:endParaRPr lang="es-ES" dirty="0"/>
          </a:p>
        </p:txBody>
      </p:sp>
      <p:pic>
        <p:nvPicPr>
          <p:cNvPr id="3" name="Imagen 2"/>
          <p:cNvPicPr>
            <a:picLocks noChangeAspect="1"/>
          </p:cNvPicPr>
          <p:nvPr/>
        </p:nvPicPr>
        <p:blipFill>
          <a:blip r:embed="rId2"/>
          <a:stretch>
            <a:fillRect/>
          </a:stretch>
        </p:blipFill>
        <p:spPr>
          <a:xfrm>
            <a:off x="1214351" y="2285999"/>
            <a:ext cx="9804151" cy="3616037"/>
          </a:xfrm>
          <a:prstGeom prst="rect">
            <a:avLst/>
          </a:prstGeom>
        </p:spPr>
      </p:pic>
      <p:sp>
        <p:nvSpPr>
          <p:cNvPr id="5" name="Rectángulo redondeado 4"/>
          <p:cNvSpPr/>
          <p:nvPr/>
        </p:nvSpPr>
        <p:spPr>
          <a:xfrm>
            <a:off x="315884" y="1999210"/>
            <a:ext cx="3732414" cy="142563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redondeado 5"/>
          <p:cNvSpPr/>
          <p:nvPr/>
        </p:nvSpPr>
        <p:spPr>
          <a:xfrm>
            <a:off x="4414058" y="2024149"/>
            <a:ext cx="2676698" cy="145888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redondeado 6"/>
          <p:cNvSpPr/>
          <p:nvPr/>
        </p:nvSpPr>
        <p:spPr>
          <a:xfrm>
            <a:off x="6424703" y="3138055"/>
            <a:ext cx="1332105" cy="57357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redondeado 7"/>
          <p:cNvSpPr/>
          <p:nvPr/>
        </p:nvSpPr>
        <p:spPr>
          <a:xfrm>
            <a:off x="7090755" y="2209107"/>
            <a:ext cx="2676698" cy="700347"/>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redondeado 8"/>
          <p:cNvSpPr/>
          <p:nvPr/>
        </p:nvSpPr>
        <p:spPr>
          <a:xfrm>
            <a:off x="914399" y="4680067"/>
            <a:ext cx="3940233" cy="115546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redondeado 9"/>
          <p:cNvSpPr/>
          <p:nvPr/>
        </p:nvSpPr>
        <p:spPr>
          <a:xfrm>
            <a:off x="7756808" y="4189615"/>
            <a:ext cx="3033111" cy="1562791"/>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redondeado 10"/>
          <p:cNvSpPr/>
          <p:nvPr/>
        </p:nvSpPr>
        <p:spPr>
          <a:xfrm>
            <a:off x="532014" y="3697088"/>
            <a:ext cx="1130531" cy="57357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p:cNvSpPr txBox="1"/>
          <p:nvPr/>
        </p:nvSpPr>
        <p:spPr>
          <a:xfrm>
            <a:off x="1097280" y="1837112"/>
            <a:ext cx="4801699" cy="369332"/>
          </a:xfrm>
          <a:prstGeom prst="rect">
            <a:avLst/>
          </a:prstGeom>
          <a:noFill/>
        </p:spPr>
        <p:txBody>
          <a:bodyPr wrap="none" rtlCol="0">
            <a:spAutoFit/>
          </a:bodyPr>
          <a:lstStyle/>
          <a:p>
            <a:r>
              <a:rPr lang="es-ES" dirty="0"/>
              <a:t>Una entidad </a:t>
            </a:r>
            <a:r>
              <a:rPr lang="es-ES" dirty="0" smtClean="0"/>
              <a:t>puede tener una o ninguna relacion.</a:t>
            </a:r>
            <a:endParaRPr lang="es-ES" dirty="0"/>
          </a:p>
        </p:txBody>
      </p:sp>
    </p:spTree>
    <p:extLst>
      <p:ext uri="{BB962C8B-B14F-4D97-AF65-F5344CB8AC3E}">
        <p14:creationId xmlns:p14="http://schemas.microsoft.com/office/powerpoint/2010/main" val="14650545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1:1</a:t>
            </a:r>
            <a:endParaRPr lang="es-ES" dirty="0"/>
          </a:p>
        </p:txBody>
      </p:sp>
      <p:pic>
        <p:nvPicPr>
          <p:cNvPr id="3" name="Imagen 2"/>
          <p:cNvPicPr>
            <a:picLocks noChangeAspect="1"/>
          </p:cNvPicPr>
          <p:nvPr/>
        </p:nvPicPr>
        <p:blipFill>
          <a:blip r:embed="rId2"/>
          <a:stretch>
            <a:fillRect/>
          </a:stretch>
        </p:blipFill>
        <p:spPr>
          <a:xfrm>
            <a:off x="1097280" y="2096592"/>
            <a:ext cx="9290450" cy="2608411"/>
          </a:xfrm>
          <a:prstGeom prst="rect">
            <a:avLst/>
          </a:prstGeom>
        </p:spPr>
      </p:pic>
      <p:sp>
        <p:nvSpPr>
          <p:cNvPr id="4" name="CuadroTexto 3"/>
          <p:cNvSpPr txBox="1"/>
          <p:nvPr/>
        </p:nvSpPr>
        <p:spPr>
          <a:xfrm>
            <a:off x="1097280" y="1911927"/>
            <a:ext cx="5634812" cy="369332"/>
          </a:xfrm>
          <a:prstGeom prst="rect">
            <a:avLst/>
          </a:prstGeom>
          <a:noFill/>
        </p:spPr>
        <p:txBody>
          <a:bodyPr wrap="none" rtlCol="0">
            <a:spAutoFit/>
          </a:bodyPr>
          <a:lstStyle/>
          <a:p>
            <a:r>
              <a:rPr lang="es-ES" dirty="0"/>
              <a:t>Una entidad se relaciona únicamente con otra y viceversa.</a:t>
            </a:r>
          </a:p>
        </p:txBody>
      </p:sp>
    </p:spTree>
    <p:extLst>
      <p:ext uri="{BB962C8B-B14F-4D97-AF65-F5344CB8AC3E}">
        <p14:creationId xmlns:p14="http://schemas.microsoft.com/office/powerpoint/2010/main" val="30088496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0:n</a:t>
            </a:r>
            <a:endParaRPr lang="es-ES" dirty="0"/>
          </a:p>
        </p:txBody>
      </p:sp>
      <p:pic>
        <p:nvPicPr>
          <p:cNvPr id="3" name="Imagen 2"/>
          <p:cNvPicPr>
            <a:picLocks noChangeAspect="1"/>
          </p:cNvPicPr>
          <p:nvPr/>
        </p:nvPicPr>
        <p:blipFill>
          <a:blip r:embed="rId2"/>
          <a:stretch>
            <a:fillRect/>
          </a:stretch>
        </p:blipFill>
        <p:spPr>
          <a:xfrm>
            <a:off x="3690851" y="2492017"/>
            <a:ext cx="4056611" cy="3524975"/>
          </a:xfrm>
          <a:prstGeom prst="rect">
            <a:avLst/>
          </a:prstGeom>
        </p:spPr>
      </p:pic>
      <p:sp>
        <p:nvSpPr>
          <p:cNvPr id="4" name="CuadroTexto 3"/>
          <p:cNvSpPr txBox="1"/>
          <p:nvPr/>
        </p:nvSpPr>
        <p:spPr>
          <a:xfrm>
            <a:off x="1097280" y="1837112"/>
            <a:ext cx="5173596" cy="369332"/>
          </a:xfrm>
          <a:prstGeom prst="rect">
            <a:avLst/>
          </a:prstGeom>
          <a:noFill/>
        </p:spPr>
        <p:txBody>
          <a:bodyPr wrap="none" rtlCol="0">
            <a:spAutoFit/>
          </a:bodyPr>
          <a:lstStyle/>
          <a:p>
            <a:r>
              <a:rPr lang="es-ES" dirty="0"/>
              <a:t>Una entidad </a:t>
            </a:r>
            <a:r>
              <a:rPr lang="es-ES" dirty="0" smtClean="0"/>
              <a:t>puede tener muchas o ninguna relacion.</a:t>
            </a:r>
            <a:endParaRPr lang="es-ES" dirty="0"/>
          </a:p>
        </p:txBody>
      </p:sp>
      <p:sp>
        <p:nvSpPr>
          <p:cNvPr id="5" name="Rectángulo redondeado 4"/>
          <p:cNvSpPr/>
          <p:nvPr/>
        </p:nvSpPr>
        <p:spPr>
          <a:xfrm>
            <a:off x="5303520" y="2842954"/>
            <a:ext cx="2676698" cy="57357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redondeado 5"/>
          <p:cNvSpPr/>
          <p:nvPr/>
        </p:nvSpPr>
        <p:spPr>
          <a:xfrm>
            <a:off x="2948168" y="4721629"/>
            <a:ext cx="2676698" cy="114715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redondeado 6"/>
          <p:cNvSpPr/>
          <p:nvPr/>
        </p:nvSpPr>
        <p:spPr>
          <a:xfrm>
            <a:off x="5347815" y="5868785"/>
            <a:ext cx="2676698" cy="34913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redondeado 7"/>
          <p:cNvSpPr/>
          <p:nvPr/>
        </p:nvSpPr>
        <p:spPr>
          <a:xfrm>
            <a:off x="7151796" y="5295207"/>
            <a:ext cx="2676698" cy="57357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573816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1097280" y="3041592"/>
            <a:ext cx="9529187" cy="1729914"/>
          </a:xfrm>
          <a:prstGeom prst="rect">
            <a:avLst/>
          </a:prstGeom>
        </p:spPr>
      </p:pic>
      <p:sp>
        <p:nvSpPr>
          <p:cNvPr id="4" name="CuadroTexto 3"/>
          <p:cNvSpPr txBox="1"/>
          <p:nvPr/>
        </p:nvSpPr>
        <p:spPr>
          <a:xfrm>
            <a:off x="1097280" y="881149"/>
            <a:ext cx="10282844"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dirty="0" smtClean="0"/>
              <a:t>Un empleado si o si tiene que tener un cargo, pero puede que exista un cargo sin empleados y varios empleados con el mismo cargo.</a:t>
            </a:r>
            <a:endParaRPr lang="es-ES" dirty="0"/>
          </a:p>
        </p:txBody>
      </p:sp>
    </p:spTree>
    <p:extLst>
      <p:ext uri="{BB962C8B-B14F-4D97-AF65-F5344CB8AC3E}">
        <p14:creationId xmlns:p14="http://schemas.microsoft.com/office/powerpoint/2010/main" val="181250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1:n</a:t>
            </a:r>
            <a:endParaRPr lang="es-ES" dirty="0"/>
          </a:p>
        </p:txBody>
      </p:sp>
      <p:sp>
        <p:nvSpPr>
          <p:cNvPr id="3" name="CuadroTexto 2"/>
          <p:cNvSpPr txBox="1"/>
          <p:nvPr/>
        </p:nvSpPr>
        <p:spPr>
          <a:xfrm>
            <a:off x="1097280" y="1837112"/>
            <a:ext cx="5147948" cy="369332"/>
          </a:xfrm>
          <a:prstGeom prst="rect">
            <a:avLst/>
          </a:prstGeom>
          <a:noFill/>
        </p:spPr>
        <p:txBody>
          <a:bodyPr wrap="none" rtlCol="0">
            <a:spAutoFit/>
          </a:bodyPr>
          <a:lstStyle/>
          <a:p>
            <a:r>
              <a:rPr lang="es-ES" dirty="0"/>
              <a:t>Una entidad </a:t>
            </a:r>
            <a:r>
              <a:rPr lang="es-ES" dirty="0" smtClean="0"/>
              <a:t>puede tener o una o muchas relaciones.</a:t>
            </a:r>
            <a:endParaRPr lang="es-ES" dirty="0"/>
          </a:p>
        </p:txBody>
      </p:sp>
      <p:pic>
        <p:nvPicPr>
          <p:cNvPr id="5" name="Imagen 4"/>
          <p:cNvPicPr>
            <a:picLocks noChangeAspect="1"/>
          </p:cNvPicPr>
          <p:nvPr/>
        </p:nvPicPr>
        <p:blipFill>
          <a:blip r:embed="rId2"/>
          <a:stretch>
            <a:fillRect/>
          </a:stretch>
        </p:blipFill>
        <p:spPr>
          <a:xfrm>
            <a:off x="1389525" y="2306196"/>
            <a:ext cx="8750935" cy="1838326"/>
          </a:xfrm>
          <a:prstGeom prst="rect">
            <a:avLst/>
          </a:prstGeom>
        </p:spPr>
      </p:pic>
      <p:sp>
        <p:nvSpPr>
          <p:cNvPr id="6" name="CuadroTexto 5"/>
          <p:cNvSpPr txBox="1"/>
          <p:nvPr/>
        </p:nvSpPr>
        <p:spPr>
          <a:xfrm>
            <a:off x="743468" y="4813069"/>
            <a:ext cx="10766024" cy="92333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s-ES" dirty="0" smtClean="0"/>
              <a:t>TRADUCCION:</a:t>
            </a:r>
          </a:p>
          <a:p>
            <a:r>
              <a:rPr lang="es-ES" dirty="0" smtClean="0"/>
              <a:t>Un grupo por narices tiene que tener un alumno o varios y un alumno por …… tiene que estar en un grupo si o si,</a:t>
            </a:r>
          </a:p>
          <a:p>
            <a:r>
              <a:rPr lang="es-ES" dirty="0" smtClean="0"/>
              <a:t>Aunque esto lo podemos discutir.</a:t>
            </a:r>
            <a:endParaRPr lang="es-ES" dirty="0"/>
          </a:p>
        </p:txBody>
      </p:sp>
      <p:sp>
        <p:nvSpPr>
          <p:cNvPr id="7" name="Rectángulo 6"/>
          <p:cNvSpPr/>
          <p:nvPr/>
        </p:nvSpPr>
        <p:spPr>
          <a:xfrm>
            <a:off x="2092037" y="286603"/>
            <a:ext cx="10099963" cy="1200329"/>
          </a:xfrm>
          <a:prstGeom prst="rect">
            <a:avLst/>
          </a:prstGeom>
        </p:spPr>
        <p:txBody>
          <a:bodyPr wrap="square">
            <a:spAutoFit/>
          </a:bodyPr>
          <a:lstStyle/>
          <a:p>
            <a:pPr marL="285750" indent="-285750">
              <a:buFont typeface="Arial" panose="020B0604020202020204" pitchFamily="34" charset="0"/>
              <a:buChar char="•"/>
            </a:pPr>
            <a:r>
              <a:rPr lang="es-ES" dirty="0"/>
              <a:t>Toda ocurrencia de "Grupo" está obligada a relacionarse con al menos una ocurrencia de "Alumno", pudiendo relacionarse con varias (todo grupo de alumnos debe tener alumnos).</a:t>
            </a:r>
          </a:p>
          <a:p>
            <a:pPr marL="285750" indent="-285750">
              <a:buFont typeface="Arial" panose="020B0604020202020204" pitchFamily="34" charset="0"/>
              <a:buChar char="•"/>
            </a:pPr>
            <a:r>
              <a:rPr lang="es-ES" dirty="0" smtClean="0"/>
              <a:t>Toda </a:t>
            </a:r>
            <a:r>
              <a:rPr lang="es-ES" dirty="0"/>
              <a:t>ocurrencia de "Alumno" está obligada a relacionarse con una y solo una ocurrencia de "Grupo" (cada alumno debe pertenecer de forma obligatoria a un grupo y solamente a uno).</a:t>
            </a:r>
          </a:p>
        </p:txBody>
      </p:sp>
      <p:pic>
        <p:nvPicPr>
          <p:cNvPr id="1026" name="Picture 2" descr="Pegatina for Sale con la obra «Arquímedes» de Disnerd99 | Redbubb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982340"/>
            <a:ext cx="1684713" cy="1684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59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wipe(down)">
                                      <p:cBhvr>
                                        <p:cTn id="14" dur="580">
                                          <p:stCondLst>
                                            <p:cond delay="0"/>
                                          </p:stCondLst>
                                        </p:cTn>
                                        <p:tgtEl>
                                          <p:spTgt spid="1026"/>
                                        </p:tgtEl>
                                      </p:cBhvr>
                                    </p:animEffect>
                                    <p:anim calcmode="lin" valueType="num">
                                      <p:cBhvr>
                                        <p:cTn id="15" dur="1822" tmFilter="0,0; 0.14,0.36; 0.43,0.73; 0.71,0.91; 1.0,1.0">
                                          <p:stCondLst>
                                            <p:cond delay="0"/>
                                          </p:stCondLst>
                                        </p:cTn>
                                        <p:tgtEl>
                                          <p:spTgt spid="1026"/>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026"/>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026"/>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026"/>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026"/>
                                        </p:tgtEl>
                                        <p:attrNameLst>
                                          <p:attrName>ppt_y</p:attrName>
                                        </p:attrNameLst>
                                      </p:cBhvr>
                                      <p:tavLst>
                                        <p:tav tm="0" fmla="#ppt_y-sin(pi*$)/81">
                                          <p:val>
                                            <p:fltVal val="0"/>
                                          </p:val>
                                        </p:tav>
                                        <p:tav tm="100000">
                                          <p:val>
                                            <p:fltVal val="1"/>
                                          </p:val>
                                        </p:tav>
                                      </p:tavLst>
                                    </p:anim>
                                    <p:animScale>
                                      <p:cBhvr>
                                        <p:cTn id="20" dur="26">
                                          <p:stCondLst>
                                            <p:cond delay="650"/>
                                          </p:stCondLst>
                                        </p:cTn>
                                        <p:tgtEl>
                                          <p:spTgt spid="1026"/>
                                        </p:tgtEl>
                                      </p:cBhvr>
                                      <p:to x="100000" y="60000"/>
                                    </p:animScale>
                                    <p:animScale>
                                      <p:cBhvr>
                                        <p:cTn id="21" dur="166" decel="50000">
                                          <p:stCondLst>
                                            <p:cond delay="676"/>
                                          </p:stCondLst>
                                        </p:cTn>
                                        <p:tgtEl>
                                          <p:spTgt spid="1026"/>
                                        </p:tgtEl>
                                      </p:cBhvr>
                                      <p:to x="100000" y="100000"/>
                                    </p:animScale>
                                    <p:animScale>
                                      <p:cBhvr>
                                        <p:cTn id="22" dur="26">
                                          <p:stCondLst>
                                            <p:cond delay="1312"/>
                                          </p:stCondLst>
                                        </p:cTn>
                                        <p:tgtEl>
                                          <p:spTgt spid="1026"/>
                                        </p:tgtEl>
                                      </p:cBhvr>
                                      <p:to x="100000" y="80000"/>
                                    </p:animScale>
                                    <p:animScale>
                                      <p:cBhvr>
                                        <p:cTn id="23" dur="166" decel="50000">
                                          <p:stCondLst>
                                            <p:cond delay="1338"/>
                                          </p:stCondLst>
                                        </p:cTn>
                                        <p:tgtEl>
                                          <p:spTgt spid="1026"/>
                                        </p:tgtEl>
                                      </p:cBhvr>
                                      <p:to x="100000" y="100000"/>
                                    </p:animScale>
                                    <p:animScale>
                                      <p:cBhvr>
                                        <p:cTn id="24" dur="26">
                                          <p:stCondLst>
                                            <p:cond delay="1642"/>
                                          </p:stCondLst>
                                        </p:cTn>
                                        <p:tgtEl>
                                          <p:spTgt spid="1026"/>
                                        </p:tgtEl>
                                      </p:cBhvr>
                                      <p:to x="100000" y="90000"/>
                                    </p:animScale>
                                    <p:animScale>
                                      <p:cBhvr>
                                        <p:cTn id="25" dur="166" decel="50000">
                                          <p:stCondLst>
                                            <p:cond delay="1668"/>
                                          </p:stCondLst>
                                        </p:cTn>
                                        <p:tgtEl>
                                          <p:spTgt spid="1026"/>
                                        </p:tgtEl>
                                      </p:cBhvr>
                                      <p:to x="100000" y="100000"/>
                                    </p:animScale>
                                    <p:animScale>
                                      <p:cBhvr>
                                        <p:cTn id="26" dur="26">
                                          <p:stCondLst>
                                            <p:cond delay="1808"/>
                                          </p:stCondLst>
                                        </p:cTn>
                                        <p:tgtEl>
                                          <p:spTgt spid="1026"/>
                                        </p:tgtEl>
                                      </p:cBhvr>
                                      <p:to x="100000" y="95000"/>
                                    </p:animScale>
                                    <p:animScale>
                                      <p:cBhvr>
                                        <p:cTn id="27" dur="166" decel="50000">
                                          <p:stCondLst>
                                            <p:cond delay="1834"/>
                                          </p:stCondLst>
                                        </p:cTn>
                                        <p:tgtEl>
                                          <p:spTgt spid="1026"/>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Ejemplos</a:t>
            </a:r>
            <a:endParaRPr lang="es-ES" dirty="0"/>
          </a:p>
        </p:txBody>
      </p:sp>
      <p:pic>
        <p:nvPicPr>
          <p:cNvPr id="3" name="Imagen 2"/>
          <p:cNvPicPr>
            <a:picLocks noChangeAspect="1"/>
          </p:cNvPicPr>
          <p:nvPr/>
        </p:nvPicPr>
        <p:blipFill>
          <a:blip r:embed="rId2"/>
          <a:stretch>
            <a:fillRect/>
          </a:stretch>
        </p:blipFill>
        <p:spPr>
          <a:xfrm>
            <a:off x="1745673" y="1812175"/>
            <a:ext cx="7692390" cy="1554480"/>
          </a:xfrm>
          <a:prstGeom prst="rect">
            <a:avLst/>
          </a:prstGeom>
        </p:spPr>
      </p:pic>
      <p:pic>
        <p:nvPicPr>
          <p:cNvPr id="4" name="Imagen 3"/>
          <p:cNvPicPr>
            <a:picLocks noChangeAspect="1"/>
          </p:cNvPicPr>
          <p:nvPr/>
        </p:nvPicPr>
        <p:blipFill>
          <a:blip r:embed="rId3"/>
          <a:stretch>
            <a:fillRect/>
          </a:stretch>
        </p:blipFill>
        <p:spPr>
          <a:xfrm>
            <a:off x="1745673" y="4006907"/>
            <a:ext cx="7638814" cy="1471179"/>
          </a:xfrm>
          <a:prstGeom prst="rect">
            <a:avLst/>
          </a:prstGeom>
        </p:spPr>
      </p:pic>
    </p:spTree>
    <p:extLst>
      <p:ext uri="{BB962C8B-B14F-4D97-AF65-F5344CB8AC3E}">
        <p14:creationId xmlns:p14="http://schemas.microsoft.com/office/powerpoint/2010/main" val="222116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1490835" y="205741"/>
            <a:ext cx="8671988" cy="1564870"/>
          </a:xfrm>
          <a:prstGeom prst="rect">
            <a:avLst/>
          </a:prstGeom>
        </p:spPr>
      </p:pic>
      <p:pic>
        <p:nvPicPr>
          <p:cNvPr id="4" name="Imagen 3"/>
          <p:cNvPicPr>
            <a:picLocks noChangeAspect="1"/>
          </p:cNvPicPr>
          <p:nvPr/>
        </p:nvPicPr>
        <p:blipFill>
          <a:blip r:embed="rId3"/>
          <a:stretch>
            <a:fillRect/>
          </a:stretch>
        </p:blipFill>
        <p:spPr>
          <a:xfrm>
            <a:off x="1490835" y="2795414"/>
            <a:ext cx="8497068" cy="1818150"/>
          </a:xfrm>
          <a:prstGeom prst="rect">
            <a:avLst/>
          </a:prstGeom>
        </p:spPr>
      </p:pic>
      <p:sp>
        <p:nvSpPr>
          <p:cNvPr id="5" name="CuadroTexto 4"/>
          <p:cNvSpPr txBox="1"/>
          <p:nvPr/>
        </p:nvSpPr>
        <p:spPr>
          <a:xfrm>
            <a:off x="3914901" y="4680066"/>
            <a:ext cx="3823855"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s-ES" dirty="0" smtClean="0"/>
              <a:t>ESTA ULTIMA DISCUTIBLE QUE FLIPAS</a:t>
            </a:r>
            <a:endParaRPr lang="es-ES" dirty="0"/>
          </a:p>
        </p:txBody>
      </p:sp>
    </p:spTree>
    <p:extLst>
      <p:ext uri="{BB962C8B-B14F-4D97-AF65-F5344CB8AC3E}">
        <p14:creationId xmlns:p14="http://schemas.microsoft.com/office/powerpoint/2010/main" val="184163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295833" y="247129"/>
            <a:ext cx="9402724" cy="1839365"/>
          </a:xfrm>
          <a:prstGeom prst="rect">
            <a:avLst/>
          </a:prstGeom>
        </p:spPr>
      </p:pic>
      <p:sp>
        <p:nvSpPr>
          <p:cNvPr id="3" name="CuadroTexto 2"/>
          <p:cNvSpPr txBox="1"/>
          <p:nvPr/>
        </p:nvSpPr>
        <p:spPr>
          <a:xfrm>
            <a:off x="1388225" y="2286000"/>
            <a:ext cx="6634637" cy="400110"/>
          </a:xfrm>
          <a:prstGeom prst="rect">
            <a:avLst/>
          </a:prstGeom>
          <a:noFill/>
        </p:spPr>
        <p:txBody>
          <a:bodyPr wrap="none" rtlCol="0">
            <a:spAutoFit/>
          </a:bodyPr>
          <a:lstStyle/>
          <a:p>
            <a:r>
              <a:rPr lang="es-ES" sz="2000" dirty="0" smtClean="0"/>
              <a:t>Aquí para ser socio si necesitas pillar un libro, venga hombre…</a:t>
            </a:r>
            <a:endParaRPr lang="es-ES" sz="2000" dirty="0"/>
          </a:p>
        </p:txBody>
      </p:sp>
      <p:pic>
        <p:nvPicPr>
          <p:cNvPr id="2050" name="Picture 2" descr="MEMES defienden a Samy Rivers por el robo en La Velada del Año 3 - La  streamer mexicana, Samy Rivers, perdió en su... | MARCA.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6332" y="3018256"/>
            <a:ext cx="4590992" cy="306305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p:cNvSpPr txBox="1"/>
          <p:nvPr/>
        </p:nvSpPr>
        <p:spPr>
          <a:xfrm>
            <a:off x="1449184" y="3726872"/>
            <a:ext cx="5550132"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s-ES" sz="2000" dirty="0" smtClean="0"/>
              <a:t>Para ser socio necesitas si o si haber cogido un libro, obviamente un socio puede coger varios.</a:t>
            </a:r>
          </a:p>
          <a:p>
            <a:r>
              <a:rPr lang="es-ES" sz="2000" dirty="0" smtClean="0"/>
              <a:t>Un libro puede haberse prestado a uno varios o ningún socio.</a:t>
            </a:r>
            <a:endParaRPr lang="es-ES" sz="2000" dirty="0"/>
          </a:p>
        </p:txBody>
      </p:sp>
    </p:spTree>
    <p:extLst>
      <p:ext uri="{BB962C8B-B14F-4D97-AF65-F5344CB8AC3E}">
        <p14:creationId xmlns:p14="http://schemas.microsoft.com/office/powerpoint/2010/main" val="366365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1000"/>
                                        <p:tgtEl>
                                          <p:spTgt spid="2050"/>
                                        </p:tgtEl>
                                      </p:cBhvr>
                                    </p:animEffect>
                                    <p:anim calcmode="lin" valueType="num">
                                      <p:cBhvr>
                                        <p:cTn id="13" dur="1000" fill="hold"/>
                                        <p:tgtEl>
                                          <p:spTgt spid="2050"/>
                                        </p:tgtEl>
                                        <p:attrNameLst>
                                          <p:attrName>ppt_x</p:attrName>
                                        </p:attrNameLst>
                                      </p:cBhvr>
                                      <p:tavLst>
                                        <p:tav tm="0">
                                          <p:val>
                                            <p:strVal val="#ppt_x"/>
                                          </p:val>
                                        </p:tav>
                                        <p:tav tm="100000">
                                          <p:val>
                                            <p:strVal val="#ppt_x"/>
                                          </p:val>
                                        </p:tav>
                                      </p:tavLst>
                                    </p:anim>
                                    <p:anim calcmode="lin" valueType="num">
                                      <p:cBhvr>
                                        <p:cTn id="14"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878338" y="360216"/>
            <a:ext cx="9222105" cy="4110733"/>
          </a:xfrm>
          <a:prstGeom prst="rect">
            <a:avLst/>
          </a:prstGeom>
        </p:spPr>
      </p:pic>
      <p:sp>
        <p:nvSpPr>
          <p:cNvPr id="3" name="CuadroTexto 2"/>
          <p:cNvSpPr txBox="1"/>
          <p:nvPr/>
        </p:nvSpPr>
        <p:spPr>
          <a:xfrm>
            <a:off x="3200399" y="4696690"/>
            <a:ext cx="4577985"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s-ES" dirty="0" smtClean="0"/>
              <a:t>¿QUIEN ES EL VALIENTE QUE ME LO TRADUCE?</a:t>
            </a:r>
            <a:endParaRPr lang="es-ES" dirty="0"/>
          </a:p>
        </p:txBody>
      </p:sp>
    </p:spTree>
    <p:extLst>
      <p:ext uri="{BB962C8B-B14F-4D97-AF65-F5344CB8AC3E}">
        <p14:creationId xmlns:p14="http://schemas.microsoft.com/office/powerpoint/2010/main" val="17962159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smtClean="0"/>
              <a:t>ACTIVIDAD</a:t>
            </a:r>
            <a:endParaRPr lang="es-ES" dirty="0"/>
          </a:p>
        </p:txBody>
      </p:sp>
      <p:sp>
        <p:nvSpPr>
          <p:cNvPr id="5" name="Marcador de contenido 4"/>
          <p:cNvSpPr>
            <a:spLocks noGrp="1"/>
          </p:cNvSpPr>
          <p:nvPr>
            <p:ph idx="1"/>
          </p:nvPr>
        </p:nvSpPr>
        <p:spPr>
          <a:xfrm>
            <a:off x="1097280" y="2652068"/>
            <a:ext cx="10058400" cy="914091"/>
          </a:xfrm>
        </p:spPr>
        <p:style>
          <a:lnRef idx="2">
            <a:schemeClr val="accent2"/>
          </a:lnRef>
          <a:fillRef idx="1">
            <a:schemeClr val="lt1"/>
          </a:fillRef>
          <a:effectRef idx="0">
            <a:schemeClr val="accent2"/>
          </a:effectRef>
          <a:fontRef idx="minor">
            <a:schemeClr val="dk1"/>
          </a:fontRef>
        </p:style>
        <p:txBody>
          <a:bodyPr>
            <a:noAutofit/>
          </a:bodyPr>
          <a:lstStyle/>
          <a:p>
            <a:pPr algn="just"/>
            <a:r>
              <a:rPr lang="es-ES" sz="2800" dirty="0" smtClean="0"/>
              <a:t>Añadir tanto la ORDINALIDAD como la CARDINALIDAD a vuestro pequeño diagrama entidad relacion. </a:t>
            </a:r>
            <a:endParaRPr lang="es-ES" sz="2800" dirty="0"/>
          </a:p>
        </p:txBody>
      </p:sp>
    </p:spTree>
    <p:extLst>
      <p:ext uri="{BB962C8B-B14F-4D97-AF65-F5344CB8AC3E}">
        <p14:creationId xmlns:p14="http://schemas.microsoft.com/office/powerpoint/2010/main" val="7737537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764771"/>
            <a:ext cx="10058400" cy="972589"/>
          </a:xfrm>
        </p:spPr>
        <p:txBody>
          <a:bodyPr/>
          <a:lstStyle/>
          <a:p>
            <a:r>
              <a:rPr lang="es-ES" dirty="0" smtClean="0"/>
              <a:t>A PRACTICAR</a:t>
            </a:r>
            <a:endParaRPr lang="es-ES" dirty="0"/>
          </a:p>
        </p:txBody>
      </p:sp>
      <p:sp>
        <p:nvSpPr>
          <p:cNvPr id="5" name="Rectángulo 4"/>
          <p:cNvSpPr/>
          <p:nvPr/>
        </p:nvSpPr>
        <p:spPr>
          <a:xfrm>
            <a:off x="889461" y="1978429"/>
            <a:ext cx="10465723" cy="378565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s-ES" sz="2000" dirty="0"/>
              <a:t>"Cierta compañía comercializa una variedad de productos a múltiples clientes. Para llevar un registro adecuado, es esencial recopilar información personal de los clientes, como sus nombres, apellidos, números de identificación, direcciones y fechas de nacimiento. Cada producto en el inventario posee un nombre, un código de identificación único y un precio unitario. Es importante destacar que un cliente tiene la posibilidad de adquirir varios productos de la empresa, y al mismo tiempo, un mismo producto puede ser comprado por distintos clientes.</a:t>
            </a:r>
          </a:p>
          <a:p>
            <a:pPr algn="just"/>
            <a:endParaRPr lang="es-ES" sz="2000" dirty="0"/>
          </a:p>
          <a:p>
            <a:pPr algn="just"/>
            <a:r>
              <a:rPr lang="es-ES" sz="2000" dirty="0"/>
              <a:t>Los productos que la empresa ofrece son proporcionados por diferentes proveedores. Es fundamental tener en consideración que un producto en particular solamente puede ser suministrado por un único proveedor, aunque un mismo proveedor puede ofrecer diversos productos. De cada proveedor, se requiere disponer de información tal como su número de identificación fiscal (NIF), nombre y dirección para propósitos de registro y gestión."</a:t>
            </a:r>
          </a:p>
        </p:txBody>
      </p:sp>
    </p:spTree>
    <p:extLst>
      <p:ext uri="{BB962C8B-B14F-4D97-AF65-F5344CB8AC3E}">
        <p14:creationId xmlns:p14="http://schemas.microsoft.com/office/powerpoint/2010/main" val="39862834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091300" y="1844126"/>
            <a:ext cx="7910845" cy="3176324"/>
          </a:xfrm>
          <a:prstGeom prst="rect">
            <a:avLst/>
          </a:prstGeom>
        </p:spPr>
      </p:pic>
      <p:sp>
        <p:nvSpPr>
          <p:cNvPr id="5" name="Rectángulo 4"/>
          <p:cNvSpPr/>
          <p:nvPr/>
        </p:nvSpPr>
        <p:spPr>
          <a:xfrm>
            <a:off x="1313300" y="5020450"/>
            <a:ext cx="9466847" cy="1200329"/>
          </a:xfrm>
          <a:prstGeom prst="rect">
            <a:avLst/>
          </a:prstGeom>
        </p:spPr>
        <p:txBody>
          <a:bodyPr wrap="square">
            <a:spAutoFit/>
          </a:bodyPr>
          <a:lstStyle/>
          <a:p>
            <a:pPr algn="just"/>
            <a:r>
              <a:rPr lang="es-ES" sz="2400" dirty="0" smtClean="0"/>
              <a:t>Esta figura ilustra, a modo de ejemplo, la problemática a partir de la cual surgen los atributos de relación en el contexto de un diagrama entidad/relación.</a:t>
            </a:r>
            <a:endParaRPr lang="es-ES" sz="2400" dirty="0"/>
          </a:p>
        </p:txBody>
      </p:sp>
      <p:sp>
        <p:nvSpPr>
          <p:cNvPr id="6" name="Rectángulo 5"/>
          <p:cNvSpPr/>
          <p:nvPr/>
        </p:nvSpPr>
        <p:spPr>
          <a:xfrm>
            <a:off x="1124878" y="1149491"/>
            <a:ext cx="9466847" cy="584775"/>
          </a:xfrm>
          <a:prstGeom prst="rect">
            <a:avLst/>
          </a:prstGeom>
        </p:spPr>
        <p:txBody>
          <a:bodyPr wrap="square">
            <a:spAutoFit/>
          </a:bodyPr>
          <a:lstStyle/>
          <a:p>
            <a:pPr algn="just"/>
            <a:r>
              <a:rPr lang="es-ES" sz="3200" dirty="0" smtClean="0"/>
              <a:t>ATRIBUTOS DE RELACION</a:t>
            </a:r>
            <a:endParaRPr lang="es-ES" sz="3200" dirty="0"/>
          </a:p>
        </p:txBody>
      </p:sp>
    </p:spTree>
    <p:extLst>
      <p:ext uri="{BB962C8B-B14F-4D97-AF65-F5344CB8AC3E}">
        <p14:creationId xmlns:p14="http://schemas.microsoft.com/office/powerpoint/2010/main" val="33843158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883482" y="131705"/>
            <a:ext cx="7910845" cy="3176324"/>
          </a:xfrm>
          <a:prstGeom prst="rect">
            <a:avLst/>
          </a:prstGeom>
        </p:spPr>
      </p:pic>
      <p:sp>
        <p:nvSpPr>
          <p:cNvPr id="5" name="Rectángulo 4"/>
          <p:cNvSpPr/>
          <p:nvPr/>
        </p:nvSpPr>
        <p:spPr>
          <a:xfrm>
            <a:off x="523591" y="3557410"/>
            <a:ext cx="11155791" cy="1569660"/>
          </a:xfrm>
          <a:prstGeom prst="rect">
            <a:avLst/>
          </a:prstGeom>
        </p:spPr>
        <p:txBody>
          <a:bodyPr wrap="square">
            <a:spAutoFit/>
          </a:bodyPr>
          <a:lstStyle/>
          <a:p>
            <a:pPr algn="just"/>
            <a:r>
              <a:rPr lang="es-ES" sz="2400" dirty="0" smtClean="0"/>
              <a:t>Fecha de préstamo es un dato interesante dentro de la relacion, pero tenemos un problemas.</a:t>
            </a:r>
          </a:p>
          <a:p>
            <a:pPr algn="just"/>
            <a:r>
              <a:rPr lang="es-ES" sz="2400" dirty="0" smtClean="0"/>
              <a:t>Si ponemos fecha de préstamo en socio estos solo podrían obtener un libro.</a:t>
            </a:r>
          </a:p>
          <a:p>
            <a:pPr algn="just"/>
            <a:r>
              <a:rPr lang="es-ES" sz="2400" dirty="0" smtClean="0"/>
              <a:t>Si ponemos la fecha de préstamo en libro entonces solo podrían ser prestados una vez.</a:t>
            </a:r>
          </a:p>
        </p:txBody>
      </p:sp>
      <p:sp>
        <p:nvSpPr>
          <p:cNvPr id="6" name="Rectángulo 5"/>
          <p:cNvSpPr/>
          <p:nvPr/>
        </p:nvSpPr>
        <p:spPr>
          <a:xfrm>
            <a:off x="523591" y="5480457"/>
            <a:ext cx="7471982" cy="52322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lgn="just"/>
            <a:r>
              <a:rPr lang="es-ES" sz="2800" dirty="0"/>
              <a:t>Suele arreglarse con una tabla auxiliar </a:t>
            </a:r>
            <a:r>
              <a:rPr lang="es-ES" sz="2800" dirty="0" err="1"/>
              <a:t>socio_libro</a:t>
            </a:r>
            <a:r>
              <a:rPr lang="es-ES" sz="2800" dirty="0"/>
              <a:t>.</a:t>
            </a:r>
            <a:endParaRPr lang="es-ES" sz="2800" dirty="0"/>
          </a:p>
        </p:txBody>
      </p:sp>
    </p:spTree>
    <p:extLst>
      <p:ext uri="{BB962C8B-B14F-4D97-AF65-F5344CB8AC3E}">
        <p14:creationId xmlns:p14="http://schemas.microsoft.com/office/powerpoint/2010/main" val="421539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randombar(horizontal)">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223145"/>
            <a:ext cx="7910845" cy="3176324"/>
          </a:xfrm>
          <a:prstGeom prst="rect">
            <a:avLst/>
          </a:prstGeom>
        </p:spPr>
      </p:pic>
      <p:pic>
        <p:nvPicPr>
          <p:cNvPr id="3" name="Imagen 2"/>
          <p:cNvPicPr>
            <a:picLocks noChangeAspect="1"/>
          </p:cNvPicPr>
          <p:nvPr/>
        </p:nvPicPr>
        <p:blipFill>
          <a:blip r:embed="rId3"/>
          <a:stretch>
            <a:fillRect/>
          </a:stretch>
        </p:blipFill>
        <p:spPr>
          <a:xfrm>
            <a:off x="3490738" y="3752416"/>
            <a:ext cx="8092372" cy="1958428"/>
          </a:xfrm>
          <a:prstGeom prst="rect">
            <a:avLst/>
          </a:prstGeom>
        </p:spPr>
      </p:pic>
    </p:spTree>
    <p:extLst>
      <p:ext uri="{BB962C8B-B14F-4D97-AF65-F5344CB8AC3E}">
        <p14:creationId xmlns:p14="http://schemas.microsoft.com/office/powerpoint/2010/main" val="37005424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79120" y="531983"/>
            <a:ext cx="10485119" cy="397031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
              <a:buFont typeface="Arial" panose="020B0604020202020204" pitchFamily="34" charset="0"/>
              <a:buChar char="•"/>
            </a:pPr>
            <a:r>
              <a:rPr lang="es-ES" sz="2800" dirty="0" smtClean="0"/>
              <a:t>La </a:t>
            </a:r>
            <a:r>
              <a:rPr lang="es-ES" sz="2800" dirty="0"/>
              <a:t>fecha de adquisición del libro por parte de la biblioteca es un dato que refleja un evento que sucede solamente una vez por cada libro, por lo que corresponde a la entidad "Libro".</a:t>
            </a:r>
          </a:p>
          <a:p>
            <a:pPr marL="285750" indent="-285750" algn="just">
              <a:buFont typeface="Arial" panose="020B0604020202020204" pitchFamily="34" charset="0"/>
              <a:buChar char="•"/>
            </a:pPr>
            <a:r>
              <a:rPr lang="es-ES" sz="2800" dirty="0"/>
              <a:t>El número de libros adquirido por cada socio en el momento del préstamo es </a:t>
            </a:r>
            <a:r>
              <a:rPr lang="es-ES" sz="2800" dirty="0" smtClean="0"/>
              <a:t>distinto </a:t>
            </a:r>
            <a:r>
              <a:rPr lang="es-ES" sz="2800" dirty="0"/>
              <a:t>para cada socio, pero también varía por cada uno de los préstamos, por lo que no puede figurar ni en "Socio" ni en "Libro</a:t>
            </a:r>
            <a:r>
              <a:rPr lang="es-ES" sz="2800" dirty="0" smtClean="0"/>
              <a:t>". Es </a:t>
            </a:r>
            <a:r>
              <a:rPr lang="es-ES" sz="2800" dirty="0"/>
              <a:t>un atributo de relación.</a:t>
            </a:r>
          </a:p>
          <a:p>
            <a:pPr marL="285750" indent="-285750" algn="just">
              <a:buFont typeface="Arial" panose="020B0604020202020204" pitchFamily="34" charset="0"/>
              <a:buChar char="•"/>
            </a:pPr>
            <a:r>
              <a:rPr lang="es-ES" sz="2800" dirty="0"/>
              <a:t>El correo electrónico del socio corresponde únicamente a la entidad "Socio".</a:t>
            </a:r>
          </a:p>
        </p:txBody>
      </p:sp>
      <p:sp>
        <p:nvSpPr>
          <p:cNvPr id="4" name="CuadroTexto 3"/>
          <p:cNvSpPr txBox="1"/>
          <p:nvPr/>
        </p:nvSpPr>
        <p:spPr>
          <a:xfrm>
            <a:off x="9385069" y="4779818"/>
            <a:ext cx="1539589" cy="369332"/>
          </a:xfrm>
          <a:prstGeom prst="rect">
            <a:avLst/>
          </a:prstGeom>
          <a:noFill/>
        </p:spPr>
        <p:txBody>
          <a:bodyPr wrap="none" rtlCol="0">
            <a:spAutoFit/>
          </a:bodyPr>
          <a:lstStyle/>
          <a:p>
            <a:r>
              <a:rPr lang="es-ES" dirty="0" smtClean="0"/>
              <a:t>Yo lo discutiría</a:t>
            </a:r>
            <a:endParaRPr lang="es-ES" dirty="0"/>
          </a:p>
        </p:txBody>
      </p:sp>
    </p:spTree>
    <p:extLst>
      <p:ext uri="{BB962C8B-B14F-4D97-AF65-F5344CB8AC3E}">
        <p14:creationId xmlns:p14="http://schemas.microsoft.com/office/powerpoint/2010/main" val="14554244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CLAVE PRIMARIA</a:t>
            </a:r>
            <a:endParaRPr lang="es-ES" dirty="0"/>
          </a:p>
        </p:txBody>
      </p:sp>
      <p:sp>
        <p:nvSpPr>
          <p:cNvPr id="3" name="CuadroTexto 2"/>
          <p:cNvSpPr txBox="1"/>
          <p:nvPr/>
        </p:nvSpPr>
        <p:spPr>
          <a:xfrm>
            <a:off x="1097280" y="1828800"/>
            <a:ext cx="6839436" cy="1200329"/>
          </a:xfrm>
          <a:prstGeom prst="rect">
            <a:avLst/>
          </a:prstGeom>
          <a:noFill/>
        </p:spPr>
        <p:txBody>
          <a:bodyPr wrap="none" rtlCol="0">
            <a:spAutoFit/>
          </a:bodyPr>
          <a:lstStyle/>
          <a:p>
            <a:r>
              <a:rPr lang="es-ES" dirty="0" smtClean="0"/>
              <a:t>Atributo que identifica de forma UNIVOCA cada una de las ocurrencias.</a:t>
            </a:r>
          </a:p>
          <a:p>
            <a:endParaRPr lang="es-ES" dirty="0"/>
          </a:p>
          <a:p>
            <a:r>
              <a:rPr lang="es-ES" dirty="0" smtClean="0"/>
              <a:t>Ejemplos:</a:t>
            </a:r>
          </a:p>
          <a:p>
            <a:r>
              <a:rPr lang="es-ES" dirty="0"/>
              <a:t>	</a:t>
            </a:r>
            <a:r>
              <a:rPr lang="es-ES" dirty="0" smtClean="0"/>
              <a:t>DNI, ISBN, </a:t>
            </a:r>
            <a:r>
              <a:rPr lang="es-ES" dirty="0" err="1" smtClean="0"/>
              <a:t>NºSERIE</a:t>
            </a:r>
            <a:r>
              <a:rPr lang="es-ES" dirty="0" smtClean="0"/>
              <a:t>, VIN, CODIGO DE BARRAS,…</a:t>
            </a:r>
            <a:endParaRPr lang="es-ES" dirty="0"/>
          </a:p>
        </p:txBody>
      </p:sp>
      <p:pic>
        <p:nvPicPr>
          <p:cNvPr id="4" name="Imagen 3"/>
          <p:cNvPicPr>
            <a:picLocks noChangeAspect="1"/>
          </p:cNvPicPr>
          <p:nvPr/>
        </p:nvPicPr>
        <p:blipFill>
          <a:blip r:embed="rId2"/>
          <a:stretch>
            <a:fillRect/>
          </a:stretch>
        </p:blipFill>
        <p:spPr>
          <a:xfrm>
            <a:off x="2559367" y="3192693"/>
            <a:ext cx="7134225" cy="2733675"/>
          </a:xfrm>
          <a:prstGeom prst="rect">
            <a:avLst/>
          </a:prstGeom>
        </p:spPr>
      </p:pic>
    </p:spTree>
    <p:extLst>
      <p:ext uri="{BB962C8B-B14F-4D97-AF65-F5344CB8AC3E}">
        <p14:creationId xmlns:p14="http://schemas.microsoft.com/office/powerpoint/2010/main" val="208533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822961" y="598517"/>
            <a:ext cx="7294048" cy="1569660"/>
          </a:xfrm>
          <a:prstGeom prst="rect">
            <a:avLst/>
          </a:prstGeom>
          <a:noFill/>
        </p:spPr>
        <p:txBody>
          <a:bodyPr wrap="none" rtlCol="0">
            <a:spAutoFit/>
          </a:bodyPr>
          <a:lstStyle/>
          <a:p>
            <a:r>
              <a:rPr lang="es-ES" sz="2400" dirty="0" smtClean="0"/>
              <a:t>La clave primaria debe tener 4 características:</a:t>
            </a:r>
          </a:p>
          <a:p>
            <a:pPr marL="742950" lvl="1" indent="-285750">
              <a:buFont typeface="Arial" panose="020B0604020202020204" pitchFamily="34" charset="0"/>
              <a:buChar char="•"/>
            </a:pPr>
            <a:r>
              <a:rPr lang="es-ES" dirty="0" smtClean="0"/>
              <a:t>UNICIDAD</a:t>
            </a:r>
          </a:p>
          <a:p>
            <a:pPr marL="742950" lvl="1" indent="-285750">
              <a:buFont typeface="Arial" panose="020B0604020202020204" pitchFamily="34" charset="0"/>
              <a:buChar char="•"/>
            </a:pPr>
            <a:r>
              <a:rPr lang="es-ES" dirty="0" smtClean="0"/>
              <a:t>NO NULOS</a:t>
            </a:r>
          </a:p>
          <a:p>
            <a:pPr marL="742950" lvl="1" indent="-285750">
              <a:buFont typeface="Arial" panose="020B0604020202020204" pitchFamily="34" charset="0"/>
              <a:buChar char="•"/>
            </a:pPr>
            <a:r>
              <a:rPr lang="es-ES" dirty="0" smtClean="0"/>
              <a:t>UTILIDAD</a:t>
            </a:r>
          </a:p>
          <a:p>
            <a:pPr marL="742950" lvl="1" indent="-285750">
              <a:buFont typeface="Arial" panose="020B0604020202020204" pitchFamily="34" charset="0"/>
              <a:buChar char="•"/>
            </a:pPr>
            <a:r>
              <a:rPr lang="es-ES" dirty="0" smtClean="0"/>
              <a:t>SOLO PUEDE HABER UNA (CUIDADO, pueden existir PK compuestas)</a:t>
            </a:r>
            <a:endParaRPr lang="es-ES" dirty="0"/>
          </a:p>
        </p:txBody>
      </p:sp>
      <p:sp>
        <p:nvSpPr>
          <p:cNvPr id="4" name="CuadroTexto 3"/>
          <p:cNvSpPr txBox="1"/>
          <p:nvPr/>
        </p:nvSpPr>
        <p:spPr>
          <a:xfrm>
            <a:off x="1853739" y="2834640"/>
            <a:ext cx="7835799"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s-ES" dirty="0" smtClean="0"/>
              <a:t>Una clave CANDIDATA es aquella que tiene las características de PK pero no es tal.</a:t>
            </a:r>
            <a:endParaRPr lang="es-ES" dirty="0"/>
          </a:p>
        </p:txBody>
      </p:sp>
      <p:pic>
        <p:nvPicPr>
          <p:cNvPr id="6" name="Imagen 5"/>
          <p:cNvPicPr>
            <a:picLocks noChangeAspect="1"/>
          </p:cNvPicPr>
          <p:nvPr/>
        </p:nvPicPr>
        <p:blipFill>
          <a:blip r:embed="rId2"/>
          <a:stretch>
            <a:fillRect/>
          </a:stretch>
        </p:blipFill>
        <p:spPr>
          <a:xfrm>
            <a:off x="4085713" y="3473161"/>
            <a:ext cx="3371850" cy="2571750"/>
          </a:xfrm>
          <a:prstGeom prst="rect">
            <a:avLst/>
          </a:prstGeom>
        </p:spPr>
      </p:pic>
    </p:spTree>
    <p:extLst>
      <p:ext uri="{BB962C8B-B14F-4D97-AF65-F5344CB8AC3E}">
        <p14:creationId xmlns:p14="http://schemas.microsoft.com/office/powerpoint/2010/main" val="148028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PK compuesta</a:t>
            </a:r>
            <a:endParaRPr lang="es-ES" dirty="0"/>
          </a:p>
        </p:txBody>
      </p:sp>
      <p:pic>
        <p:nvPicPr>
          <p:cNvPr id="3" name="Imagen 2"/>
          <p:cNvPicPr>
            <a:picLocks noChangeAspect="1"/>
          </p:cNvPicPr>
          <p:nvPr/>
        </p:nvPicPr>
        <p:blipFill>
          <a:blip r:embed="rId2"/>
          <a:stretch>
            <a:fillRect/>
          </a:stretch>
        </p:blipFill>
        <p:spPr>
          <a:xfrm>
            <a:off x="4135610" y="2033068"/>
            <a:ext cx="3981739" cy="3993660"/>
          </a:xfrm>
          <a:prstGeom prst="rect">
            <a:avLst/>
          </a:prstGeom>
        </p:spPr>
      </p:pic>
    </p:spTree>
    <p:extLst>
      <p:ext uri="{BB962C8B-B14F-4D97-AF65-F5344CB8AC3E}">
        <p14:creationId xmlns:p14="http://schemas.microsoft.com/office/powerpoint/2010/main" val="22065272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Actividad</a:t>
            </a:r>
            <a:endParaRPr lang="es-ES" dirty="0"/>
          </a:p>
        </p:txBody>
      </p:sp>
      <p:sp>
        <p:nvSpPr>
          <p:cNvPr id="3" name="Rectángulo 2"/>
          <p:cNvSpPr/>
          <p:nvPr/>
        </p:nvSpPr>
        <p:spPr>
          <a:xfrm>
            <a:off x="1097280" y="3474689"/>
            <a:ext cx="10485119"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
              <a:buFont typeface="Arial" panose="020B0604020202020204" pitchFamily="34" charset="0"/>
              <a:buChar char="•"/>
            </a:pPr>
            <a:r>
              <a:rPr lang="es-ES" sz="2800" dirty="0" smtClean="0"/>
              <a:t>Pon 3 ejemplos que se te ocurran de posible PK compuestas.</a:t>
            </a:r>
            <a:endParaRPr lang="es-ES" sz="2800" dirty="0"/>
          </a:p>
        </p:txBody>
      </p:sp>
    </p:spTree>
    <p:extLst>
      <p:ext uri="{BB962C8B-B14F-4D97-AF65-F5344CB8AC3E}">
        <p14:creationId xmlns:p14="http://schemas.microsoft.com/office/powerpoint/2010/main" val="408797669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07818" y="524498"/>
            <a:ext cx="11859491" cy="532453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s-ES" sz="2000" dirty="0">
                <a:solidFill>
                  <a:srgbClr val="374151"/>
                </a:solidFill>
                <a:latin typeface="Söhne"/>
              </a:rPr>
              <a:t>"Se busca modernizar la administración de una empresa de transporte que realiza la entrega de paquetes en toda España. Los encargados de transportar los paquetes son los conductores de camiones, de los cuales se desea mantener un registro que incluye su número de identificación (DNI), nombre, número de teléfono, dirección, salario y la localidad donde residen. Cada conductor maneja múltiples paquetes, y un paquete específico solamente puede ser entregado por un único conductor.</a:t>
            </a:r>
          </a:p>
          <a:p>
            <a:pPr algn="just"/>
            <a:r>
              <a:rPr lang="es-ES" sz="2000" dirty="0">
                <a:solidFill>
                  <a:srgbClr val="374151"/>
                </a:solidFill>
                <a:latin typeface="Söhne"/>
              </a:rPr>
              <a:t>Con respecto a los paquetes transportados, se requiere conocer su código único, una descripción del contenido, el destinatario y la dirección del destinatario. Un conductor se encarga de entregar varios paquetes, pero cada paquete está asignado a un único conductor</a:t>
            </a:r>
            <a:r>
              <a:rPr lang="es-ES" sz="2000" dirty="0" smtClean="0">
                <a:solidFill>
                  <a:srgbClr val="374151"/>
                </a:solidFill>
                <a:latin typeface="Söhne"/>
              </a:rPr>
              <a:t>.</a:t>
            </a:r>
          </a:p>
          <a:p>
            <a:pPr algn="just"/>
            <a:endParaRPr lang="es-ES" sz="2000" dirty="0">
              <a:solidFill>
                <a:srgbClr val="374151"/>
              </a:solidFill>
              <a:latin typeface="Söhne"/>
            </a:endParaRPr>
          </a:p>
          <a:p>
            <a:pPr algn="just"/>
            <a:r>
              <a:rPr lang="es-ES" sz="2000" dirty="0">
                <a:solidFill>
                  <a:srgbClr val="374151"/>
                </a:solidFill>
                <a:latin typeface="Söhne"/>
              </a:rPr>
              <a:t>En relación a las provincias a las que llegan los paquetes, se desea almacenar el código de identificación de la provincia y su nombre. Cada paquete tiene como destino una única provincia, aunque es posible que múltiples paquetes lleguen a la misma provincia</a:t>
            </a:r>
            <a:r>
              <a:rPr lang="es-ES" sz="2000" dirty="0" smtClean="0">
                <a:solidFill>
                  <a:srgbClr val="374151"/>
                </a:solidFill>
                <a:latin typeface="Söhne"/>
              </a:rPr>
              <a:t>.</a:t>
            </a:r>
          </a:p>
          <a:p>
            <a:pPr algn="just"/>
            <a:endParaRPr lang="es-ES" sz="2000" dirty="0">
              <a:solidFill>
                <a:srgbClr val="374151"/>
              </a:solidFill>
              <a:latin typeface="Söhne"/>
            </a:endParaRPr>
          </a:p>
          <a:p>
            <a:pPr algn="just"/>
            <a:r>
              <a:rPr lang="es-ES" sz="2000" dirty="0">
                <a:solidFill>
                  <a:srgbClr val="374151"/>
                </a:solidFill>
                <a:latin typeface="Söhne"/>
              </a:rPr>
              <a:t>En lo que respecta a los camiones utilizados por los conductores, se busca obtener información detallada, como la matrícula, el modelo, el tipo y la potencia del camión. Cada conductor puede operar diferentes camiones en distintas fechas, y un mismo camión puede ser conducido por varios conductores en momentos diferentes."</a:t>
            </a:r>
            <a:endParaRPr lang="es-ES" sz="2000" b="0" i="0" dirty="0">
              <a:solidFill>
                <a:srgbClr val="374151"/>
              </a:solidFill>
              <a:effectLst/>
              <a:latin typeface="Söhne"/>
            </a:endParaRPr>
          </a:p>
        </p:txBody>
      </p:sp>
    </p:spTree>
    <p:extLst>
      <p:ext uri="{BB962C8B-B14F-4D97-AF65-F5344CB8AC3E}">
        <p14:creationId xmlns:p14="http://schemas.microsoft.com/office/powerpoint/2010/main" val="9970802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Diagrama entidad/relación extendido</a:t>
            </a:r>
            <a:endParaRPr lang="es-ES" dirty="0"/>
          </a:p>
        </p:txBody>
      </p:sp>
      <p:sp>
        <p:nvSpPr>
          <p:cNvPr id="3" name="Marcador de contenido 2"/>
          <p:cNvSpPr>
            <a:spLocks noGrp="1"/>
          </p:cNvSpPr>
          <p:nvPr>
            <p:ph idx="1"/>
          </p:nvPr>
        </p:nvSpPr>
        <p:spPr/>
        <p:txBody>
          <a:bodyPr/>
          <a:lstStyle/>
          <a:p>
            <a:r>
              <a:rPr lang="es-ES" dirty="0" err="1" smtClean="0"/>
              <a:t>Ampliacion</a:t>
            </a:r>
            <a:r>
              <a:rPr lang="es-ES" dirty="0" smtClean="0"/>
              <a:t> de la magnitud semántica del DER.</a:t>
            </a:r>
            <a:endParaRPr lang="es-ES" dirty="0"/>
          </a:p>
        </p:txBody>
      </p:sp>
    </p:spTree>
    <p:extLst>
      <p:ext uri="{BB962C8B-B14F-4D97-AF65-F5344CB8AC3E}">
        <p14:creationId xmlns:p14="http://schemas.microsoft.com/office/powerpoint/2010/main" val="3217207688"/>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215</TotalTime>
  <Words>1510</Words>
  <Application>Microsoft Office PowerPoint</Application>
  <PresentationFormat>Panorámica</PresentationFormat>
  <Paragraphs>130</Paragraphs>
  <Slides>40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40</vt:i4>
      </vt:variant>
    </vt:vector>
  </HeadingPairs>
  <TitlesOfParts>
    <vt:vector size="46" baseType="lpstr">
      <vt:lpstr>Arial</vt:lpstr>
      <vt:lpstr>Arial Rounded MT Bold</vt:lpstr>
      <vt:lpstr>Calibri</vt:lpstr>
      <vt:lpstr>Calibri Light</vt:lpstr>
      <vt:lpstr>Söhne</vt:lpstr>
      <vt:lpstr>Retrospección</vt:lpstr>
      <vt:lpstr>TEMA 2.2</vt:lpstr>
      <vt:lpstr>DIAGRAMA ENTIDAD/RELACION (DER)</vt:lpstr>
      <vt:lpstr>ELEMENTOS</vt:lpstr>
      <vt:lpstr>ENTIDAD</vt:lpstr>
      <vt:lpstr>ATRIBUTO</vt:lpstr>
      <vt:lpstr>Ocurrencia</vt:lpstr>
      <vt:lpstr>GRAFICAMENTE</vt:lpstr>
      <vt:lpstr>ENTIDAD FUERTE/DEBIL</vt:lpstr>
      <vt:lpstr>Actividad Grupal</vt:lpstr>
      <vt:lpstr>RELACION</vt:lpstr>
      <vt:lpstr>BINARIAS</vt:lpstr>
      <vt:lpstr>TERNARIAS</vt:lpstr>
      <vt:lpstr>N-ARIAS</vt:lpstr>
      <vt:lpstr>Reflexivas</vt:lpstr>
      <vt:lpstr>ACTIVIDAD</vt:lpstr>
      <vt:lpstr>Presentación de PowerPoint</vt:lpstr>
      <vt:lpstr>CARDINALIDAD Y MODALIDAD</vt:lpstr>
      <vt:lpstr>CARDINALIDAD</vt:lpstr>
      <vt:lpstr>ORDINALIDAD</vt:lpstr>
      <vt:lpstr>0:1</vt:lpstr>
      <vt:lpstr>1:1</vt:lpstr>
      <vt:lpstr>0:n</vt:lpstr>
      <vt:lpstr>Presentación de PowerPoint</vt:lpstr>
      <vt:lpstr>1:n</vt:lpstr>
      <vt:lpstr>Ejemplos</vt:lpstr>
      <vt:lpstr>Presentación de PowerPoint</vt:lpstr>
      <vt:lpstr>Presentación de PowerPoint</vt:lpstr>
      <vt:lpstr>Presentación de PowerPoint</vt:lpstr>
      <vt:lpstr>ACTIVIDAD</vt:lpstr>
      <vt:lpstr>A PRACTICAR</vt:lpstr>
      <vt:lpstr>Presentación de PowerPoint</vt:lpstr>
      <vt:lpstr>Presentación de PowerPoint</vt:lpstr>
      <vt:lpstr>Presentación de PowerPoint</vt:lpstr>
      <vt:lpstr>Presentación de PowerPoint</vt:lpstr>
      <vt:lpstr>CLAVE PRIMARIA</vt:lpstr>
      <vt:lpstr>Presentación de PowerPoint</vt:lpstr>
      <vt:lpstr>PK compuesta</vt:lpstr>
      <vt:lpstr>Actividad</vt:lpstr>
      <vt:lpstr>Presentación de PowerPoint</vt:lpstr>
      <vt:lpstr>Diagrama entidad/relación extendido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2.2 Modelo E/R</dc:title>
  <dc:creator>German</dc:creator>
  <cp:lastModifiedBy>German</cp:lastModifiedBy>
  <cp:revision>23</cp:revision>
  <dcterms:created xsi:type="dcterms:W3CDTF">2023-09-25T07:16:35Z</dcterms:created>
  <dcterms:modified xsi:type="dcterms:W3CDTF">2023-09-29T12:13:07Z</dcterms:modified>
</cp:coreProperties>
</file>