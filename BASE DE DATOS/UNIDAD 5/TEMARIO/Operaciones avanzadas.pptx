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52" r:id="rId1"/>
  </p:sldMasterIdLst>
  <p:sldIdLst>
    <p:sldId id="256" r:id="rId2"/>
    <p:sldId id="258" r:id="rId3"/>
    <p:sldId id="257" r:id="rId4"/>
    <p:sldId id="260" r:id="rId5"/>
    <p:sldId id="267" r:id="rId6"/>
    <p:sldId id="268" r:id="rId7"/>
    <p:sldId id="269" r:id="rId8"/>
    <p:sldId id="271" r:id="rId9"/>
    <p:sldId id="270" r:id="rId10"/>
    <p:sldId id="272" r:id="rId11"/>
    <p:sldId id="262" r:id="rId12"/>
    <p:sldId id="263" r:id="rId13"/>
    <p:sldId id="265" r:id="rId14"/>
    <p:sldId id="264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3/19/2024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009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3/19/2024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800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22A4-8DA6-4447-9B1F-C5DB58435268}" type="datetimeFigureOut">
              <a:rPr lang="en-US" smtClean="0"/>
              <a:t>3/19/2024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599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3/19/2024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998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3/19/2024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805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3/19/2024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838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3/19/2024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275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3/19/2024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701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3/19/2024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76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3/19/2024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2026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3/19/2024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593856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3/19/2024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38507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3/19/2024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6067938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3/19/2024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16453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3/19/2024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6820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3/19/2024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389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3/19/2024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973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  <p:sldLayoutId id="2147483865" r:id="rId13"/>
    <p:sldLayoutId id="2147483866" r:id="rId14"/>
    <p:sldLayoutId id="2147483867" r:id="rId15"/>
    <p:sldLayoutId id="2147483868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59404" y="2891096"/>
            <a:ext cx="7766936" cy="1646302"/>
          </a:xfrm>
        </p:spPr>
        <p:txBody>
          <a:bodyPr/>
          <a:lstStyle/>
          <a:p>
            <a:r>
              <a:rPr lang="es-ES" sz="6600" dirty="0"/>
              <a:t>Operaciones avanzadas </a:t>
            </a:r>
          </a:p>
        </p:txBody>
      </p:sp>
    </p:spTree>
    <p:extLst>
      <p:ext uri="{BB962C8B-B14F-4D97-AF65-F5344CB8AC3E}">
        <p14:creationId xmlns:p14="http://schemas.microsoft.com/office/powerpoint/2010/main" val="3131493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OPERACIONES: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799650"/>
            <a:ext cx="8596668" cy="3258699"/>
          </a:xfrm>
        </p:spPr>
        <p:txBody>
          <a:bodyPr/>
          <a:lstStyle/>
          <a:p>
            <a:r>
              <a:rPr lang="es-ES" dirty="0"/>
              <a:t>JOIN</a:t>
            </a:r>
          </a:p>
          <a:p>
            <a:pPr lvl="1"/>
            <a:r>
              <a:rPr lang="es-ES" dirty="0"/>
              <a:t>INNER JOIN</a:t>
            </a:r>
          </a:p>
          <a:p>
            <a:pPr lvl="2"/>
            <a:r>
              <a:rPr lang="es-ES" dirty="0"/>
              <a:t>Unión interna de tablas (uso idéntico a WHERE oficina </a:t>
            </a:r>
            <a:r>
              <a:rPr lang="es-ES" dirty="0" err="1"/>
              <a:t>rep</a:t>
            </a:r>
            <a:r>
              <a:rPr lang="es-ES" dirty="0"/>
              <a:t>=oficina)</a:t>
            </a:r>
          </a:p>
          <a:p>
            <a:pPr lvl="1"/>
            <a:r>
              <a:rPr lang="es-ES" dirty="0"/>
              <a:t>LEFT JOIN</a:t>
            </a:r>
          </a:p>
          <a:p>
            <a:pPr lvl="1"/>
            <a:r>
              <a:rPr lang="es-ES" dirty="0"/>
              <a:t>RIGHT JOIN</a:t>
            </a:r>
          </a:p>
          <a:p>
            <a:r>
              <a:rPr lang="es-ES" dirty="0"/>
              <a:t>BUSCAR INFORMACION DUPLICADA (Consulta)</a:t>
            </a:r>
          </a:p>
          <a:p>
            <a:r>
              <a:rPr lang="es-ES" dirty="0"/>
              <a:t>FUNCIONES UTILES EN SQL</a:t>
            </a:r>
          </a:p>
          <a:p>
            <a:r>
              <a:rPr lang="es-ES" dirty="0"/>
              <a:t>EQUIVALENCIAS ANY ALL CON MAX MIN</a:t>
            </a:r>
          </a:p>
        </p:txBody>
      </p:sp>
    </p:spTree>
    <p:extLst>
      <p:ext uri="{BB962C8B-B14F-4D97-AF65-F5344CB8AC3E}">
        <p14:creationId xmlns:p14="http://schemas.microsoft.com/office/powerpoint/2010/main" val="122233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Consultas de Unión Internas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992809"/>
            <a:ext cx="5924802" cy="3880773"/>
          </a:xfrm>
        </p:spPr>
        <p:txBody>
          <a:bodyPr/>
          <a:lstStyle/>
          <a:p>
            <a:r>
              <a:rPr lang="es-ES" dirty="0"/>
              <a:t>Una vinculación de tabla:</a:t>
            </a:r>
          </a:p>
          <a:p>
            <a:pPr lvl="1"/>
            <a:r>
              <a:rPr lang="es-ES" dirty="0"/>
              <a:t>WHERE oficina=</a:t>
            </a:r>
            <a:r>
              <a:rPr lang="es-ES" dirty="0" err="1"/>
              <a:t>ofinica_rep</a:t>
            </a:r>
            <a:endParaRPr lang="es-ES" dirty="0"/>
          </a:p>
          <a:p>
            <a:pPr lvl="1"/>
            <a:endParaRPr lang="es-ES" dirty="0"/>
          </a:p>
          <a:p>
            <a:r>
              <a:rPr lang="es-ES" dirty="0"/>
              <a:t>Puede hacerse con el comando INNER JOIN</a:t>
            </a:r>
          </a:p>
          <a:p>
            <a:pPr marL="274320" lvl="1" indent="0">
              <a:buNone/>
            </a:pPr>
            <a:endParaRPr lang="es-ES" dirty="0"/>
          </a:p>
          <a:p>
            <a:pPr marL="274320" lvl="1" indent="0">
              <a:buNone/>
            </a:pPr>
            <a:r>
              <a:rPr lang="es-ES" dirty="0"/>
              <a:t>SELECT nombre, ciudad </a:t>
            </a:r>
          </a:p>
          <a:p>
            <a:pPr marL="274320" lvl="1" indent="0">
              <a:buNone/>
            </a:pPr>
            <a:r>
              <a:rPr lang="es-ES" dirty="0"/>
              <a:t>FROM </a:t>
            </a:r>
            <a:r>
              <a:rPr lang="es-ES" dirty="0">
                <a:solidFill>
                  <a:schemeClr val="accent1"/>
                </a:solidFill>
              </a:rPr>
              <a:t>oficinas</a:t>
            </a:r>
            <a:r>
              <a:rPr lang="es-ES" dirty="0"/>
              <a:t> </a:t>
            </a:r>
          </a:p>
          <a:p>
            <a:pPr marL="274320" lvl="1" indent="0">
              <a:buNone/>
            </a:pPr>
            <a:r>
              <a:rPr lang="es-ES" b="1" dirty="0"/>
              <a:t>INNER JOIN </a:t>
            </a:r>
            <a:r>
              <a:rPr lang="es-ES" dirty="0" err="1">
                <a:solidFill>
                  <a:schemeClr val="accent1"/>
                </a:solidFill>
              </a:rPr>
              <a:t>repventas</a:t>
            </a:r>
            <a:r>
              <a:rPr lang="es-ES" dirty="0"/>
              <a:t> ON oficina = </a:t>
            </a:r>
            <a:r>
              <a:rPr lang="es-ES" dirty="0" err="1"/>
              <a:t>oficina_rep</a:t>
            </a:r>
            <a:r>
              <a:rPr lang="es-ES" dirty="0"/>
              <a:t>; </a:t>
            </a:r>
          </a:p>
          <a:p>
            <a:pPr marL="274320" lvl="1" indent="0">
              <a:buNone/>
            </a:pPr>
            <a:endParaRPr lang="es-ES" dirty="0"/>
          </a:p>
          <a:p>
            <a:pPr marL="274320" lvl="1" indent="0">
              <a:buNone/>
            </a:pPr>
            <a:r>
              <a:rPr lang="es-ES" dirty="0"/>
              <a:t>Vinculamos las tablas oficinas y </a:t>
            </a:r>
            <a:r>
              <a:rPr lang="es-ES" dirty="0" err="1"/>
              <a:t>repventas</a:t>
            </a:r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C97FB23-481B-5CA5-7738-BC404A737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096" y="2270934"/>
            <a:ext cx="4178042" cy="377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448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449179" y="581345"/>
            <a:ext cx="46124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/>
              <a:t>OTROS COMANDOS CON JOIN</a:t>
            </a:r>
          </a:p>
        </p:txBody>
      </p:sp>
      <p:sp>
        <p:nvSpPr>
          <p:cNvPr id="3" name="Marcador de contenido 2"/>
          <p:cNvSpPr txBox="1">
            <a:spLocks/>
          </p:cNvSpPr>
          <p:nvPr/>
        </p:nvSpPr>
        <p:spPr>
          <a:xfrm>
            <a:off x="608453" y="2225863"/>
            <a:ext cx="2411583" cy="4050792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b="1" dirty="0"/>
              <a:t>RIGHT JOIN</a:t>
            </a:r>
          </a:p>
          <a:p>
            <a:pPr lvl="1"/>
            <a:endParaRPr lang="es-ES" sz="2400" b="1" dirty="0"/>
          </a:p>
          <a:p>
            <a:r>
              <a:rPr lang="es-ES" sz="2800" b="1" dirty="0"/>
              <a:t>LEFT JOIN</a:t>
            </a:r>
          </a:p>
          <a:p>
            <a:endParaRPr lang="es-ES" sz="2800" b="1" dirty="0"/>
          </a:p>
          <a:p>
            <a:r>
              <a:rPr lang="es-ES" sz="2800" b="1" dirty="0"/>
              <a:t>FULL JOIN</a:t>
            </a:r>
          </a:p>
          <a:p>
            <a:pPr lvl="1"/>
            <a:endParaRPr lang="es-ES" dirty="0"/>
          </a:p>
        </p:txBody>
      </p:sp>
      <p:pic>
        <p:nvPicPr>
          <p:cNvPr id="1026" name="Picture 2" descr="SQL JOINS (Inner, Left, Right and Full Joins)">
            <a:extLst>
              <a:ext uri="{FF2B5EF4-FFF2-40B4-BE49-F238E27FC236}">
                <a16:creationId xmlns:a16="http://schemas.microsoft.com/office/drawing/2014/main" id="{4E9FE27F-5C51-9FF8-5135-4356F75DF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476" y="1506369"/>
            <a:ext cx="8642524" cy="4861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4300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308" y="327153"/>
            <a:ext cx="5687219" cy="2143424"/>
          </a:xfrm>
          <a:prstGeom prst="rect">
            <a:avLst/>
          </a:prstGeom>
        </p:spPr>
      </p:pic>
      <p:sp>
        <p:nvSpPr>
          <p:cNvPr id="3" name="Marcador de contenido 2"/>
          <p:cNvSpPr txBox="1">
            <a:spLocks/>
          </p:cNvSpPr>
          <p:nvPr/>
        </p:nvSpPr>
        <p:spPr>
          <a:xfrm>
            <a:off x="1029308" y="3054639"/>
            <a:ext cx="10058400" cy="541581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Tenemos estas dos tablas y queremos relacionarlas.</a:t>
            </a:r>
          </a:p>
          <a:p>
            <a:endParaRPr lang="es-ES" dirty="0"/>
          </a:p>
        </p:txBody>
      </p:sp>
      <p:sp>
        <p:nvSpPr>
          <p:cNvPr id="4" name="Rectángulo 3"/>
          <p:cNvSpPr/>
          <p:nvPr/>
        </p:nvSpPr>
        <p:spPr>
          <a:xfrm>
            <a:off x="1029308" y="428400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dirty="0"/>
              <a:t>SELECT nombre, apellidos, </a:t>
            </a:r>
            <a:r>
              <a:rPr lang="es-ES" dirty="0" err="1"/>
              <a:t>nombre_dep</a:t>
            </a:r>
            <a:r>
              <a:rPr lang="es-ES" dirty="0"/>
              <a:t> </a:t>
            </a:r>
          </a:p>
          <a:p>
            <a:r>
              <a:rPr lang="es-ES" dirty="0"/>
              <a:t>FROM empleados </a:t>
            </a:r>
          </a:p>
          <a:p>
            <a:r>
              <a:rPr lang="es-ES" dirty="0"/>
              <a:t>INNER JOIN departamentos </a:t>
            </a:r>
          </a:p>
          <a:p>
            <a:r>
              <a:rPr lang="es-ES" dirty="0"/>
              <a:t>ON </a:t>
            </a:r>
            <a:r>
              <a:rPr lang="es-ES" dirty="0" err="1"/>
              <a:t>Id_dep</a:t>
            </a:r>
            <a:r>
              <a:rPr lang="es-ES" dirty="0"/>
              <a:t>=</a:t>
            </a:r>
            <a:r>
              <a:rPr lang="es-ES" dirty="0" err="1"/>
              <a:t>Departamentos.Id</a:t>
            </a:r>
            <a:endParaRPr lang="es-E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023" y="3347704"/>
            <a:ext cx="6096000" cy="3367956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9297554" y="494687"/>
            <a:ext cx="247106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s-ES" dirty="0"/>
              <a:t>Pero Carmen Segovia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9F19F3E-9DCB-C49E-C117-421E323B4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4776" y="1131126"/>
            <a:ext cx="3485227" cy="146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018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/>
          <p:cNvSpPr txBox="1">
            <a:spLocks/>
          </p:cNvSpPr>
          <p:nvPr/>
        </p:nvSpPr>
        <p:spPr>
          <a:xfrm>
            <a:off x="769249" y="493943"/>
            <a:ext cx="10058400" cy="541581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Y si queremos ver también a Carmen.</a:t>
            </a:r>
          </a:p>
          <a:p>
            <a:endParaRPr lang="es-ES" dirty="0"/>
          </a:p>
        </p:txBody>
      </p:sp>
      <p:sp>
        <p:nvSpPr>
          <p:cNvPr id="3" name="Rectángulo 2"/>
          <p:cNvSpPr/>
          <p:nvPr/>
        </p:nvSpPr>
        <p:spPr>
          <a:xfrm>
            <a:off x="892029" y="1197258"/>
            <a:ext cx="66328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/>
              <a:t>SELECT</a:t>
            </a:r>
            <a:r>
              <a:rPr lang="es-ES" dirty="0"/>
              <a:t> nombre, apellidos, </a:t>
            </a:r>
            <a:r>
              <a:rPr lang="es-ES" dirty="0" err="1"/>
              <a:t>nombre_dep</a:t>
            </a:r>
            <a:r>
              <a:rPr lang="es-ES" dirty="0"/>
              <a:t> </a:t>
            </a:r>
          </a:p>
          <a:p>
            <a:r>
              <a:rPr lang="es-ES" b="1" dirty="0"/>
              <a:t>FROM</a:t>
            </a:r>
            <a:r>
              <a:rPr lang="es-ES" dirty="0"/>
              <a:t> </a:t>
            </a:r>
            <a:r>
              <a:rPr lang="es-ES" i="1" dirty="0"/>
              <a:t>EMPLEADOS</a:t>
            </a:r>
            <a:r>
              <a:rPr lang="es-ES" dirty="0"/>
              <a:t> </a:t>
            </a:r>
          </a:p>
          <a:p>
            <a:r>
              <a:rPr lang="es-ES" b="1" dirty="0"/>
              <a:t>LEFT</a:t>
            </a:r>
            <a:r>
              <a:rPr lang="es-ES" dirty="0"/>
              <a:t> </a:t>
            </a:r>
            <a:r>
              <a:rPr lang="es-ES" b="1" dirty="0"/>
              <a:t>JOIN</a:t>
            </a:r>
            <a:r>
              <a:rPr lang="es-ES" dirty="0"/>
              <a:t> </a:t>
            </a:r>
            <a:r>
              <a:rPr lang="es-ES" i="1" dirty="0"/>
              <a:t>DEPARTAMENTOS</a:t>
            </a:r>
            <a:r>
              <a:rPr lang="es-ES" dirty="0"/>
              <a:t> </a:t>
            </a:r>
          </a:p>
          <a:p>
            <a:r>
              <a:rPr lang="es-ES" b="1" dirty="0"/>
              <a:t>ON</a:t>
            </a:r>
            <a:r>
              <a:rPr lang="es-ES" dirty="0"/>
              <a:t> </a:t>
            </a:r>
            <a:r>
              <a:rPr lang="es-ES" dirty="0" err="1"/>
              <a:t>Id_dep</a:t>
            </a:r>
            <a:r>
              <a:rPr lang="es-ES" dirty="0"/>
              <a:t>=</a:t>
            </a:r>
            <a:r>
              <a:rPr lang="es-ES" dirty="0" err="1"/>
              <a:t>Departamentos.Id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449" y="493943"/>
            <a:ext cx="5687219" cy="2143424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8642058" y="637563"/>
            <a:ext cx="736834" cy="2063692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/>
          <p:cNvSpPr/>
          <p:nvPr/>
        </p:nvSpPr>
        <p:spPr>
          <a:xfrm>
            <a:off x="9873842" y="1211239"/>
            <a:ext cx="419450" cy="1120900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" name="Conector recto 7"/>
          <p:cNvCxnSpPr/>
          <p:nvPr/>
        </p:nvCxnSpPr>
        <p:spPr>
          <a:xfrm>
            <a:off x="1451295" y="2332139"/>
            <a:ext cx="620786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Conector recto 8"/>
          <p:cNvCxnSpPr/>
          <p:nvPr/>
        </p:nvCxnSpPr>
        <p:spPr>
          <a:xfrm>
            <a:off x="2333537" y="2332139"/>
            <a:ext cx="178545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0" name="Imagen 9">
            <a:extLst>
              <a:ext uri="{FF2B5EF4-FFF2-40B4-BE49-F238E27FC236}">
                <a16:creationId xmlns:a16="http://schemas.microsoft.com/office/drawing/2014/main" id="{4A7A8890-9E42-0E58-1D7D-55EB71E20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912" y="2701255"/>
            <a:ext cx="5411074" cy="407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52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/>
          <p:cNvSpPr txBox="1">
            <a:spLocks/>
          </p:cNvSpPr>
          <p:nvPr/>
        </p:nvSpPr>
        <p:spPr>
          <a:xfrm>
            <a:off x="769249" y="493943"/>
            <a:ext cx="10058400" cy="541581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Pero también podemos ver que departamentos no tienen ningún empleado colocado</a:t>
            </a:r>
          </a:p>
          <a:p>
            <a:endParaRPr lang="es-ES" dirty="0"/>
          </a:p>
        </p:txBody>
      </p:sp>
      <p:sp>
        <p:nvSpPr>
          <p:cNvPr id="3" name="Rectángulo 2"/>
          <p:cNvSpPr/>
          <p:nvPr/>
        </p:nvSpPr>
        <p:spPr>
          <a:xfrm>
            <a:off x="769249" y="1738839"/>
            <a:ext cx="66328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/>
              <a:t>SELECT</a:t>
            </a:r>
            <a:r>
              <a:rPr lang="es-ES" dirty="0"/>
              <a:t> nombre, apellidos, </a:t>
            </a:r>
            <a:r>
              <a:rPr lang="es-ES" dirty="0" err="1"/>
              <a:t>nombre_dep</a:t>
            </a:r>
            <a:r>
              <a:rPr lang="es-ES" dirty="0"/>
              <a:t> </a:t>
            </a:r>
          </a:p>
          <a:p>
            <a:r>
              <a:rPr lang="es-ES" b="1" dirty="0"/>
              <a:t>FROM</a:t>
            </a:r>
            <a:r>
              <a:rPr lang="es-ES" dirty="0"/>
              <a:t> </a:t>
            </a:r>
            <a:r>
              <a:rPr lang="es-ES" i="1" dirty="0"/>
              <a:t>EMPLEADOS</a:t>
            </a:r>
            <a:r>
              <a:rPr lang="es-ES" dirty="0"/>
              <a:t> </a:t>
            </a:r>
          </a:p>
          <a:p>
            <a:r>
              <a:rPr lang="es-ES" b="1" dirty="0"/>
              <a:t>RIGHT</a:t>
            </a:r>
            <a:r>
              <a:rPr lang="es-ES" dirty="0"/>
              <a:t> </a:t>
            </a:r>
            <a:r>
              <a:rPr lang="es-ES" b="1" dirty="0"/>
              <a:t>JOIN</a:t>
            </a:r>
            <a:r>
              <a:rPr lang="es-ES" dirty="0"/>
              <a:t> </a:t>
            </a:r>
            <a:r>
              <a:rPr lang="es-ES" i="1" dirty="0"/>
              <a:t>DEPARTAMENTOS</a:t>
            </a:r>
            <a:r>
              <a:rPr lang="es-ES" dirty="0"/>
              <a:t> </a:t>
            </a:r>
          </a:p>
          <a:p>
            <a:r>
              <a:rPr lang="es-ES" b="1" dirty="0"/>
              <a:t>ON</a:t>
            </a:r>
            <a:r>
              <a:rPr lang="es-ES" dirty="0"/>
              <a:t> </a:t>
            </a:r>
            <a:r>
              <a:rPr lang="es-ES" dirty="0" err="1"/>
              <a:t>Id_dep</a:t>
            </a:r>
            <a:r>
              <a:rPr lang="es-ES" dirty="0"/>
              <a:t>=</a:t>
            </a:r>
            <a:r>
              <a:rPr lang="es-ES" dirty="0" err="1"/>
              <a:t>Departamentos.Id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669" y="1035524"/>
            <a:ext cx="5687219" cy="2143424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8519278" y="1179144"/>
            <a:ext cx="736834" cy="2063692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/>
          <p:cNvSpPr/>
          <p:nvPr/>
        </p:nvSpPr>
        <p:spPr>
          <a:xfrm>
            <a:off x="9751062" y="1752820"/>
            <a:ext cx="419450" cy="1120900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" name="Conector recto 6"/>
          <p:cNvCxnSpPr/>
          <p:nvPr/>
        </p:nvCxnSpPr>
        <p:spPr>
          <a:xfrm>
            <a:off x="1328515" y="2873720"/>
            <a:ext cx="620786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" name="Conector recto 7"/>
          <p:cNvCxnSpPr/>
          <p:nvPr/>
        </p:nvCxnSpPr>
        <p:spPr>
          <a:xfrm>
            <a:off x="2210757" y="2873720"/>
            <a:ext cx="178545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802" y="3642483"/>
            <a:ext cx="3229426" cy="2067213"/>
          </a:xfrm>
          <a:prstGeom prst="rect">
            <a:avLst/>
          </a:prstGeom>
        </p:spPr>
      </p:pic>
      <p:sp>
        <p:nvSpPr>
          <p:cNvPr id="10" name="Marcador de contenido 2"/>
          <p:cNvSpPr txBox="1">
            <a:spLocks/>
          </p:cNvSpPr>
          <p:nvPr/>
        </p:nvSpPr>
        <p:spPr>
          <a:xfrm>
            <a:off x="5736930" y="3960132"/>
            <a:ext cx="5353316" cy="2558114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¿Entonces esta?</a:t>
            </a:r>
          </a:p>
          <a:p>
            <a:pPr marL="0" indent="0">
              <a:buNone/>
            </a:pPr>
            <a:r>
              <a:rPr lang="es-ES" b="1" dirty="0"/>
              <a:t>SELECT</a:t>
            </a:r>
            <a:r>
              <a:rPr lang="es-ES" dirty="0"/>
              <a:t> nombre, apellidos, </a:t>
            </a:r>
            <a:r>
              <a:rPr lang="es-ES" dirty="0" err="1"/>
              <a:t>nombre_dep</a:t>
            </a:r>
            <a:r>
              <a:rPr lang="es-ES" dirty="0"/>
              <a:t> </a:t>
            </a:r>
          </a:p>
          <a:p>
            <a:pPr marL="0" indent="0">
              <a:buNone/>
            </a:pPr>
            <a:r>
              <a:rPr lang="es-ES" b="1" dirty="0"/>
              <a:t>FROM</a:t>
            </a:r>
            <a:r>
              <a:rPr lang="es-ES" dirty="0"/>
              <a:t> </a:t>
            </a:r>
            <a:r>
              <a:rPr lang="es-ES" i="1" dirty="0"/>
              <a:t>DEPARTAMENTOS</a:t>
            </a:r>
            <a:r>
              <a:rPr lang="es-ES" dirty="0"/>
              <a:t> </a:t>
            </a:r>
          </a:p>
          <a:p>
            <a:pPr marL="0" indent="0">
              <a:buNone/>
            </a:pPr>
            <a:r>
              <a:rPr lang="es-ES" b="1" dirty="0"/>
              <a:t>LEFT</a:t>
            </a:r>
            <a:r>
              <a:rPr lang="es-ES" dirty="0"/>
              <a:t> </a:t>
            </a:r>
            <a:r>
              <a:rPr lang="es-ES" b="1" dirty="0"/>
              <a:t>JOIN</a:t>
            </a:r>
            <a:r>
              <a:rPr lang="es-ES" dirty="0"/>
              <a:t> </a:t>
            </a:r>
            <a:r>
              <a:rPr lang="es-ES" i="1" dirty="0"/>
              <a:t>EMPLEADOS</a:t>
            </a:r>
            <a:r>
              <a:rPr lang="es-ES" dirty="0"/>
              <a:t> </a:t>
            </a:r>
          </a:p>
          <a:p>
            <a:pPr marL="0" indent="0">
              <a:buNone/>
            </a:pPr>
            <a:r>
              <a:rPr lang="es-ES" b="1" dirty="0"/>
              <a:t>ON</a:t>
            </a:r>
            <a:r>
              <a:rPr lang="es-ES" dirty="0"/>
              <a:t> </a:t>
            </a:r>
            <a:r>
              <a:rPr lang="es-ES" dirty="0" err="1"/>
              <a:t>Departamentos.Id</a:t>
            </a:r>
            <a:r>
              <a:rPr lang="es-ES" dirty="0"/>
              <a:t>=</a:t>
            </a:r>
            <a:r>
              <a:rPr lang="es-ES" dirty="0" err="1"/>
              <a:t>Id_dep</a:t>
            </a:r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69113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 animBg="1"/>
      <p:bldP spid="6" grpId="0" animBg="1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B798A57-356F-1BBF-BB58-588ACA1066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819386"/>
              </p:ext>
            </p:extLst>
          </p:nvPr>
        </p:nvGraphicFramePr>
        <p:xfrm>
          <a:off x="2800350" y="3152542"/>
          <a:ext cx="6591300" cy="3291840"/>
        </p:xfrm>
        <a:graphic>
          <a:graphicData uri="http://schemas.openxmlformats.org/drawingml/2006/table">
            <a:tbl>
              <a:tblPr/>
              <a:tblGrid>
                <a:gridCol w="2197100">
                  <a:extLst>
                    <a:ext uri="{9D8B030D-6E8A-4147-A177-3AD203B41FA5}">
                      <a16:colId xmlns:a16="http://schemas.microsoft.com/office/drawing/2014/main" val="1668361751"/>
                    </a:ext>
                  </a:extLst>
                </a:gridCol>
                <a:gridCol w="2197100">
                  <a:extLst>
                    <a:ext uri="{9D8B030D-6E8A-4147-A177-3AD203B41FA5}">
                      <a16:colId xmlns:a16="http://schemas.microsoft.com/office/drawing/2014/main" val="1638756207"/>
                    </a:ext>
                  </a:extLst>
                </a:gridCol>
                <a:gridCol w="2197100">
                  <a:extLst>
                    <a:ext uri="{9D8B030D-6E8A-4147-A177-3AD203B41FA5}">
                      <a16:colId xmlns:a16="http://schemas.microsoft.com/office/drawing/2014/main" val="27955365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b"/>
                      <a:r>
                        <a:rPr lang="es-ES" b="1">
                          <a:effectLst/>
                        </a:rPr>
                        <a:t>nombre_dep</a:t>
                      </a:r>
                    </a:p>
                  </a:txBody>
                  <a:tcPr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ES" b="1">
                          <a:effectLst/>
                        </a:rPr>
                        <a:t>nombre</a:t>
                      </a:r>
                    </a:p>
                  </a:txBody>
                  <a:tcPr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ES" b="1">
                          <a:effectLst/>
                        </a:rPr>
                        <a:t>apellidos</a:t>
                      </a:r>
                    </a:p>
                  </a:txBody>
                  <a:tcPr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749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Contabilidad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Carlos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Pérez Sánchez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639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Contabilidad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Aurora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Fernández Jiménez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57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Informática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Antonio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Ruiz Sánchez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278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Informática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Luis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García Moreno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441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Informática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Rosa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Ruiz Ruiz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784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Ventas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Juan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dirty="0">
                          <a:effectLst/>
                        </a:rPr>
                        <a:t>García Pérez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388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Ventas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María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Ruiz Sánchez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835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Almacén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NULL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dirty="0">
                          <a:effectLst/>
                        </a:rPr>
                        <a:t>NULL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860662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37374097-7F68-68B8-EF57-C8220366F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81" y="311962"/>
            <a:ext cx="5687219" cy="2143424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9845139-30E7-6A57-DF53-632CC95B031F}"/>
              </a:ext>
            </a:extLst>
          </p:cNvPr>
          <p:cNvSpPr txBox="1">
            <a:spLocks/>
          </p:cNvSpPr>
          <p:nvPr/>
        </p:nvSpPr>
        <p:spPr>
          <a:xfrm>
            <a:off x="6429903" y="594428"/>
            <a:ext cx="5353316" cy="1860958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 dirty="0"/>
              <a:t>SELECT</a:t>
            </a:r>
            <a:r>
              <a:rPr lang="es-ES" dirty="0"/>
              <a:t> nombre, apellidos, </a:t>
            </a:r>
            <a:r>
              <a:rPr lang="es-ES" dirty="0" err="1"/>
              <a:t>nombre_dep</a:t>
            </a:r>
            <a:r>
              <a:rPr lang="es-ES" dirty="0"/>
              <a:t> </a:t>
            </a:r>
          </a:p>
          <a:p>
            <a:pPr marL="0" indent="0">
              <a:buNone/>
            </a:pPr>
            <a:r>
              <a:rPr lang="es-ES" b="1" dirty="0"/>
              <a:t>FROM</a:t>
            </a:r>
            <a:r>
              <a:rPr lang="es-ES" dirty="0"/>
              <a:t> </a:t>
            </a:r>
            <a:r>
              <a:rPr lang="es-ES" i="1" dirty="0"/>
              <a:t>DEPARTAMENTOS</a:t>
            </a:r>
            <a:r>
              <a:rPr lang="es-ES" dirty="0"/>
              <a:t> </a:t>
            </a:r>
          </a:p>
          <a:p>
            <a:pPr marL="0" indent="0">
              <a:buNone/>
            </a:pPr>
            <a:r>
              <a:rPr lang="es-ES" b="1" dirty="0"/>
              <a:t>LEFT</a:t>
            </a:r>
            <a:r>
              <a:rPr lang="es-ES" dirty="0"/>
              <a:t> </a:t>
            </a:r>
            <a:r>
              <a:rPr lang="es-ES" b="1" dirty="0"/>
              <a:t>JOIN</a:t>
            </a:r>
            <a:r>
              <a:rPr lang="es-ES" dirty="0"/>
              <a:t> </a:t>
            </a:r>
            <a:r>
              <a:rPr lang="es-ES" i="1" dirty="0"/>
              <a:t>EMPLEADOS</a:t>
            </a:r>
            <a:r>
              <a:rPr lang="es-ES" dirty="0"/>
              <a:t> </a:t>
            </a:r>
          </a:p>
          <a:p>
            <a:pPr marL="0" indent="0">
              <a:buNone/>
            </a:pPr>
            <a:r>
              <a:rPr lang="es-ES" b="1" dirty="0"/>
              <a:t>ON</a:t>
            </a:r>
            <a:r>
              <a:rPr lang="es-ES" dirty="0"/>
              <a:t> </a:t>
            </a:r>
            <a:r>
              <a:rPr lang="es-ES" dirty="0" err="1"/>
              <a:t>Departamentos.Id</a:t>
            </a:r>
            <a:r>
              <a:rPr lang="es-ES" dirty="0"/>
              <a:t>=</a:t>
            </a:r>
            <a:r>
              <a:rPr lang="es-ES" dirty="0" err="1"/>
              <a:t>Id_dep</a:t>
            </a:r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016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EDC139-84BA-CDCE-0EFF-6FDA82F57A9E}"/>
              </a:ext>
            </a:extLst>
          </p:cNvPr>
          <p:cNvSpPr txBox="1">
            <a:spLocks/>
          </p:cNvSpPr>
          <p:nvPr/>
        </p:nvSpPr>
        <p:spPr>
          <a:xfrm>
            <a:off x="453216" y="326873"/>
            <a:ext cx="8596668" cy="13208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dirty="0"/>
              <a:t>FULL JOIN: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2C4A7E5-FD7C-8F82-5926-2B04417DDAF7}"/>
              </a:ext>
            </a:extLst>
          </p:cNvPr>
          <p:cNvSpPr txBox="1"/>
          <p:nvPr/>
        </p:nvSpPr>
        <p:spPr>
          <a:xfrm>
            <a:off x="7092217" y="1678794"/>
            <a:ext cx="436357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/>
              <a:t>SELECT Nombre, Apellidos, </a:t>
            </a:r>
            <a:r>
              <a:rPr lang="es-ES" dirty="0" err="1"/>
              <a:t>Nombre_dep</a:t>
            </a:r>
            <a:endParaRPr lang="es-ES" dirty="0"/>
          </a:p>
          <a:p>
            <a:r>
              <a:rPr lang="es-ES" dirty="0"/>
              <a:t>FROM EMPLEADOS </a:t>
            </a:r>
          </a:p>
          <a:p>
            <a:r>
              <a:rPr lang="es-ES" dirty="0"/>
              <a:t>FULL OUTER JOIN DEPARTAMENTOS ON </a:t>
            </a:r>
            <a:r>
              <a:rPr lang="es-ES" dirty="0" err="1"/>
              <a:t>Id_dep</a:t>
            </a:r>
            <a:r>
              <a:rPr lang="es-ES" dirty="0"/>
              <a:t> = Id;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194CD6B-181A-AEE2-8689-FF6CA55D5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04" y="987273"/>
            <a:ext cx="5687219" cy="2143424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4BF7AFC-8375-E6A3-2C48-CE89145CA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391836"/>
              </p:ext>
            </p:extLst>
          </p:nvPr>
        </p:nvGraphicFramePr>
        <p:xfrm>
          <a:off x="3372714" y="3444577"/>
          <a:ext cx="5446572" cy="3048000"/>
        </p:xfrm>
        <a:graphic>
          <a:graphicData uri="http://schemas.openxmlformats.org/drawingml/2006/table">
            <a:tbl>
              <a:tblPr/>
              <a:tblGrid>
                <a:gridCol w="1815524">
                  <a:extLst>
                    <a:ext uri="{9D8B030D-6E8A-4147-A177-3AD203B41FA5}">
                      <a16:colId xmlns:a16="http://schemas.microsoft.com/office/drawing/2014/main" val="603948071"/>
                    </a:ext>
                  </a:extLst>
                </a:gridCol>
                <a:gridCol w="1815524">
                  <a:extLst>
                    <a:ext uri="{9D8B030D-6E8A-4147-A177-3AD203B41FA5}">
                      <a16:colId xmlns:a16="http://schemas.microsoft.com/office/drawing/2014/main" val="2715219131"/>
                    </a:ext>
                  </a:extLst>
                </a:gridCol>
                <a:gridCol w="1815524">
                  <a:extLst>
                    <a:ext uri="{9D8B030D-6E8A-4147-A177-3AD203B41FA5}">
                      <a16:colId xmlns:a16="http://schemas.microsoft.com/office/drawing/2014/main" val="1047231334"/>
                    </a:ext>
                  </a:extLst>
                </a:gridCol>
              </a:tblGrid>
              <a:tr h="232020">
                <a:tc>
                  <a:txBody>
                    <a:bodyPr/>
                    <a:lstStyle/>
                    <a:p>
                      <a:pPr fontAlgn="b"/>
                      <a:r>
                        <a:rPr lang="es-ES" sz="1400" b="1" dirty="0">
                          <a:effectLst/>
                        </a:rPr>
                        <a:t>Nombre</a:t>
                      </a:r>
                    </a:p>
                  </a:txBody>
                  <a:tcPr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ES" sz="1400" b="1">
                          <a:effectLst/>
                        </a:rPr>
                        <a:t>Apellidos</a:t>
                      </a:r>
                    </a:p>
                  </a:txBody>
                  <a:tcPr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ES" sz="1400" b="1">
                          <a:effectLst/>
                        </a:rPr>
                        <a:t>Nombre_dep</a:t>
                      </a:r>
                    </a:p>
                  </a:txBody>
                  <a:tcPr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825886"/>
                  </a:ext>
                </a:extLst>
              </a:tr>
              <a:tr h="232020">
                <a:tc>
                  <a:txBody>
                    <a:bodyPr/>
                    <a:lstStyle/>
                    <a:p>
                      <a:pPr fontAlgn="base"/>
                      <a:r>
                        <a:rPr lang="es-ES" sz="1400">
                          <a:effectLst/>
                        </a:rPr>
                        <a:t>Juan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400">
                          <a:effectLst/>
                        </a:rPr>
                        <a:t>García Pérez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400">
                          <a:effectLst/>
                        </a:rPr>
                        <a:t>Ventas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911567"/>
                  </a:ext>
                </a:extLst>
              </a:tr>
              <a:tr h="232020">
                <a:tc>
                  <a:txBody>
                    <a:bodyPr/>
                    <a:lstStyle/>
                    <a:p>
                      <a:pPr fontAlgn="base"/>
                      <a:r>
                        <a:rPr lang="es-ES" sz="1400">
                          <a:effectLst/>
                        </a:rPr>
                        <a:t>Antonio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400">
                          <a:effectLst/>
                        </a:rPr>
                        <a:t>Ruiz Sánchez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400">
                          <a:effectLst/>
                        </a:rPr>
                        <a:t>Informática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346741"/>
                  </a:ext>
                </a:extLst>
              </a:tr>
              <a:tr h="232020">
                <a:tc>
                  <a:txBody>
                    <a:bodyPr/>
                    <a:lstStyle/>
                    <a:p>
                      <a:pPr fontAlgn="base"/>
                      <a:r>
                        <a:rPr lang="es-ES" sz="1400">
                          <a:effectLst/>
                        </a:rPr>
                        <a:t>Luis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400">
                          <a:effectLst/>
                        </a:rPr>
                        <a:t>García Moreno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400">
                          <a:effectLst/>
                        </a:rPr>
                        <a:t>Informática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854617"/>
                  </a:ext>
                </a:extLst>
              </a:tr>
              <a:tr h="232020">
                <a:tc>
                  <a:txBody>
                    <a:bodyPr/>
                    <a:lstStyle/>
                    <a:p>
                      <a:pPr fontAlgn="base"/>
                      <a:r>
                        <a:rPr lang="es-ES" sz="1400">
                          <a:effectLst/>
                        </a:rPr>
                        <a:t>Rosa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400" dirty="0">
                          <a:effectLst/>
                        </a:rPr>
                        <a:t>Ruiz </a:t>
                      </a:r>
                      <a:r>
                        <a:rPr lang="es-ES" sz="1400" dirty="0" err="1">
                          <a:effectLst/>
                        </a:rPr>
                        <a:t>Ruiz</a:t>
                      </a:r>
                      <a:endParaRPr lang="es-ES" sz="14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400">
                          <a:effectLst/>
                        </a:rPr>
                        <a:t>Informática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708427"/>
                  </a:ext>
                </a:extLst>
              </a:tr>
              <a:tr h="232020">
                <a:tc>
                  <a:txBody>
                    <a:bodyPr/>
                    <a:lstStyle/>
                    <a:p>
                      <a:pPr fontAlgn="base"/>
                      <a:r>
                        <a:rPr lang="es-ES" sz="1400">
                          <a:effectLst/>
                        </a:rPr>
                        <a:t>María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400" dirty="0">
                          <a:effectLst/>
                        </a:rPr>
                        <a:t>Ruiz Sánchez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400" dirty="0">
                          <a:effectLst/>
                        </a:rPr>
                        <a:t>Ventas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323396"/>
                  </a:ext>
                </a:extLst>
              </a:tr>
              <a:tr h="232020">
                <a:tc>
                  <a:txBody>
                    <a:bodyPr/>
                    <a:lstStyle/>
                    <a:p>
                      <a:pPr fontAlgn="base"/>
                      <a:r>
                        <a:rPr lang="es-ES" sz="1400">
                          <a:effectLst/>
                        </a:rPr>
                        <a:t>Carlos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400" dirty="0">
                          <a:effectLst/>
                        </a:rPr>
                        <a:t>Pérez Sánchez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400">
                          <a:effectLst/>
                        </a:rPr>
                        <a:t>Contabilidad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381860"/>
                  </a:ext>
                </a:extLst>
              </a:tr>
              <a:tr h="232020">
                <a:tc>
                  <a:txBody>
                    <a:bodyPr/>
                    <a:lstStyle/>
                    <a:p>
                      <a:pPr fontAlgn="base"/>
                      <a:r>
                        <a:rPr lang="es-ES" sz="1400">
                          <a:effectLst/>
                        </a:rPr>
                        <a:t>Aurora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400">
                          <a:effectLst/>
                        </a:rPr>
                        <a:t>Fernández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400">
                          <a:effectLst/>
                        </a:rPr>
                        <a:t>Contabilidad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404257"/>
                  </a:ext>
                </a:extLst>
              </a:tr>
              <a:tr h="232020">
                <a:tc>
                  <a:txBody>
                    <a:bodyPr/>
                    <a:lstStyle/>
                    <a:p>
                      <a:pPr fontAlgn="base"/>
                      <a:r>
                        <a:rPr lang="es-ES" sz="1400">
                          <a:effectLst/>
                        </a:rPr>
                        <a:t>Carmen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400">
                          <a:effectLst/>
                        </a:rPr>
                        <a:t>Segovia García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400" dirty="0">
                          <a:effectLst/>
                          <a:highlight>
                            <a:srgbClr val="FFFF00"/>
                          </a:highlight>
                        </a:rPr>
                        <a:t>NULL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191773"/>
                  </a:ext>
                </a:extLst>
              </a:tr>
              <a:tr h="232020">
                <a:tc>
                  <a:txBody>
                    <a:bodyPr/>
                    <a:lstStyle/>
                    <a:p>
                      <a:pPr fontAlgn="base"/>
                      <a:r>
                        <a:rPr lang="es-ES" sz="1400" dirty="0">
                          <a:effectLst/>
                          <a:highlight>
                            <a:srgbClr val="FFFF00"/>
                          </a:highlight>
                        </a:rPr>
                        <a:t>NULL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400" dirty="0">
                          <a:effectLst/>
                          <a:highlight>
                            <a:srgbClr val="FFFF00"/>
                          </a:highlight>
                        </a:rPr>
                        <a:t>NULL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400" dirty="0">
                          <a:effectLst/>
                        </a:rPr>
                        <a:t>Almacén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804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947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6C683EA-4B64-1578-1999-81691E4F8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175" y="255937"/>
            <a:ext cx="6160185" cy="377106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7FAA82C-8E90-DA24-F110-149D69E3B09D}"/>
              </a:ext>
            </a:extLst>
          </p:cNvPr>
          <p:cNvSpPr txBox="1"/>
          <p:nvPr/>
        </p:nvSpPr>
        <p:spPr>
          <a:xfrm>
            <a:off x="576175" y="4293739"/>
            <a:ext cx="11248272" cy="23083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sz="2400" dirty="0"/>
              <a:t>SELECT *</a:t>
            </a:r>
          </a:p>
          <a:p>
            <a:r>
              <a:rPr lang="es-ES" sz="2400" dirty="0"/>
              <a:t>FROM PRODUCTOS</a:t>
            </a:r>
          </a:p>
          <a:p>
            <a:r>
              <a:rPr lang="es-ES" sz="2400" dirty="0"/>
              <a:t>JOIN PEDIDOS ON </a:t>
            </a:r>
            <a:r>
              <a:rPr lang="es-ES" sz="2400" dirty="0" err="1"/>
              <a:t>PRODUCTOS.id_producto</a:t>
            </a:r>
            <a:r>
              <a:rPr lang="es-ES" sz="2400" dirty="0"/>
              <a:t> = </a:t>
            </a:r>
            <a:r>
              <a:rPr lang="es-ES" sz="2400" dirty="0" err="1"/>
              <a:t>PEDIDOS.producto</a:t>
            </a:r>
            <a:r>
              <a:rPr lang="es-ES" sz="2400" dirty="0"/>
              <a:t> </a:t>
            </a:r>
          </a:p>
          <a:p>
            <a:r>
              <a:rPr lang="es-ES" sz="2400"/>
              <a:t>AND </a:t>
            </a:r>
            <a:r>
              <a:rPr lang="es-ES" sz="2400" dirty="0" err="1"/>
              <a:t>PRODUCTOS.id_fab</a:t>
            </a:r>
            <a:r>
              <a:rPr lang="es-ES" sz="2400" dirty="0"/>
              <a:t>=</a:t>
            </a:r>
            <a:r>
              <a:rPr lang="es-ES" sz="2400" dirty="0" err="1"/>
              <a:t>PEDIDOS.fab</a:t>
            </a:r>
            <a:endParaRPr lang="es-ES" sz="2400" dirty="0"/>
          </a:p>
          <a:p>
            <a:r>
              <a:rPr lang="es-ES" sz="2400" dirty="0"/>
              <a:t>JOIN REPVENTAS ON </a:t>
            </a:r>
            <a:r>
              <a:rPr lang="es-ES" sz="2400" dirty="0" err="1"/>
              <a:t>PEDIDOS.rep</a:t>
            </a:r>
            <a:r>
              <a:rPr lang="es-ES" sz="2400" dirty="0"/>
              <a:t> = </a:t>
            </a:r>
            <a:r>
              <a:rPr lang="es-ES" sz="2400" dirty="0" err="1"/>
              <a:t>REPVETAS.num_empl</a:t>
            </a:r>
            <a:endParaRPr lang="es-ES" sz="2400" dirty="0"/>
          </a:p>
          <a:p>
            <a:r>
              <a:rPr lang="es-ES" sz="2400" dirty="0"/>
              <a:t>JOIN OFICINAS ON </a:t>
            </a:r>
            <a:r>
              <a:rPr lang="es-ES" sz="2400" dirty="0" err="1"/>
              <a:t>REPVENTAS.oficina_rep</a:t>
            </a:r>
            <a:r>
              <a:rPr lang="es-ES" sz="2400" dirty="0"/>
              <a:t> = </a:t>
            </a:r>
            <a:r>
              <a:rPr lang="es-ES" sz="2400" dirty="0" err="1"/>
              <a:t>OFICINAS.oficina</a:t>
            </a:r>
            <a:r>
              <a:rPr lang="es-ES" sz="24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354916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BUSCAR INFORMACION DUPLICADA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541581"/>
          </a:xfrm>
        </p:spPr>
        <p:txBody>
          <a:bodyPr/>
          <a:lstStyle/>
          <a:p>
            <a:r>
              <a:rPr lang="es-ES" dirty="0"/>
              <a:t>Consulta muy útil para buscar campos duplicados en una tabla: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069847" y="2866797"/>
            <a:ext cx="951794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/>
              <a:t>SELECT</a:t>
            </a:r>
            <a:r>
              <a:rPr lang="es-ES" dirty="0"/>
              <a:t> Lista de Campos a Visualizar </a:t>
            </a:r>
          </a:p>
          <a:p>
            <a:r>
              <a:rPr lang="es-ES" b="1" dirty="0"/>
              <a:t>FROM</a:t>
            </a:r>
            <a:r>
              <a:rPr lang="es-ES" dirty="0"/>
              <a:t> Tabla </a:t>
            </a:r>
          </a:p>
          <a:p>
            <a:r>
              <a:rPr lang="es-ES" b="1" dirty="0"/>
              <a:t>WHERE</a:t>
            </a:r>
            <a:r>
              <a:rPr lang="es-ES" dirty="0"/>
              <a:t> </a:t>
            </a:r>
            <a:r>
              <a:rPr lang="es-ES" dirty="0" err="1"/>
              <a:t>CampoDeBusqueda</a:t>
            </a:r>
            <a:endParaRPr lang="es-ES" dirty="0"/>
          </a:p>
          <a:p>
            <a:r>
              <a:rPr lang="es-ES" b="1" dirty="0"/>
              <a:t>IN</a:t>
            </a:r>
            <a:r>
              <a:rPr lang="es-ES" dirty="0"/>
              <a:t> </a:t>
            </a:r>
          </a:p>
          <a:p>
            <a:r>
              <a:rPr lang="es-ES" dirty="0"/>
              <a:t>(</a:t>
            </a:r>
            <a:r>
              <a:rPr lang="es-ES" b="1" dirty="0"/>
              <a:t>SELECT</a:t>
            </a:r>
            <a:r>
              <a:rPr lang="es-ES" dirty="0"/>
              <a:t> </a:t>
            </a:r>
            <a:r>
              <a:rPr lang="es-ES" dirty="0" err="1"/>
              <a:t>CampoDeBusqueda</a:t>
            </a:r>
            <a:r>
              <a:rPr lang="es-ES" dirty="0"/>
              <a:t> </a:t>
            </a:r>
            <a:r>
              <a:rPr lang="es-ES" b="1" dirty="0"/>
              <a:t>FROM</a:t>
            </a:r>
            <a:r>
              <a:rPr lang="es-ES" dirty="0"/>
              <a:t> Tabla </a:t>
            </a:r>
            <a:r>
              <a:rPr lang="es-ES" b="1" dirty="0"/>
              <a:t>GROUP</a:t>
            </a:r>
            <a:r>
              <a:rPr lang="es-ES" dirty="0"/>
              <a:t> </a:t>
            </a:r>
            <a:r>
              <a:rPr lang="es-ES" b="1" dirty="0"/>
              <a:t>BY</a:t>
            </a:r>
            <a:r>
              <a:rPr lang="es-ES" dirty="0"/>
              <a:t> </a:t>
            </a:r>
            <a:r>
              <a:rPr lang="es-ES" dirty="0" err="1"/>
              <a:t>CampoDeBusqueda</a:t>
            </a:r>
            <a:r>
              <a:rPr lang="es-ES" dirty="0"/>
              <a:t> </a:t>
            </a:r>
          </a:p>
          <a:p>
            <a:r>
              <a:rPr lang="es-ES" b="1" dirty="0"/>
              <a:t>HAVING</a:t>
            </a:r>
            <a:r>
              <a:rPr lang="es-ES" dirty="0"/>
              <a:t> </a:t>
            </a:r>
            <a:r>
              <a:rPr lang="es-ES" b="1" dirty="0"/>
              <a:t>COUNT</a:t>
            </a:r>
            <a:r>
              <a:rPr lang="es-ES" dirty="0"/>
              <a:t>(*)&gt;1 ) </a:t>
            </a:r>
          </a:p>
        </p:txBody>
      </p:sp>
    </p:spTree>
    <p:extLst>
      <p:ext uri="{BB962C8B-B14F-4D97-AF65-F5344CB8AC3E}">
        <p14:creationId xmlns:p14="http://schemas.microsoft.com/office/powerpoint/2010/main" val="1293454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/>
          <p:cNvSpPr txBox="1">
            <a:spLocks/>
          </p:cNvSpPr>
          <p:nvPr/>
        </p:nvSpPr>
        <p:spPr>
          <a:xfrm>
            <a:off x="606290" y="592778"/>
            <a:ext cx="10058400" cy="541581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4800" dirty="0"/>
              <a:t>Ejemplo</a:t>
            </a:r>
          </a:p>
        </p:txBody>
      </p:sp>
      <p:sp>
        <p:nvSpPr>
          <p:cNvPr id="5" name="Rectángulo 4"/>
          <p:cNvSpPr/>
          <p:nvPr/>
        </p:nvSpPr>
        <p:spPr>
          <a:xfrm>
            <a:off x="1318954" y="1989250"/>
            <a:ext cx="904701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SELECT</a:t>
            </a:r>
            <a:r>
              <a:rPr lang="en-US" sz="2400" dirty="0"/>
              <a:t> </a:t>
            </a:r>
            <a:r>
              <a:rPr lang="en-US" sz="2400" dirty="0" err="1"/>
              <a:t>descripción,id_fab,id_producto,precio</a:t>
            </a:r>
            <a:r>
              <a:rPr lang="en-US" sz="2400" dirty="0"/>
              <a:t> </a:t>
            </a:r>
          </a:p>
          <a:p>
            <a:r>
              <a:rPr lang="en-US" sz="2400" b="1" dirty="0"/>
              <a:t>FROM</a:t>
            </a:r>
            <a:r>
              <a:rPr lang="en-US" sz="2400" dirty="0"/>
              <a:t> </a:t>
            </a:r>
            <a:r>
              <a:rPr lang="en-US" sz="2400" dirty="0" err="1"/>
              <a:t>productos</a:t>
            </a:r>
            <a:r>
              <a:rPr lang="en-US" sz="2400" dirty="0"/>
              <a:t> </a:t>
            </a:r>
          </a:p>
          <a:p>
            <a:r>
              <a:rPr lang="en-US" sz="2400" b="1" dirty="0"/>
              <a:t>WHERE</a:t>
            </a:r>
            <a:r>
              <a:rPr lang="en-US" sz="2400" dirty="0"/>
              <a:t> </a:t>
            </a:r>
            <a:r>
              <a:rPr lang="en-US" sz="2400" dirty="0" err="1"/>
              <a:t>precio</a:t>
            </a:r>
            <a:r>
              <a:rPr lang="en-US" sz="2400" dirty="0"/>
              <a:t> </a:t>
            </a:r>
          </a:p>
          <a:p>
            <a:r>
              <a:rPr lang="en-US" sz="2400" b="1" dirty="0"/>
              <a:t>IN</a:t>
            </a:r>
            <a:r>
              <a:rPr lang="en-US" sz="2400" dirty="0"/>
              <a:t> </a:t>
            </a:r>
          </a:p>
          <a:p>
            <a:r>
              <a:rPr lang="en-US" sz="2400" dirty="0"/>
              <a:t>(</a:t>
            </a:r>
            <a:r>
              <a:rPr lang="en-US" sz="2400" b="1" dirty="0"/>
              <a:t>SELECT</a:t>
            </a:r>
            <a:r>
              <a:rPr lang="en-US" sz="2400" dirty="0"/>
              <a:t> </a:t>
            </a:r>
            <a:r>
              <a:rPr lang="en-US" sz="2400" dirty="0" err="1"/>
              <a:t>precio</a:t>
            </a:r>
            <a:r>
              <a:rPr lang="en-US" sz="2400" dirty="0"/>
              <a:t> </a:t>
            </a:r>
            <a:r>
              <a:rPr lang="en-US" sz="2400" b="1" dirty="0"/>
              <a:t>FROM</a:t>
            </a:r>
            <a:r>
              <a:rPr lang="en-US" sz="2400" dirty="0"/>
              <a:t> </a:t>
            </a:r>
            <a:r>
              <a:rPr lang="en-US" sz="2400" dirty="0" err="1"/>
              <a:t>productos</a:t>
            </a:r>
            <a:r>
              <a:rPr lang="en-US" sz="2400" dirty="0"/>
              <a:t> </a:t>
            </a:r>
            <a:r>
              <a:rPr lang="en-US" sz="2400" b="1" dirty="0"/>
              <a:t>GROUP</a:t>
            </a:r>
            <a:r>
              <a:rPr lang="en-US" sz="2400" dirty="0"/>
              <a:t> </a:t>
            </a:r>
            <a:r>
              <a:rPr lang="en-US" sz="2400" b="1" dirty="0"/>
              <a:t>BY</a:t>
            </a:r>
            <a:r>
              <a:rPr lang="en-US" sz="2400" dirty="0"/>
              <a:t> </a:t>
            </a:r>
            <a:r>
              <a:rPr lang="en-US" sz="2400" dirty="0" err="1"/>
              <a:t>precio</a:t>
            </a:r>
            <a:r>
              <a:rPr lang="en-US" sz="2400" dirty="0"/>
              <a:t> </a:t>
            </a:r>
            <a:r>
              <a:rPr lang="en-US" sz="2400" b="1" dirty="0"/>
              <a:t>HAVING</a:t>
            </a:r>
            <a:r>
              <a:rPr lang="en-US" sz="2400" dirty="0"/>
              <a:t> COUNT(*)&gt;1) 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865" y="4723516"/>
            <a:ext cx="3886200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42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Otras funciones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322" y="1633655"/>
            <a:ext cx="7407680" cy="407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744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077883" y="1443289"/>
            <a:ext cx="66612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/>
              <a:t>INSERT INTO registros (</a:t>
            </a:r>
            <a:r>
              <a:rPr lang="es-ES" sz="2400" dirty="0" err="1"/>
              <a:t>fecha_hora</a:t>
            </a:r>
            <a:r>
              <a:rPr lang="es-ES" sz="2400" dirty="0"/>
              <a:t>, evento)</a:t>
            </a:r>
          </a:p>
          <a:p>
            <a:r>
              <a:rPr lang="es-ES" sz="2400" dirty="0"/>
              <a:t>VALUES (NOW(), 'Nuevo registro creado');</a:t>
            </a:r>
          </a:p>
        </p:txBody>
      </p:sp>
      <p:sp>
        <p:nvSpPr>
          <p:cNvPr id="5" name="Rectángulo 4"/>
          <p:cNvSpPr/>
          <p:nvPr/>
        </p:nvSpPr>
        <p:spPr>
          <a:xfrm>
            <a:off x="1077883" y="3269272"/>
            <a:ext cx="8415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dirty="0"/>
              <a:t>SELECT time(</a:t>
            </a:r>
            <a:r>
              <a:rPr lang="es-ES" sz="2800" dirty="0" err="1"/>
              <a:t>fecha_hora</a:t>
            </a:r>
            <a:r>
              <a:rPr lang="es-ES" sz="2800" dirty="0"/>
              <a:t>) as hora FROM registros;</a:t>
            </a:r>
          </a:p>
        </p:txBody>
      </p:sp>
    </p:spTree>
    <p:extLst>
      <p:ext uri="{BB962C8B-B14F-4D97-AF65-F5344CB8AC3E}">
        <p14:creationId xmlns:p14="http://schemas.microsoft.com/office/powerpoint/2010/main" val="155008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741581" y="684014"/>
            <a:ext cx="6145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/>
              <a:t>EQUIVALENCIAS ANY ALL CON MAX MIN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863" y="2170662"/>
            <a:ext cx="8282831" cy="28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240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164</TotalTime>
  <Words>491</Words>
  <Application>Microsoft Office PowerPoint</Application>
  <PresentationFormat>Panorámica</PresentationFormat>
  <Paragraphs>138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Trebuchet MS</vt:lpstr>
      <vt:lpstr>Wingdings</vt:lpstr>
      <vt:lpstr>Wingdings 3</vt:lpstr>
      <vt:lpstr>Faceta</vt:lpstr>
      <vt:lpstr>Operaciones avanzadas </vt:lpstr>
      <vt:lpstr>OPERACIONES:</vt:lpstr>
      <vt:lpstr>Consultas de Unión Internas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BUSCAR INFORMACION DUPLICADA</vt:lpstr>
      <vt:lpstr>Presentación de PowerPoint</vt:lpstr>
      <vt:lpstr>Otras funciones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lenguaje SQL - IV: Operaciones avanzadas</dc:title>
  <dc:creator>German</dc:creator>
  <cp:lastModifiedBy>german martinez calvente</cp:lastModifiedBy>
  <cp:revision>14</cp:revision>
  <dcterms:created xsi:type="dcterms:W3CDTF">2023-03-19T16:46:42Z</dcterms:created>
  <dcterms:modified xsi:type="dcterms:W3CDTF">2024-03-19T09:29:52Z</dcterms:modified>
</cp:coreProperties>
</file>