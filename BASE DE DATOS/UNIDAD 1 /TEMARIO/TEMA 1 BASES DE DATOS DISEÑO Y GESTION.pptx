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64" r:id="rId4"/>
    <p:sldId id="266" r:id="rId5"/>
    <p:sldId id="267" r:id="rId6"/>
    <p:sldId id="268" r:id="rId7"/>
    <p:sldId id="25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7" r:id="rId16"/>
    <p:sldId id="257" r:id="rId17"/>
    <p:sldId id="260" r:id="rId18"/>
    <p:sldId id="278" r:id="rId19"/>
    <p:sldId id="279" r:id="rId20"/>
    <p:sldId id="280" r:id="rId21"/>
    <p:sldId id="281" r:id="rId22"/>
    <p:sldId id="282" r:id="rId23"/>
    <p:sldId id="284" r:id="rId24"/>
    <p:sldId id="261" r:id="rId25"/>
    <p:sldId id="285" r:id="rId26"/>
    <p:sldId id="262" r:id="rId27"/>
    <p:sldId id="276" r:id="rId28"/>
    <p:sldId id="283" r:id="rId29"/>
    <p:sldId id="286" r:id="rId30"/>
    <p:sldId id="287" r:id="rId3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42CE-4864-4DE6-B43E-EF3C84C7FD86}" type="datetimeFigureOut">
              <a:rPr lang="es-ES" smtClean="0"/>
              <a:t>19/09/2023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8880-BF84-4F2D-96D7-BD1D7B9D5F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3932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42CE-4864-4DE6-B43E-EF3C84C7FD86}" type="datetimeFigureOut">
              <a:rPr lang="es-ES" smtClean="0"/>
              <a:t>19/09/2023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8880-BF84-4F2D-96D7-BD1D7B9D5F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3890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42CE-4864-4DE6-B43E-EF3C84C7FD86}" type="datetimeFigureOut">
              <a:rPr lang="es-ES" smtClean="0"/>
              <a:t>19/09/2023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8880-BF84-4F2D-96D7-BD1D7B9D5F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7481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42CE-4864-4DE6-B43E-EF3C84C7FD86}" type="datetimeFigureOut">
              <a:rPr lang="es-ES" smtClean="0"/>
              <a:t>19/09/2023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8880-BF84-4F2D-96D7-BD1D7B9D5F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7879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42CE-4864-4DE6-B43E-EF3C84C7FD86}" type="datetimeFigureOut">
              <a:rPr lang="es-ES" smtClean="0"/>
              <a:t>19/09/2023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8880-BF84-4F2D-96D7-BD1D7B9D5F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6221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42CE-4864-4DE6-B43E-EF3C84C7FD86}" type="datetimeFigureOut">
              <a:rPr lang="es-ES" smtClean="0"/>
              <a:t>19/09/2023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8880-BF84-4F2D-96D7-BD1D7B9D5F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292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42CE-4864-4DE6-B43E-EF3C84C7FD86}" type="datetimeFigureOut">
              <a:rPr lang="es-ES" smtClean="0"/>
              <a:t>19/09/2023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8880-BF84-4F2D-96D7-BD1D7B9D5F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584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42CE-4864-4DE6-B43E-EF3C84C7FD86}" type="datetimeFigureOut">
              <a:rPr lang="es-ES" smtClean="0"/>
              <a:t>19/09/2023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8880-BF84-4F2D-96D7-BD1D7B9D5F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9248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42CE-4864-4DE6-B43E-EF3C84C7FD86}" type="datetimeFigureOut">
              <a:rPr lang="es-ES" smtClean="0"/>
              <a:t>19/09/2023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8880-BF84-4F2D-96D7-BD1D7B9D5F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9140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42CE-4864-4DE6-B43E-EF3C84C7FD86}" type="datetimeFigureOut">
              <a:rPr lang="es-ES" smtClean="0"/>
              <a:t>19/09/2023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8880-BF84-4F2D-96D7-BD1D7B9D5F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48686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42CE-4864-4DE6-B43E-EF3C84C7FD86}" type="datetimeFigureOut">
              <a:rPr lang="es-ES" smtClean="0"/>
              <a:t>19/09/2023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8880-BF84-4F2D-96D7-BD1D7B9D5F94}" type="slidenum">
              <a:rPr lang="es-ES" smtClean="0"/>
              <a:t>‹Nº›</a:t>
            </a:fld>
            <a:endParaRPr lang="es-E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81130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42CE-4864-4DE6-B43E-EF3C84C7FD86}" type="datetimeFigureOut">
              <a:rPr lang="es-ES" smtClean="0"/>
              <a:t>19/09/2023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8880-BF84-4F2D-96D7-BD1D7B9D5F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5304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42CE-4864-4DE6-B43E-EF3C84C7FD86}" type="datetimeFigureOut">
              <a:rPr lang="es-ES" smtClean="0"/>
              <a:t>19/09/2023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8880-BF84-4F2D-96D7-BD1D7B9D5F94}" type="slidenum">
              <a:rPr lang="es-ES" smtClean="0"/>
              <a:t>‹Nº›</a:t>
            </a:fld>
            <a:endParaRPr lang="es-E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0674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42CE-4864-4DE6-B43E-EF3C84C7FD86}" type="datetimeFigureOut">
              <a:rPr lang="es-ES" smtClean="0"/>
              <a:t>19/09/2023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8880-BF84-4F2D-96D7-BD1D7B9D5F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4500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42CE-4864-4DE6-B43E-EF3C84C7FD86}" type="datetimeFigureOut">
              <a:rPr lang="es-ES" smtClean="0"/>
              <a:t>19/09/2023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8880-BF84-4F2D-96D7-BD1D7B9D5F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7826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942CE-4864-4DE6-B43E-EF3C84C7FD86}" type="datetimeFigureOut">
              <a:rPr lang="es-ES" smtClean="0"/>
              <a:t>19/09/2023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38880-BF84-4F2D-96D7-BD1D7B9D5F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351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942CE-4864-4DE6-B43E-EF3C84C7FD86}" type="datetimeFigureOut">
              <a:rPr lang="es-ES" smtClean="0"/>
              <a:t>19/09/2023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3038880-BF84-4F2D-96D7-BD1D7B9D5F9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49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hyperlink" Target="https://doc.4d.com/4Dv19/4D/19/Comandos-SQL.300-5434537.es.html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smtClean="0"/>
              <a:t>BASES DE DATOS DISEÑO Y GESTION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 smtClean="0"/>
              <a:t>Capítulo 1: Sistemas de almacenamiento de la información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3014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OBJETIVOS DEL TEMA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ES" dirty="0" smtClean="0"/>
              <a:t>Comprender </a:t>
            </a:r>
            <a:r>
              <a:rPr lang="es-ES" dirty="0"/>
              <a:t>la problemática derivada del almacenamiento óptimo de la información.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Tomar </a:t>
            </a:r>
            <a:r>
              <a:rPr lang="es-ES" dirty="0"/>
              <a:t>cierta perspectiva histórica sobre el desarrollo de los sistemas </a:t>
            </a:r>
            <a:r>
              <a:rPr lang="es-ES" dirty="0" smtClean="0"/>
              <a:t>de información</a:t>
            </a:r>
            <a:r>
              <a:rPr lang="es-E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Asimilar </a:t>
            </a:r>
            <a:r>
              <a:rPr lang="es-ES" dirty="0"/>
              <a:t>las características de los distintos tipos de fichero.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Entender </a:t>
            </a:r>
            <a:r>
              <a:rPr lang="es-ES" dirty="0"/>
              <a:t>el concepto de índice.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Describir </a:t>
            </a:r>
            <a:r>
              <a:rPr lang="es-ES" dirty="0"/>
              <a:t>los distintos modelos de bases de datos.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smtClean="0"/>
              <a:t>Familiarizarse </a:t>
            </a:r>
            <a:r>
              <a:rPr lang="es-ES" dirty="0"/>
              <a:t>con los componentes y funciones de los sistemas gestores de bases de datos.</a:t>
            </a:r>
          </a:p>
        </p:txBody>
      </p:sp>
    </p:spTree>
    <p:extLst>
      <p:ext uri="{BB962C8B-B14F-4D97-AF65-F5344CB8AC3E}">
        <p14:creationId xmlns:p14="http://schemas.microsoft.com/office/powerpoint/2010/main" val="280070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54825" y="2676064"/>
            <a:ext cx="10515600" cy="1325563"/>
          </a:xfrm>
        </p:spPr>
        <p:txBody>
          <a:bodyPr/>
          <a:lstStyle/>
          <a:p>
            <a:r>
              <a:rPr lang="es-ES" dirty="0" smtClean="0"/>
              <a:t>MAPA DEL TEMA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358" y="564631"/>
            <a:ext cx="6427772" cy="5852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227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9114" y="282632"/>
            <a:ext cx="2637213" cy="333842"/>
          </a:xfrm>
        </p:spPr>
        <p:txBody>
          <a:bodyPr>
            <a:normAutofit fontScale="90000"/>
          </a:bodyPr>
          <a:lstStyle/>
          <a:p>
            <a:r>
              <a:rPr lang="es-ES" sz="1600" dirty="0" smtClean="0"/>
              <a:t>GLOSARIO BASE DEL TEMA</a:t>
            </a:r>
            <a:endParaRPr lang="es-ES" sz="1600" dirty="0"/>
          </a:p>
        </p:txBody>
      </p:sp>
      <p:sp>
        <p:nvSpPr>
          <p:cNvPr id="5" name="Rectángulo 4"/>
          <p:cNvSpPr/>
          <p:nvPr/>
        </p:nvSpPr>
        <p:spPr>
          <a:xfrm>
            <a:off x="42949" y="2259730"/>
            <a:ext cx="391668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s-ES" dirty="0" err="1">
                <a:solidFill>
                  <a:srgbClr val="374151"/>
                </a:solidFill>
                <a:latin typeface="Söhne"/>
              </a:rPr>
              <a:t>Backup</a:t>
            </a:r>
            <a:endParaRPr lang="es-ES" dirty="0">
              <a:solidFill>
                <a:srgbClr val="374151"/>
              </a:solidFill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s-ES" dirty="0">
                <a:solidFill>
                  <a:srgbClr val="374151"/>
                </a:solidFill>
                <a:latin typeface="Söhne"/>
              </a:rPr>
              <a:t>Byte</a:t>
            </a:r>
          </a:p>
          <a:p>
            <a:pPr>
              <a:buFont typeface="+mj-lt"/>
              <a:buAutoNum type="arabicPeriod"/>
            </a:pPr>
            <a:r>
              <a:rPr lang="es-ES" dirty="0">
                <a:solidFill>
                  <a:srgbClr val="374151"/>
                </a:solidFill>
                <a:latin typeface="Söhne"/>
              </a:rPr>
              <a:t>Fichero o archivo</a:t>
            </a:r>
          </a:p>
          <a:p>
            <a:pPr>
              <a:buFont typeface="+mj-lt"/>
              <a:buAutoNum type="arabicPeriod"/>
            </a:pPr>
            <a:r>
              <a:rPr lang="es-ES" dirty="0">
                <a:solidFill>
                  <a:srgbClr val="374151"/>
                </a:solidFill>
                <a:latin typeface="Söhne"/>
              </a:rPr>
              <a:t>Interfaz de línea de </a:t>
            </a:r>
            <a:r>
              <a:rPr lang="es-ES" dirty="0" smtClean="0">
                <a:solidFill>
                  <a:srgbClr val="374151"/>
                </a:solidFill>
                <a:latin typeface="Söhne"/>
              </a:rPr>
              <a:t>comandos</a:t>
            </a:r>
            <a:endParaRPr lang="es-ES" dirty="0">
              <a:solidFill>
                <a:srgbClr val="374151"/>
              </a:solidFill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s-ES" dirty="0">
                <a:solidFill>
                  <a:srgbClr val="374151"/>
                </a:solidFill>
                <a:latin typeface="Söhne"/>
              </a:rPr>
              <a:t>Lenguaje de marcas </a:t>
            </a:r>
            <a:endParaRPr lang="es-ES" dirty="0" smtClean="0">
              <a:solidFill>
                <a:srgbClr val="374151"/>
              </a:solidFill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s-ES" dirty="0" smtClean="0">
                <a:solidFill>
                  <a:srgbClr val="374151"/>
                </a:solidFill>
                <a:latin typeface="Söhne"/>
              </a:rPr>
              <a:t>Lenguaje </a:t>
            </a:r>
            <a:r>
              <a:rPr lang="es-ES" dirty="0">
                <a:solidFill>
                  <a:srgbClr val="374151"/>
                </a:solidFill>
                <a:latin typeface="Söhne"/>
              </a:rPr>
              <a:t>de programación</a:t>
            </a:r>
          </a:p>
          <a:p>
            <a:pPr>
              <a:buFont typeface="+mj-lt"/>
              <a:buAutoNum type="arabicPeriod"/>
            </a:pPr>
            <a:r>
              <a:rPr lang="es-ES" dirty="0">
                <a:solidFill>
                  <a:srgbClr val="374151"/>
                </a:solidFill>
                <a:latin typeface="Söhne"/>
              </a:rPr>
              <a:t>Mainframe</a:t>
            </a:r>
          </a:p>
          <a:p>
            <a:pPr>
              <a:buFont typeface="+mj-lt"/>
              <a:buAutoNum type="arabicPeriod"/>
            </a:pPr>
            <a:r>
              <a:rPr lang="es-ES" dirty="0" err="1">
                <a:solidFill>
                  <a:srgbClr val="374151"/>
                </a:solidFill>
                <a:latin typeface="Söhne"/>
              </a:rPr>
              <a:t>Networking</a:t>
            </a:r>
            <a:endParaRPr lang="es-ES" dirty="0">
              <a:solidFill>
                <a:srgbClr val="374151"/>
              </a:solidFill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s-ES" dirty="0">
                <a:solidFill>
                  <a:srgbClr val="374151"/>
                </a:solidFill>
                <a:latin typeface="Söhne"/>
              </a:rPr>
              <a:t>Software</a:t>
            </a:r>
            <a:endParaRPr lang="es-E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3959629" y="415636"/>
            <a:ext cx="8232371" cy="6273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dirty="0">
                <a:solidFill>
                  <a:srgbClr val="374151"/>
                </a:solidFill>
                <a:latin typeface="Söhne"/>
              </a:rPr>
              <a:t>Entidad consistente en secuencias de bytes que se almacenan en una memoria secundaria (disco duro, cinta magnética, DVD, etc.).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dirty="0">
                <a:solidFill>
                  <a:srgbClr val="374151"/>
                </a:solidFill>
                <a:latin typeface="Söhne"/>
              </a:rPr>
              <a:t>Programa informático.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dirty="0">
                <a:solidFill>
                  <a:srgbClr val="374151"/>
                </a:solidFill>
                <a:latin typeface="Söhne"/>
              </a:rPr>
              <a:t>Unidad de información compuesta de ocho bits o dígitos binarios.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dirty="0">
                <a:solidFill>
                  <a:srgbClr val="374151"/>
                </a:solidFill>
                <a:latin typeface="Söhne"/>
              </a:rPr>
              <a:t>Forma de interactuar con un software mediante el envío de comandos por parte del usuario y en ausencia de una interfaz gráfica.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dirty="0">
                <a:solidFill>
                  <a:srgbClr val="374151"/>
                </a:solidFill>
                <a:latin typeface="Söhne"/>
              </a:rPr>
              <a:t>Conjunto de instrucciones de codificación que permiten marcar o etiquetar diversas partes de un fichero aportando información adicional sobre su contenido, estructura o presentación.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dirty="0">
                <a:solidFill>
                  <a:srgbClr val="374151"/>
                </a:solidFill>
                <a:latin typeface="Söhne"/>
              </a:rPr>
              <a:t>Ordenador de gran potencia utilizado simultáneamente por muchos usuarios. Es habitual en entornos de banca y grandes empresas.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dirty="0">
                <a:solidFill>
                  <a:srgbClr val="374151"/>
                </a:solidFill>
                <a:latin typeface="Söhne"/>
              </a:rPr>
              <a:t>Conjunto de normas lingüísticas que permiten a un ordenador comprender y ejecutar un programa.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dirty="0">
                <a:solidFill>
                  <a:srgbClr val="374151"/>
                </a:solidFill>
                <a:latin typeface="Söhne"/>
              </a:rPr>
              <a:t>Área de trabajo relacionada con comunicaciones y redes de ordenadores.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ES" dirty="0">
                <a:solidFill>
                  <a:srgbClr val="374151"/>
                </a:solidFill>
                <a:latin typeface="Söhne"/>
              </a:rPr>
              <a:t>Copia de seguridad de datos o aplicaciones informáticas.</a:t>
            </a:r>
            <a:endParaRPr lang="es-E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cxnSp>
        <p:nvCxnSpPr>
          <p:cNvPr id="8" name="Conector recto de flecha 7"/>
          <p:cNvCxnSpPr/>
          <p:nvPr/>
        </p:nvCxnSpPr>
        <p:spPr>
          <a:xfrm>
            <a:off x="1155469" y="2468880"/>
            <a:ext cx="2884516" cy="3940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/>
          <p:cNvCxnSpPr/>
          <p:nvPr/>
        </p:nvCxnSpPr>
        <p:spPr>
          <a:xfrm flipV="1">
            <a:off x="906087" y="1953491"/>
            <a:ext cx="3053542" cy="789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/>
          <p:cNvCxnSpPr/>
          <p:nvPr/>
        </p:nvCxnSpPr>
        <p:spPr>
          <a:xfrm flipV="1">
            <a:off x="2094807" y="695670"/>
            <a:ext cx="1945178" cy="2321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/>
          <p:cNvCxnSpPr/>
          <p:nvPr/>
        </p:nvCxnSpPr>
        <p:spPr>
          <a:xfrm flipV="1">
            <a:off x="3408218" y="2468880"/>
            <a:ext cx="551411" cy="789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/>
          <p:cNvCxnSpPr/>
          <p:nvPr/>
        </p:nvCxnSpPr>
        <p:spPr>
          <a:xfrm flipV="1">
            <a:off x="2432858" y="3226671"/>
            <a:ext cx="1526771" cy="338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/>
          <p:cNvCxnSpPr/>
          <p:nvPr/>
        </p:nvCxnSpPr>
        <p:spPr>
          <a:xfrm>
            <a:off x="3067396" y="3871540"/>
            <a:ext cx="892233" cy="12797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/>
          <p:cNvCxnSpPr/>
          <p:nvPr/>
        </p:nvCxnSpPr>
        <p:spPr>
          <a:xfrm>
            <a:off x="1446415" y="4080217"/>
            <a:ext cx="2513214" cy="350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/>
          <p:cNvCxnSpPr/>
          <p:nvPr/>
        </p:nvCxnSpPr>
        <p:spPr>
          <a:xfrm>
            <a:off x="1512916" y="4430684"/>
            <a:ext cx="2446713" cy="1604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/>
          <p:cNvCxnSpPr/>
          <p:nvPr/>
        </p:nvCxnSpPr>
        <p:spPr>
          <a:xfrm flipV="1">
            <a:off x="1296785" y="1537888"/>
            <a:ext cx="2743200" cy="3133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58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Introducción</a:t>
            </a:r>
            <a:endParaRPr lang="es-ES" dirty="0"/>
          </a:p>
        </p:txBody>
      </p:sp>
      <p:pic>
        <p:nvPicPr>
          <p:cNvPr id="1026" name="Picture 2" descr="Tarjetas para programar el mundo - Mujeres con cienc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22" y="2240242"/>
            <a:ext cx="4225232" cy="3517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ny Pro Elite 1TB USB 3.0 flash drive Premium : Pny: Amazon.es: Informátic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434" y="1661935"/>
            <a:ext cx="4674119" cy="4674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714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FICHEROS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12669"/>
            <a:ext cx="8837815" cy="3275214"/>
          </a:xfrm>
        </p:spPr>
        <p:txBody>
          <a:bodyPr>
            <a:normAutofit/>
          </a:bodyPr>
          <a:lstStyle/>
          <a:p>
            <a:pPr marL="469265" marR="5080" indent="-457200" algn="just">
              <a:lnSpc>
                <a:spcPts val="2900"/>
              </a:lnSpc>
              <a:spcBef>
                <a:spcPts val="459"/>
              </a:spcBef>
              <a:buClr>
                <a:srgbClr val="DD8047"/>
              </a:buClr>
              <a:buSzPct val="60377"/>
              <a:tabLst>
                <a:tab pos="353695" algn="l"/>
                <a:tab pos="354330" algn="l"/>
              </a:tabLst>
            </a:pPr>
            <a:r>
              <a:rPr lang="es-ES" sz="2400" spc="-300" dirty="0" smtClean="0">
                <a:cs typeface="Microsoft Sans Serif"/>
              </a:rPr>
              <a:t>Un</a:t>
            </a:r>
            <a:r>
              <a:rPr lang="es-ES" sz="2400" spc="-295" dirty="0" smtClean="0">
                <a:cs typeface="Microsoft Sans Serif"/>
              </a:rPr>
              <a:t> </a:t>
            </a:r>
            <a:r>
              <a:rPr lang="es-ES" sz="2400" spc="-75" dirty="0" smtClean="0">
                <a:cs typeface="Microsoft Sans Serif"/>
              </a:rPr>
              <a:t>ordenador </a:t>
            </a:r>
            <a:r>
              <a:rPr lang="es-ES" sz="2400" spc="-150" dirty="0" smtClean="0">
                <a:cs typeface="Microsoft Sans Serif"/>
              </a:rPr>
              <a:t>almacena</a:t>
            </a:r>
            <a:r>
              <a:rPr lang="es-ES" sz="2400" spc="-145" dirty="0" smtClean="0">
                <a:cs typeface="Microsoft Sans Serif"/>
              </a:rPr>
              <a:t> </a:t>
            </a:r>
            <a:r>
              <a:rPr lang="es-ES" sz="2400" spc="-295" dirty="0" smtClean="0">
                <a:cs typeface="Microsoft Sans Serif"/>
              </a:rPr>
              <a:t>muchos</a:t>
            </a:r>
            <a:r>
              <a:rPr lang="es-ES" sz="2400" spc="-290" dirty="0" smtClean="0">
                <a:cs typeface="Microsoft Sans Serif"/>
              </a:rPr>
              <a:t> </a:t>
            </a:r>
            <a:r>
              <a:rPr lang="es-ES" sz="2400" b="1" spc="-195" dirty="0" smtClean="0">
                <a:cs typeface="Arial"/>
              </a:rPr>
              <a:t>tipos</a:t>
            </a:r>
            <a:r>
              <a:rPr lang="es-ES" sz="2400" b="1" spc="-190" dirty="0" smtClean="0">
                <a:cs typeface="Arial"/>
              </a:rPr>
              <a:t> </a:t>
            </a:r>
            <a:r>
              <a:rPr lang="es-ES" sz="2400" b="1" spc="-195" dirty="0" smtClean="0">
                <a:cs typeface="Arial"/>
              </a:rPr>
              <a:t>de</a:t>
            </a:r>
            <a:r>
              <a:rPr lang="es-ES" sz="2400" b="1" spc="-190" dirty="0" smtClean="0">
                <a:cs typeface="Arial"/>
              </a:rPr>
              <a:t> </a:t>
            </a:r>
            <a:r>
              <a:rPr lang="es-ES" sz="2400" b="1" spc="-160" dirty="0" smtClean="0">
                <a:cs typeface="Arial"/>
              </a:rPr>
              <a:t>información</a:t>
            </a:r>
            <a:r>
              <a:rPr lang="es-ES" sz="2400" spc="-160" dirty="0" smtClean="0">
                <a:cs typeface="Microsoft Sans Serif"/>
              </a:rPr>
              <a:t>: </a:t>
            </a:r>
            <a:r>
              <a:rPr lang="es-ES" sz="2400" spc="-690" dirty="0" smtClean="0">
                <a:cs typeface="Microsoft Sans Serif"/>
              </a:rPr>
              <a:t> </a:t>
            </a:r>
            <a:r>
              <a:rPr lang="es-ES" sz="2400" spc="-120" dirty="0" smtClean="0">
                <a:cs typeface="Microsoft Sans Serif"/>
              </a:rPr>
              <a:t>datos </a:t>
            </a:r>
            <a:r>
              <a:rPr lang="es-ES" sz="2400" spc="-145" dirty="0" smtClean="0">
                <a:cs typeface="Microsoft Sans Serif"/>
              </a:rPr>
              <a:t>administrativos,</a:t>
            </a:r>
            <a:r>
              <a:rPr lang="es-ES" sz="2400" spc="-140" dirty="0" smtClean="0">
                <a:cs typeface="Microsoft Sans Serif"/>
              </a:rPr>
              <a:t> </a:t>
            </a:r>
            <a:r>
              <a:rPr lang="es-ES" sz="2400" spc="-155" dirty="0" smtClean="0">
                <a:cs typeface="Microsoft Sans Serif"/>
              </a:rPr>
              <a:t>contables,</a:t>
            </a:r>
            <a:r>
              <a:rPr lang="es-ES" sz="2400" spc="-150" dirty="0" smtClean="0">
                <a:cs typeface="Microsoft Sans Serif"/>
              </a:rPr>
              <a:t> </a:t>
            </a:r>
            <a:r>
              <a:rPr lang="es-ES" sz="2400" spc="-140" dirty="0" smtClean="0">
                <a:cs typeface="Microsoft Sans Serif"/>
              </a:rPr>
              <a:t>bancarios,</a:t>
            </a:r>
            <a:r>
              <a:rPr lang="es-ES" sz="2400" spc="-135" dirty="0" smtClean="0">
                <a:cs typeface="Microsoft Sans Serif"/>
              </a:rPr>
              <a:t> </a:t>
            </a:r>
            <a:r>
              <a:rPr lang="es-ES" sz="2400" spc="-240" dirty="0" smtClean="0">
                <a:cs typeface="Microsoft Sans Serif"/>
              </a:rPr>
              <a:t>música, </a:t>
            </a:r>
            <a:r>
              <a:rPr lang="es-ES" sz="2400" spc="-235" dirty="0" smtClean="0">
                <a:cs typeface="Microsoft Sans Serif"/>
              </a:rPr>
              <a:t> </a:t>
            </a:r>
            <a:r>
              <a:rPr lang="es-ES" sz="2400" spc="-145" dirty="0" smtClean="0">
                <a:cs typeface="Microsoft Sans Serif"/>
              </a:rPr>
              <a:t>películas,</a:t>
            </a:r>
            <a:r>
              <a:rPr lang="es-ES" sz="2400" spc="30" dirty="0" smtClean="0">
                <a:cs typeface="Microsoft Sans Serif"/>
              </a:rPr>
              <a:t> </a:t>
            </a:r>
            <a:r>
              <a:rPr lang="es-ES" sz="2400" spc="-145" dirty="0" smtClean="0">
                <a:cs typeface="Microsoft Sans Serif"/>
              </a:rPr>
              <a:t>videojuegos,</a:t>
            </a:r>
            <a:r>
              <a:rPr lang="es-ES" sz="2400" spc="35" dirty="0" smtClean="0">
                <a:cs typeface="Microsoft Sans Serif"/>
              </a:rPr>
              <a:t> </a:t>
            </a:r>
            <a:r>
              <a:rPr lang="es-ES" sz="2400" spc="-110" dirty="0" smtClean="0">
                <a:cs typeface="Microsoft Sans Serif"/>
              </a:rPr>
              <a:t>páginas</a:t>
            </a:r>
            <a:r>
              <a:rPr lang="es-ES" sz="2400" spc="25" dirty="0" smtClean="0">
                <a:cs typeface="Microsoft Sans Serif"/>
              </a:rPr>
              <a:t> </a:t>
            </a:r>
            <a:r>
              <a:rPr lang="es-ES" sz="2400" spc="-204" dirty="0" smtClean="0">
                <a:cs typeface="Microsoft Sans Serif"/>
              </a:rPr>
              <a:t>webs,</a:t>
            </a:r>
            <a:r>
              <a:rPr lang="es-ES" sz="2400" spc="35" dirty="0" smtClean="0">
                <a:cs typeface="Microsoft Sans Serif"/>
              </a:rPr>
              <a:t> </a:t>
            </a:r>
            <a:r>
              <a:rPr lang="es-ES" sz="2400" spc="-135" dirty="0" smtClean="0">
                <a:cs typeface="Microsoft Sans Serif"/>
              </a:rPr>
              <a:t>fotos,</a:t>
            </a:r>
            <a:r>
              <a:rPr lang="es-ES" sz="2400" spc="135" dirty="0" smtClean="0">
                <a:cs typeface="Microsoft Sans Serif"/>
              </a:rPr>
              <a:t> </a:t>
            </a:r>
            <a:r>
              <a:rPr lang="es-ES" sz="2400" spc="-35" dirty="0" smtClean="0">
                <a:cs typeface="Microsoft Sans Serif"/>
              </a:rPr>
              <a:t>vídeos, etc…</a:t>
            </a:r>
            <a:endParaRPr lang="es-ES" sz="2400" dirty="0" smtClean="0">
              <a:cs typeface="Microsoft Sans Serif"/>
            </a:endParaRPr>
          </a:p>
          <a:p>
            <a:pPr marL="469265" marR="199390" indent="-457200" algn="just">
              <a:lnSpc>
                <a:spcPts val="2900"/>
              </a:lnSpc>
              <a:spcBef>
                <a:spcPts val="690"/>
              </a:spcBef>
              <a:buClr>
                <a:srgbClr val="DD8047"/>
              </a:buClr>
              <a:buSzPct val="60377"/>
              <a:tabLst>
                <a:tab pos="353695" algn="l"/>
                <a:tab pos="354330" algn="l"/>
              </a:tabLst>
            </a:pPr>
            <a:r>
              <a:rPr lang="es-ES" sz="2400" spc="-665" dirty="0" smtClean="0">
                <a:cs typeface="Microsoft Sans Serif"/>
              </a:rPr>
              <a:t>T</a:t>
            </a:r>
            <a:r>
              <a:rPr lang="es-ES" sz="2400" spc="-90" dirty="0" smtClean="0">
                <a:cs typeface="Microsoft Sans Serif"/>
              </a:rPr>
              <a:t>odo</a:t>
            </a:r>
            <a:r>
              <a:rPr lang="es-ES" sz="2400" spc="30" dirty="0" smtClean="0">
                <a:cs typeface="Microsoft Sans Serif"/>
              </a:rPr>
              <a:t> </a:t>
            </a:r>
            <a:r>
              <a:rPr lang="es-ES" sz="2400" spc="-75" dirty="0" smtClean="0">
                <a:cs typeface="Microsoft Sans Serif"/>
              </a:rPr>
              <a:t>ello</a:t>
            </a:r>
            <a:r>
              <a:rPr lang="es-ES" sz="2400" spc="30" dirty="0" smtClean="0">
                <a:cs typeface="Microsoft Sans Serif"/>
              </a:rPr>
              <a:t> </a:t>
            </a:r>
            <a:r>
              <a:rPr lang="es-ES" sz="2400" spc="-285" dirty="0" smtClean="0">
                <a:cs typeface="Microsoft Sans Serif"/>
              </a:rPr>
              <a:t>se</a:t>
            </a:r>
            <a:r>
              <a:rPr lang="es-ES" sz="2400" spc="30" dirty="0" smtClean="0">
                <a:cs typeface="Microsoft Sans Serif"/>
              </a:rPr>
              <a:t> </a:t>
            </a:r>
            <a:r>
              <a:rPr lang="es-ES" sz="2400" spc="-150" dirty="0" smtClean="0">
                <a:cs typeface="Microsoft Sans Serif"/>
              </a:rPr>
              <a:t>almacena</a:t>
            </a:r>
            <a:r>
              <a:rPr lang="es-ES" sz="2400" spc="25" dirty="0" smtClean="0">
                <a:cs typeface="Microsoft Sans Serif"/>
              </a:rPr>
              <a:t> </a:t>
            </a:r>
            <a:r>
              <a:rPr lang="es-ES" sz="2400" spc="-220" dirty="0" smtClean="0">
                <a:cs typeface="Microsoft Sans Serif"/>
              </a:rPr>
              <a:t>en</a:t>
            </a:r>
            <a:r>
              <a:rPr lang="es-ES" sz="2400" spc="30" dirty="0" smtClean="0">
                <a:cs typeface="Microsoft Sans Serif"/>
              </a:rPr>
              <a:t> </a:t>
            </a:r>
            <a:r>
              <a:rPr lang="es-ES" sz="2400" spc="100" dirty="0" smtClean="0">
                <a:cs typeface="Microsoft Sans Serif"/>
              </a:rPr>
              <a:t>f</a:t>
            </a:r>
            <a:r>
              <a:rPr lang="es-ES" sz="2400" spc="-80" dirty="0" smtClean="0">
                <a:cs typeface="Microsoft Sans Serif"/>
              </a:rPr>
              <a:t>o</a:t>
            </a:r>
            <a:r>
              <a:rPr lang="es-ES" sz="2400" dirty="0" smtClean="0">
                <a:cs typeface="Microsoft Sans Serif"/>
              </a:rPr>
              <a:t>r</a:t>
            </a:r>
            <a:r>
              <a:rPr lang="es-ES" sz="2400" spc="-260" dirty="0" smtClean="0">
                <a:cs typeface="Microsoft Sans Serif"/>
              </a:rPr>
              <a:t>m</a:t>
            </a:r>
            <a:r>
              <a:rPr lang="es-ES" sz="2400" spc="-165" dirty="0" smtClean="0">
                <a:cs typeface="Microsoft Sans Serif"/>
              </a:rPr>
              <a:t>a</a:t>
            </a:r>
            <a:r>
              <a:rPr lang="es-ES" sz="2400" spc="25" dirty="0" smtClean="0">
                <a:cs typeface="Microsoft Sans Serif"/>
              </a:rPr>
              <a:t> </a:t>
            </a:r>
            <a:r>
              <a:rPr lang="es-ES" sz="2400" spc="-70" dirty="0" smtClean="0">
                <a:cs typeface="Microsoft Sans Serif"/>
              </a:rPr>
              <a:t>d</a:t>
            </a:r>
            <a:r>
              <a:rPr lang="es-ES" sz="2400" spc="-65" dirty="0" smtClean="0">
                <a:cs typeface="Microsoft Sans Serif"/>
              </a:rPr>
              <a:t>e</a:t>
            </a:r>
            <a:r>
              <a:rPr lang="es-ES" sz="2400" spc="25" dirty="0" smtClean="0">
                <a:cs typeface="Microsoft Sans Serif"/>
              </a:rPr>
              <a:t> </a:t>
            </a:r>
            <a:r>
              <a:rPr lang="es-ES" sz="2400" spc="-165" dirty="0" smtClean="0">
                <a:cs typeface="Microsoft Sans Serif"/>
              </a:rPr>
              <a:t>ce</a:t>
            </a:r>
            <a:r>
              <a:rPr lang="es-ES" sz="2400" spc="-160" dirty="0" smtClean="0">
                <a:cs typeface="Microsoft Sans Serif"/>
              </a:rPr>
              <a:t>r</a:t>
            </a:r>
            <a:r>
              <a:rPr lang="es-ES" sz="2400" spc="-285" dirty="0" smtClean="0">
                <a:cs typeface="Microsoft Sans Serif"/>
              </a:rPr>
              <a:t>os</a:t>
            </a:r>
            <a:r>
              <a:rPr lang="es-ES" sz="2400" spc="30" dirty="0" smtClean="0">
                <a:cs typeface="Microsoft Sans Serif"/>
              </a:rPr>
              <a:t> </a:t>
            </a:r>
            <a:r>
              <a:rPr lang="es-ES" sz="2400" spc="15" dirty="0" smtClean="0">
                <a:cs typeface="Microsoft Sans Serif"/>
              </a:rPr>
              <a:t>y</a:t>
            </a:r>
            <a:r>
              <a:rPr lang="es-ES" sz="2400" spc="30" dirty="0" smtClean="0">
                <a:cs typeface="Microsoft Sans Serif"/>
              </a:rPr>
              <a:t> </a:t>
            </a:r>
            <a:r>
              <a:rPr lang="es-ES" sz="2400" spc="-310" dirty="0" smtClean="0">
                <a:cs typeface="Microsoft Sans Serif"/>
              </a:rPr>
              <a:t>uno</a:t>
            </a:r>
            <a:r>
              <a:rPr lang="es-ES" sz="2400" spc="-270" dirty="0" smtClean="0">
                <a:cs typeface="Microsoft Sans Serif"/>
              </a:rPr>
              <a:t>s</a:t>
            </a:r>
            <a:r>
              <a:rPr lang="es-ES" sz="2400" spc="25" dirty="0" smtClean="0">
                <a:cs typeface="Microsoft Sans Serif"/>
              </a:rPr>
              <a:t> </a:t>
            </a:r>
            <a:r>
              <a:rPr lang="es-ES" sz="2400" spc="-160" dirty="0" smtClean="0">
                <a:cs typeface="Microsoft Sans Serif"/>
              </a:rPr>
              <a:t>en  </a:t>
            </a:r>
            <a:r>
              <a:rPr lang="es-ES" sz="2400" b="1" spc="-185" dirty="0" smtClean="0">
                <a:cs typeface="Arial"/>
              </a:rPr>
              <a:t>dispositivos</a:t>
            </a:r>
            <a:endParaRPr lang="es-ES" sz="2400" spc="-185" dirty="0" smtClean="0">
              <a:cs typeface="Microsoft Sans Serif"/>
            </a:endParaRPr>
          </a:p>
          <a:p>
            <a:pPr marL="469265" marR="199390" indent="-457200" algn="just">
              <a:lnSpc>
                <a:spcPts val="2900"/>
              </a:lnSpc>
              <a:spcBef>
                <a:spcPts val="690"/>
              </a:spcBef>
              <a:buClr>
                <a:srgbClr val="DD8047"/>
              </a:buClr>
              <a:buSzPct val="60377"/>
              <a:tabLst>
                <a:tab pos="353695" algn="l"/>
                <a:tab pos="354330" algn="l"/>
              </a:tabLst>
            </a:pPr>
            <a:r>
              <a:rPr lang="es-ES" sz="2400" spc="-225" dirty="0" smtClean="0">
                <a:cs typeface="Microsoft Sans Serif"/>
              </a:rPr>
              <a:t>La</a:t>
            </a:r>
            <a:r>
              <a:rPr lang="es-ES" sz="2400" spc="-220" dirty="0" smtClean="0">
                <a:cs typeface="Microsoft Sans Serif"/>
              </a:rPr>
              <a:t> </a:t>
            </a:r>
            <a:r>
              <a:rPr lang="es-ES" sz="2400" spc="-140" dirty="0" smtClean="0">
                <a:cs typeface="Microsoft Sans Serif"/>
              </a:rPr>
              <a:t>información </a:t>
            </a:r>
            <a:r>
              <a:rPr lang="es-ES" sz="2400" spc="-285" dirty="0" smtClean="0">
                <a:cs typeface="Microsoft Sans Serif"/>
              </a:rPr>
              <a:t>se</a:t>
            </a:r>
            <a:r>
              <a:rPr lang="es-ES" sz="2400" spc="-280" dirty="0" smtClean="0">
                <a:cs typeface="Microsoft Sans Serif"/>
              </a:rPr>
              <a:t> </a:t>
            </a:r>
            <a:r>
              <a:rPr lang="es-ES" sz="2400" spc="-150" dirty="0" smtClean="0">
                <a:cs typeface="Microsoft Sans Serif"/>
              </a:rPr>
              <a:t>almacena</a:t>
            </a:r>
            <a:r>
              <a:rPr lang="es-ES" sz="2400" spc="-145" dirty="0" smtClean="0">
                <a:cs typeface="Microsoft Sans Serif"/>
              </a:rPr>
              <a:t> </a:t>
            </a:r>
            <a:r>
              <a:rPr lang="es-ES" sz="2400" spc="-220" dirty="0" smtClean="0">
                <a:cs typeface="Microsoft Sans Serif"/>
              </a:rPr>
              <a:t>en</a:t>
            </a:r>
            <a:r>
              <a:rPr lang="es-ES" sz="2400" spc="-215" dirty="0" smtClean="0">
                <a:cs typeface="Microsoft Sans Serif"/>
              </a:rPr>
              <a:t> </a:t>
            </a:r>
            <a:r>
              <a:rPr lang="es-ES" sz="2400" spc="-80" dirty="0" smtClean="0">
                <a:cs typeface="Microsoft Sans Serif"/>
              </a:rPr>
              <a:t>forma </a:t>
            </a:r>
            <a:r>
              <a:rPr lang="es-ES" sz="2400" spc="-70" dirty="0" smtClean="0">
                <a:cs typeface="Microsoft Sans Serif"/>
              </a:rPr>
              <a:t>de</a:t>
            </a:r>
            <a:r>
              <a:rPr lang="es-ES" sz="2400" spc="-65" dirty="0" smtClean="0">
                <a:cs typeface="Microsoft Sans Serif"/>
              </a:rPr>
              <a:t> </a:t>
            </a:r>
            <a:r>
              <a:rPr lang="es-ES" sz="2400" b="1" spc="-195" dirty="0" smtClean="0">
                <a:cs typeface="Arial"/>
              </a:rPr>
              <a:t>ficheros</a:t>
            </a:r>
          </a:p>
          <a:p>
            <a:pPr marL="469265" marR="199390" indent="-457200" algn="just">
              <a:lnSpc>
                <a:spcPts val="2900"/>
              </a:lnSpc>
              <a:spcBef>
                <a:spcPts val="690"/>
              </a:spcBef>
              <a:buClr>
                <a:srgbClr val="DD8047"/>
              </a:buClr>
              <a:buSzPct val="60377"/>
              <a:tabLst>
                <a:tab pos="353695" algn="l"/>
                <a:tab pos="354330" algn="l"/>
              </a:tabLst>
            </a:pPr>
            <a:endParaRPr lang="es-ES" b="1" spc="-195" dirty="0">
              <a:cs typeface="Arial"/>
            </a:endParaRPr>
          </a:p>
          <a:p>
            <a:pPr marL="469265" marR="199390" indent="-457200" algn="just">
              <a:lnSpc>
                <a:spcPts val="2900"/>
              </a:lnSpc>
              <a:spcBef>
                <a:spcPts val="690"/>
              </a:spcBef>
              <a:buClr>
                <a:srgbClr val="DD8047"/>
              </a:buClr>
              <a:buSzPct val="60377"/>
              <a:tabLst>
                <a:tab pos="353695" algn="l"/>
                <a:tab pos="354330" algn="l"/>
              </a:tabLst>
            </a:pPr>
            <a:endParaRPr lang="es-ES" b="1" spc="-195" dirty="0" smtClean="0">
              <a:cs typeface="Arial"/>
            </a:endParaRPr>
          </a:p>
          <a:p>
            <a:pPr marL="469265" marR="199390" indent="-457200" algn="just">
              <a:lnSpc>
                <a:spcPts val="2900"/>
              </a:lnSpc>
              <a:spcBef>
                <a:spcPts val="690"/>
              </a:spcBef>
              <a:buClr>
                <a:srgbClr val="DD8047"/>
              </a:buClr>
              <a:buSzPct val="60377"/>
              <a:tabLst>
                <a:tab pos="353695" algn="l"/>
                <a:tab pos="354330" algn="l"/>
              </a:tabLst>
            </a:pPr>
            <a:endParaRPr lang="es-ES" b="1" spc="-195" dirty="0" smtClean="0">
              <a:cs typeface="Arial"/>
            </a:endParaRPr>
          </a:p>
          <a:p>
            <a:pPr marL="469265" marR="199390" indent="-457200" algn="just">
              <a:lnSpc>
                <a:spcPts val="2900"/>
              </a:lnSpc>
              <a:spcBef>
                <a:spcPts val="690"/>
              </a:spcBef>
              <a:buClr>
                <a:srgbClr val="DD8047"/>
              </a:buClr>
              <a:buSzPct val="60377"/>
              <a:tabLst>
                <a:tab pos="353695" algn="l"/>
                <a:tab pos="354330" algn="l"/>
              </a:tabLst>
            </a:pPr>
            <a:endParaRPr lang="es-ES" b="1" spc="-195" dirty="0">
              <a:cs typeface="Arial"/>
            </a:endParaRPr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2050" name="Picture 2" descr="Así era Clippy, el famoso asistente de Microsoft Office - Infoba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67" y="3353108"/>
            <a:ext cx="2552231" cy="1435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 3"/>
          <p:cNvSpPr/>
          <p:nvPr/>
        </p:nvSpPr>
        <p:spPr>
          <a:xfrm>
            <a:off x="1654233" y="5054826"/>
            <a:ext cx="6309360" cy="8361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69265" marR="199390" indent="-457200" algn="just">
              <a:lnSpc>
                <a:spcPts val="2900"/>
              </a:lnSpc>
              <a:spcBef>
                <a:spcPts val="690"/>
              </a:spcBef>
              <a:buClr>
                <a:srgbClr val="DD8047"/>
              </a:buClr>
              <a:buSzPct val="60377"/>
              <a:tabLst>
                <a:tab pos="353695" algn="l"/>
                <a:tab pos="354330" algn="l"/>
              </a:tabLst>
            </a:pPr>
            <a:r>
              <a:rPr lang="es-ES" i="1" spc="-465" dirty="0">
                <a:cs typeface="Microsoft Sans Serif"/>
              </a:rPr>
              <a:t>E</a:t>
            </a:r>
            <a:r>
              <a:rPr lang="es-ES" i="1" spc="-160" dirty="0">
                <a:cs typeface="Microsoft Sans Serif"/>
              </a:rPr>
              <a:t>l</a:t>
            </a:r>
            <a:r>
              <a:rPr lang="es-ES" i="1" spc="25" dirty="0">
                <a:cs typeface="Microsoft Sans Serif"/>
              </a:rPr>
              <a:t> </a:t>
            </a:r>
            <a:r>
              <a:rPr lang="es-ES" i="1" spc="100" dirty="0">
                <a:cs typeface="Microsoft Sans Serif"/>
              </a:rPr>
              <a:t>f</a:t>
            </a:r>
            <a:r>
              <a:rPr lang="es-ES" i="1" spc="-80" dirty="0">
                <a:cs typeface="Microsoft Sans Serif"/>
              </a:rPr>
              <a:t>o</a:t>
            </a:r>
            <a:r>
              <a:rPr lang="es-ES" i="1" dirty="0">
                <a:cs typeface="Microsoft Sans Serif"/>
              </a:rPr>
              <a:t>r</a:t>
            </a:r>
            <a:r>
              <a:rPr lang="es-ES" i="1" spc="-150" dirty="0">
                <a:cs typeface="Microsoft Sans Serif"/>
              </a:rPr>
              <a:t>mat</a:t>
            </a:r>
            <a:r>
              <a:rPr lang="es-ES" i="1" spc="-140" dirty="0">
                <a:cs typeface="Microsoft Sans Serif"/>
              </a:rPr>
              <a:t>o</a:t>
            </a:r>
            <a:r>
              <a:rPr lang="es-ES" i="1" spc="25" dirty="0">
                <a:cs typeface="Microsoft Sans Serif"/>
              </a:rPr>
              <a:t> </a:t>
            </a:r>
            <a:r>
              <a:rPr lang="es-ES" i="1" spc="15" dirty="0">
                <a:cs typeface="Microsoft Sans Serif"/>
              </a:rPr>
              <a:t>y</a:t>
            </a:r>
            <a:r>
              <a:rPr lang="es-ES" i="1" spc="30" dirty="0">
                <a:cs typeface="Microsoft Sans Serif"/>
              </a:rPr>
              <a:t> </a:t>
            </a:r>
            <a:r>
              <a:rPr lang="es-ES" i="1" spc="-45" dirty="0">
                <a:cs typeface="Microsoft Sans Serif"/>
              </a:rPr>
              <a:t>tip</a:t>
            </a:r>
            <a:r>
              <a:rPr lang="es-ES" i="1" spc="-55" dirty="0">
                <a:cs typeface="Microsoft Sans Serif"/>
              </a:rPr>
              <a:t>o</a:t>
            </a:r>
            <a:r>
              <a:rPr lang="es-ES" i="1" spc="25" dirty="0">
                <a:cs typeface="Microsoft Sans Serif"/>
              </a:rPr>
              <a:t> </a:t>
            </a:r>
            <a:r>
              <a:rPr lang="es-ES" i="1" spc="-70" dirty="0">
                <a:cs typeface="Microsoft Sans Serif"/>
              </a:rPr>
              <a:t>d</a:t>
            </a:r>
            <a:r>
              <a:rPr lang="es-ES" i="1" spc="-65" dirty="0">
                <a:cs typeface="Microsoft Sans Serif"/>
              </a:rPr>
              <a:t>e</a:t>
            </a:r>
            <a:r>
              <a:rPr lang="es-ES" i="1" spc="25" dirty="0">
                <a:cs typeface="Microsoft Sans Serif"/>
              </a:rPr>
              <a:t> </a:t>
            </a:r>
            <a:r>
              <a:rPr lang="es-ES" i="1" spc="-40" dirty="0">
                <a:cs typeface="Microsoft Sans Serif"/>
              </a:rPr>
              <a:t>fi</a:t>
            </a:r>
            <a:r>
              <a:rPr lang="es-ES" i="1" spc="25" dirty="0">
                <a:cs typeface="Microsoft Sans Serif"/>
              </a:rPr>
              <a:t>c</a:t>
            </a:r>
            <a:r>
              <a:rPr lang="es-ES" i="1" spc="-170" dirty="0">
                <a:cs typeface="Microsoft Sans Serif"/>
              </a:rPr>
              <a:t>he</a:t>
            </a:r>
            <a:r>
              <a:rPr lang="es-ES" i="1" spc="-160" dirty="0">
                <a:cs typeface="Microsoft Sans Serif"/>
              </a:rPr>
              <a:t>r</a:t>
            </a:r>
            <a:r>
              <a:rPr lang="es-ES" i="1" spc="-135" dirty="0">
                <a:cs typeface="Microsoft Sans Serif"/>
              </a:rPr>
              <a:t>o</a:t>
            </a:r>
            <a:r>
              <a:rPr lang="es-ES" i="1" spc="30" dirty="0">
                <a:cs typeface="Microsoft Sans Serif"/>
              </a:rPr>
              <a:t> </a:t>
            </a:r>
            <a:r>
              <a:rPr lang="es-ES" i="1" spc="-215" dirty="0">
                <a:cs typeface="Microsoft Sans Serif"/>
              </a:rPr>
              <a:t>v</a:t>
            </a:r>
            <a:r>
              <a:rPr lang="es-ES" i="1" spc="5" dirty="0">
                <a:cs typeface="Microsoft Sans Serif"/>
              </a:rPr>
              <a:t>a</a:t>
            </a:r>
            <a:r>
              <a:rPr lang="es-ES" i="1" spc="25" dirty="0">
                <a:cs typeface="Microsoft Sans Serif"/>
              </a:rPr>
              <a:t> </a:t>
            </a:r>
            <a:r>
              <a:rPr lang="es-ES" i="1" spc="5" dirty="0">
                <a:cs typeface="Microsoft Sans Serif"/>
              </a:rPr>
              <a:t>a</a:t>
            </a:r>
            <a:r>
              <a:rPr lang="es-ES" i="1" spc="25" dirty="0">
                <a:cs typeface="Microsoft Sans Serif"/>
              </a:rPr>
              <a:t> </a:t>
            </a:r>
            <a:r>
              <a:rPr lang="es-ES" i="1" spc="-60" dirty="0">
                <a:cs typeface="Microsoft Sans Serif"/>
              </a:rPr>
              <a:t>dete</a:t>
            </a:r>
            <a:r>
              <a:rPr lang="es-ES" i="1" spc="10" dirty="0">
                <a:cs typeface="Microsoft Sans Serif"/>
              </a:rPr>
              <a:t>r</a:t>
            </a:r>
            <a:r>
              <a:rPr lang="es-ES" i="1" spc="-170" dirty="0">
                <a:cs typeface="Microsoft Sans Serif"/>
              </a:rPr>
              <a:t>mina</a:t>
            </a:r>
            <a:r>
              <a:rPr lang="es-ES" i="1" spc="-100" dirty="0">
                <a:cs typeface="Microsoft Sans Serif"/>
              </a:rPr>
              <a:t>r</a:t>
            </a:r>
            <a:r>
              <a:rPr lang="es-ES" i="1" spc="25" dirty="0">
                <a:cs typeface="Microsoft Sans Serif"/>
              </a:rPr>
              <a:t> </a:t>
            </a:r>
            <a:r>
              <a:rPr lang="es-ES" i="1" spc="-204" dirty="0">
                <a:cs typeface="Microsoft Sans Serif"/>
              </a:rPr>
              <a:t>cómo  </a:t>
            </a:r>
            <a:r>
              <a:rPr lang="es-ES" i="1" spc="-60" dirty="0">
                <a:cs typeface="Microsoft Sans Serif"/>
              </a:rPr>
              <a:t>interpreta</a:t>
            </a:r>
            <a:r>
              <a:rPr lang="es-ES" i="1" spc="-45" dirty="0">
                <a:cs typeface="Microsoft Sans Serif"/>
              </a:rPr>
              <a:t>r</a:t>
            </a:r>
            <a:r>
              <a:rPr lang="es-ES" i="1" spc="30" dirty="0">
                <a:cs typeface="Microsoft Sans Serif"/>
              </a:rPr>
              <a:t> </a:t>
            </a:r>
            <a:r>
              <a:rPr lang="es-ES" i="1" spc="-185" dirty="0">
                <a:cs typeface="Microsoft Sans Serif"/>
              </a:rPr>
              <a:t>lo</a:t>
            </a:r>
            <a:r>
              <a:rPr lang="es-ES" i="1" spc="-229" dirty="0">
                <a:cs typeface="Microsoft Sans Serif"/>
              </a:rPr>
              <a:t>s</a:t>
            </a:r>
            <a:r>
              <a:rPr lang="es-ES" i="1" spc="30" dirty="0">
                <a:cs typeface="Microsoft Sans Serif"/>
              </a:rPr>
              <a:t> </a:t>
            </a:r>
            <a:r>
              <a:rPr lang="es-ES" i="1" spc="-310" dirty="0" smtClean="0">
                <a:cs typeface="Microsoft Sans Serif"/>
              </a:rPr>
              <a:t>uno</a:t>
            </a:r>
            <a:r>
              <a:rPr lang="es-ES" i="1" spc="-270" dirty="0" smtClean="0">
                <a:cs typeface="Microsoft Sans Serif"/>
              </a:rPr>
              <a:t>s</a:t>
            </a:r>
            <a:r>
              <a:rPr lang="es-ES" i="1" spc="25" dirty="0" smtClean="0">
                <a:cs typeface="Microsoft Sans Serif"/>
              </a:rPr>
              <a:t> </a:t>
            </a:r>
            <a:r>
              <a:rPr lang="es-ES" i="1" spc="15" dirty="0" smtClean="0">
                <a:cs typeface="Microsoft Sans Serif"/>
              </a:rPr>
              <a:t>y</a:t>
            </a:r>
            <a:r>
              <a:rPr lang="es-ES" i="1" spc="30" dirty="0" smtClean="0">
                <a:cs typeface="Microsoft Sans Serif"/>
              </a:rPr>
              <a:t> </a:t>
            </a:r>
            <a:r>
              <a:rPr lang="es-ES" i="1" spc="-165" dirty="0">
                <a:cs typeface="Microsoft Sans Serif"/>
              </a:rPr>
              <a:t>ce</a:t>
            </a:r>
            <a:r>
              <a:rPr lang="es-ES" i="1" spc="-160" dirty="0">
                <a:cs typeface="Microsoft Sans Serif"/>
              </a:rPr>
              <a:t>r</a:t>
            </a:r>
            <a:r>
              <a:rPr lang="es-ES" i="1" spc="-285" dirty="0">
                <a:cs typeface="Microsoft Sans Serif"/>
              </a:rPr>
              <a:t>os</a:t>
            </a:r>
            <a:r>
              <a:rPr lang="es-ES" i="1" spc="30" dirty="0">
                <a:cs typeface="Microsoft Sans Serif"/>
              </a:rPr>
              <a:t> </a:t>
            </a:r>
            <a:r>
              <a:rPr lang="es-ES" i="1" spc="-150" dirty="0">
                <a:cs typeface="Microsoft Sans Serif"/>
              </a:rPr>
              <a:t>qu</a:t>
            </a:r>
            <a:r>
              <a:rPr lang="es-ES" i="1" spc="-145" dirty="0">
                <a:cs typeface="Microsoft Sans Serif"/>
              </a:rPr>
              <a:t>e</a:t>
            </a:r>
            <a:r>
              <a:rPr lang="es-ES" i="1" spc="25" dirty="0">
                <a:cs typeface="Microsoft Sans Serif"/>
              </a:rPr>
              <a:t> </a:t>
            </a:r>
            <a:r>
              <a:rPr lang="es-ES" i="1" spc="-285" dirty="0">
                <a:cs typeface="Microsoft Sans Serif"/>
              </a:rPr>
              <a:t>se</a:t>
            </a:r>
            <a:r>
              <a:rPr lang="es-ES" i="1" spc="30" dirty="0">
                <a:cs typeface="Microsoft Sans Serif"/>
              </a:rPr>
              <a:t> </a:t>
            </a:r>
            <a:r>
              <a:rPr lang="es-ES" i="1" spc="-165" dirty="0">
                <a:cs typeface="Microsoft Sans Serif"/>
              </a:rPr>
              <a:t>almacenan</a:t>
            </a:r>
            <a:r>
              <a:rPr lang="es-ES" i="1" spc="25" dirty="0">
                <a:cs typeface="Microsoft Sans Serif"/>
              </a:rPr>
              <a:t> </a:t>
            </a:r>
            <a:r>
              <a:rPr lang="es-ES" i="1" spc="-220" dirty="0">
                <a:cs typeface="Microsoft Sans Serif"/>
              </a:rPr>
              <a:t>en</a:t>
            </a:r>
            <a:r>
              <a:rPr lang="es-ES" i="1" spc="30" dirty="0">
                <a:cs typeface="Microsoft Sans Serif"/>
              </a:rPr>
              <a:t> </a:t>
            </a:r>
            <a:r>
              <a:rPr lang="es-ES" i="1" spc="-100" dirty="0">
                <a:cs typeface="Microsoft Sans Serif"/>
              </a:rPr>
              <a:t>él.</a:t>
            </a:r>
            <a:endParaRPr lang="es-ES" i="1" dirty="0"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28238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13262" y="1717560"/>
            <a:ext cx="10515600" cy="4176164"/>
          </a:xfrm>
        </p:spPr>
        <p:txBody>
          <a:bodyPr>
            <a:normAutofit/>
          </a:bodyPr>
          <a:lstStyle/>
          <a:p>
            <a:pPr marL="526415" indent="-514350">
              <a:lnSpc>
                <a:spcPts val="3170"/>
              </a:lnSpc>
              <a:spcBef>
                <a:spcPts val="130"/>
              </a:spcBef>
              <a:buClr>
                <a:srgbClr val="DD8047"/>
              </a:buClr>
              <a:buSzPct val="60377"/>
              <a:buFont typeface="Wingdings" panose="05000000000000000000" pitchFamily="2" charset="2"/>
              <a:buChar char="§"/>
              <a:tabLst>
                <a:tab pos="353695" algn="l"/>
                <a:tab pos="354330" algn="l"/>
              </a:tabLst>
            </a:pPr>
            <a:r>
              <a:rPr lang="es-ES" sz="3600" b="1" spc="-150" dirty="0">
                <a:solidFill>
                  <a:prstClr val="black"/>
                </a:solidFill>
                <a:latin typeface="Microsoft Sans Serif"/>
                <a:cs typeface="Microsoft Sans Serif"/>
              </a:rPr>
              <a:t>Contenido:</a:t>
            </a:r>
            <a:endParaRPr lang="es-ES" sz="3600" b="1" dirty="0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720090" lvl="1" indent="-342900">
              <a:lnSpc>
                <a:spcPts val="2860"/>
              </a:lnSpc>
              <a:spcBef>
                <a:spcPts val="0"/>
              </a:spcBef>
              <a:buClr>
                <a:srgbClr val="94B6D1"/>
              </a:buClr>
              <a:buSzPct val="68750"/>
              <a:buFont typeface="Wingdings" panose="05000000000000000000" pitchFamily="2" charset="2"/>
              <a:buChar char="§"/>
              <a:tabLst>
                <a:tab pos="673735" algn="l"/>
                <a:tab pos="674370" algn="l"/>
              </a:tabLst>
            </a:pPr>
            <a:r>
              <a:rPr lang="es-ES" sz="2400" spc="-229" dirty="0">
                <a:solidFill>
                  <a:prstClr val="black"/>
                </a:solidFill>
                <a:latin typeface="Microsoft Sans Serif"/>
                <a:cs typeface="Microsoft Sans Serif"/>
              </a:rPr>
              <a:t>Fi</a:t>
            </a:r>
            <a:r>
              <a:rPr lang="es-ES" sz="2400" spc="-175" dirty="0">
                <a:solidFill>
                  <a:prstClr val="black"/>
                </a:solidFill>
                <a:latin typeface="Microsoft Sans Serif"/>
                <a:cs typeface="Microsoft Sans Serif"/>
              </a:rPr>
              <a:t>c</a:t>
            </a:r>
            <a:r>
              <a:rPr lang="es-ES" sz="2400" spc="-165" dirty="0">
                <a:solidFill>
                  <a:prstClr val="black"/>
                </a:solidFill>
                <a:latin typeface="Microsoft Sans Serif"/>
                <a:cs typeface="Microsoft Sans Serif"/>
              </a:rPr>
              <a:t>he</a:t>
            </a:r>
            <a:r>
              <a:rPr lang="es-ES" sz="2400" spc="-150" dirty="0">
                <a:solidFill>
                  <a:prstClr val="black"/>
                </a:solidFill>
                <a:latin typeface="Microsoft Sans Serif"/>
                <a:cs typeface="Microsoft Sans Serif"/>
              </a:rPr>
              <a:t>r</a:t>
            </a:r>
            <a:r>
              <a:rPr lang="es-ES" sz="2400" spc="-270" dirty="0">
                <a:solidFill>
                  <a:prstClr val="black"/>
                </a:solidFill>
                <a:latin typeface="Microsoft Sans Serif"/>
                <a:cs typeface="Microsoft Sans Serif"/>
              </a:rPr>
              <a:t>os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75" dirty="0">
                <a:solidFill>
                  <a:prstClr val="black"/>
                </a:solidFill>
                <a:latin typeface="Microsoft Sans Serif"/>
                <a:cs typeface="Microsoft Sans Serif"/>
              </a:rPr>
              <a:t>d</a:t>
            </a:r>
            <a:r>
              <a:rPr lang="es-ES" sz="2400" spc="-70" dirty="0">
                <a:solidFill>
                  <a:prstClr val="black"/>
                </a:solidFill>
                <a:latin typeface="Microsoft Sans Serif"/>
                <a:cs typeface="Microsoft Sans Serif"/>
              </a:rPr>
              <a:t>e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55" dirty="0">
                <a:solidFill>
                  <a:prstClr val="black"/>
                </a:solidFill>
                <a:latin typeface="Microsoft Sans Serif"/>
                <a:cs typeface="Microsoft Sans Serif"/>
              </a:rPr>
              <a:t>t</a:t>
            </a:r>
            <a:r>
              <a:rPr lang="es-ES" sz="2400" spc="-175" dirty="0">
                <a:solidFill>
                  <a:prstClr val="black"/>
                </a:solidFill>
                <a:latin typeface="Microsoft Sans Serif"/>
                <a:cs typeface="Microsoft Sans Serif"/>
              </a:rPr>
              <a:t>e</a:t>
            </a:r>
            <a:r>
              <a:rPr lang="es-ES" sz="2400" spc="-50" dirty="0">
                <a:solidFill>
                  <a:prstClr val="black"/>
                </a:solidFill>
                <a:latin typeface="Microsoft Sans Serif"/>
                <a:cs typeface="Microsoft Sans Serif"/>
              </a:rPr>
              <a:t>xto</a:t>
            </a:r>
            <a:endParaRPr lang="es-ES" sz="2400" dirty="0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720090" lvl="1" indent="-342900">
              <a:lnSpc>
                <a:spcPts val="2870"/>
              </a:lnSpc>
              <a:spcBef>
                <a:spcPts val="0"/>
              </a:spcBef>
              <a:buClr>
                <a:srgbClr val="94B6D1"/>
              </a:buClr>
              <a:buSzPct val="68750"/>
              <a:buFont typeface="Wingdings" panose="05000000000000000000" pitchFamily="2" charset="2"/>
              <a:buChar char="§"/>
              <a:tabLst>
                <a:tab pos="673735" algn="l"/>
                <a:tab pos="674370" algn="l"/>
              </a:tabLst>
            </a:pPr>
            <a:r>
              <a:rPr lang="es-ES" sz="2400" spc="-229" dirty="0">
                <a:solidFill>
                  <a:prstClr val="black"/>
                </a:solidFill>
                <a:latin typeface="Microsoft Sans Serif"/>
                <a:cs typeface="Microsoft Sans Serif"/>
              </a:rPr>
              <a:t>Fi</a:t>
            </a:r>
            <a:r>
              <a:rPr lang="es-ES" sz="2400" spc="-175" dirty="0">
                <a:solidFill>
                  <a:prstClr val="black"/>
                </a:solidFill>
                <a:latin typeface="Microsoft Sans Serif"/>
                <a:cs typeface="Microsoft Sans Serif"/>
              </a:rPr>
              <a:t>c</a:t>
            </a:r>
            <a:r>
              <a:rPr lang="es-ES" sz="2400" spc="-165" dirty="0">
                <a:solidFill>
                  <a:prstClr val="black"/>
                </a:solidFill>
                <a:latin typeface="Microsoft Sans Serif"/>
                <a:cs typeface="Microsoft Sans Serif"/>
              </a:rPr>
              <a:t>he</a:t>
            </a:r>
            <a:r>
              <a:rPr lang="es-ES" sz="2400" spc="-150" dirty="0">
                <a:solidFill>
                  <a:prstClr val="black"/>
                </a:solidFill>
                <a:latin typeface="Microsoft Sans Serif"/>
                <a:cs typeface="Microsoft Sans Serif"/>
              </a:rPr>
              <a:t>r</a:t>
            </a:r>
            <a:r>
              <a:rPr lang="es-ES" sz="2400" spc="-270" dirty="0">
                <a:solidFill>
                  <a:prstClr val="black"/>
                </a:solidFill>
                <a:latin typeface="Microsoft Sans Serif"/>
                <a:cs typeface="Microsoft Sans Serif"/>
              </a:rPr>
              <a:t>os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75" dirty="0">
                <a:solidFill>
                  <a:prstClr val="black"/>
                </a:solidFill>
                <a:latin typeface="Microsoft Sans Serif"/>
                <a:cs typeface="Microsoft Sans Serif"/>
              </a:rPr>
              <a:t>d</a:t>
            </a:r>
            <a:r>
              <a:rPr lang="es-ES" sz="2400" spc="-70" dirty="0">
                <a:solidFill>
                  <a:prstClr val="black"/>
                </a:solidFill>
                <a:latin typeface="Microsoft Sans Serif"/>
                <a:cs typeface="Microsoft Sans Serif"/>
              </a:rPr>
              <a:t>e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120" dirty="0">
                <a:solidFill>
                  <a:prstClr val="black"/>
                </a:solidFill>
                <a:latin typeface="Microsoft Sans Serif"/>
                <a:cs typeface="Microsoft Sans Serif"/>
              </a:rPr>
              <a:t>dato</a:t>
            </a:r>
            <a:r>
              <a:rPr lang="es-ES" sz="2400" spc="-114" dirty="0">
                <a:solidFill>
                  <a:prstClr val="black"/>
                </a:solidFill>
                <a:latin typeface="Microsoft Sans Serif"/>
                <a:cs typeface="Microsoft Sans Serif"/>
              </a:rPr>
              <a:t>s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114" dirty="0" smtClean="0">
                <a:solidFill>
                  <a:prstClr val="black"/>
                </a:solidFill>
                <a:latin typeface="Microsoft Sans Serif"/>
                <a:cs typeface="Microsoft Sans Serif"/>
              </a:rPr>
              <a:t>binarios</a:t>
            </a:r>
          </a:p>
          <a:p>
            <a:pPr marL="377190" lvl="1" indent="0">
              <a:lnSpc>
                <a:spcPts val="2870"/>
              </a:lnSpc>
              <a:spcBef>
                <a:spcPts val="0"/>
              </a:spcBef>
              <a:buClr>
                <a:srgbClr val="94B6D1"/>
              </a:buClr>
              <a:buSzPct val="68750"/>
              <a:buNone/>
              <a:tabLst>
                <a:tab pos="673735" algn="l"/>
                <a:tab pos="674370" algn="l"/>
              </a:tabLst>
            </a:pPr>
            <a:endParaRPr lang="es-ES" sz="2400" dirty="0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526415" indent="-514350">
              <a:lnSpc>
                <a:spcPts val="3170"/>
              </a:lnSpc>
              <a:spcBef>
                <a:spcPts val="95"/>
              </a:spcBef>
              <a:buClr>
                <a:srgbClr val="DD8047"/>
              </a:buClr>
              <a:buSzPct val="60377"/>
              <a:buFont typeface="Wingdings" panose="05000000000000000000" pitchFamily="2" charset="2"/>
              <a:buChar char="§"/>
              <a:tabLst>
                <a:tab pos="353695" algn="l"/>
                <a:tab pos="354330" algn="l"/>
              </a:tabLst>
            </a:pPr>
            <a:r>
              <a:rPr lang="es-ES" sz="3600" b="1" spc="-114" dirty="0">
                <a:solidFill>
                  <a:prstClr val="black"/>
                </a:solidFill>
                <a:latin typeface="Microsoft Sans Serif"/>
                <a:cs typeface="Microsoft Sans Serif"/>
              </a:rPr>
              <a:t>Organización:</a:t>
            </a:r>
            <a:endParaRPr lang="es-ES" sz="3600" b="1" dirty="0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720090" lvl="1" indent="-342900">
              <a:lnSpc>
                <a:spcPts val="2860"/>
              </a:lnSpc>
              <a:spcBef>
                <a:spcPts val="0"/>
              </a:spcBef>
              <a:buClr>
                <a:srgbClr val="94B6D1"/>
              </a:buClr>
              <a:buSzPct val="68750"/>
              <a:buFont typeface="Wingdings" panose="05000000000000000000" pitchFamily="2" charset="2"/>
              <a:buChar char="§"/>
              <a:tabLst>
                <a:tab pos="673735" algn="l"/>
                <a:tab pos="674370" algn="l"/>
              </a:tabLst>
            </a:pPr>
            <a:r>
              <a:rPr lang="es-ES" sz="2400" spc="-185" dirty="0">
                <a:solidFill>
                  <a:prstClr val="black"/>
                </a:solidFill>
                <a:latin typeface="Microsoft Sans Serif"/>
                <a:cs typeface="Microsoft Sans Serif"/>
              </a:rPr>
              <a:t>Secuencial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495" dirty="0">
                <a:solidFill>
                  <a:prstClr val="black"/>
                </a:solidFill>
                <a:latin typeface="Microsoft Sans Serif"/>
                <a:cs typeface="Microsoft Sans Serif"/>
              </a:rPr>
              <a:t>–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270" dirty="0">
                <a:solidFill>
                  <a:prstClr val="black"/>
                </a:solidFill>
                <a:latin typeface="Microsoft Sans Serif"/>
                <a:cs typeface="Microsoft Sans Serif"/>
              </a:rPr>
              <a:t>se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145" dirty="0">
                <a:solidFill>
                  <a:prstClr val="black"/>
                </a:solidFill>
                <a:latin typeface="Microsoft Sans Serif"/>
                <a:cs typeface="Microsoft Sans Serif"/>
              </a:rPr>
              <a:t>accede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140" dirty="0">
                <a:solidFill>
                  <a:prstClr val="black"/>
                </a:solidFill>
                <a:latin typeface="Microsoft Sans Serif"/>
                <a:cs typeface="Microsoft Sans Serif"/>
              </a:rPr>
              <a:t>empezando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60" dirty="0">
                <a:solidFill>
                  <a:prstClr val="black"/>
                </a:solidFill>
                <a:latin typeface="Microsoft Sans Serif"/>
                <a:cs typeface="Microsoft Sans Serif"/>
              </a:rPr>
              <a:t>po</a:t>
            </a:r>
            <a:r>
              <a:rPr lang="es-ES" sz="2400" spc="-35" dirty="0">
                <a:solidFill>
                  <a:prstClr val="black"/>
                </a:solidFill>
                <a:latin typeface="Microsoft Sans Serif"/>
                <a:cs typeface="Microsoft Sans Serif"/>
              </a:rPr>
              <a:t>r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80" dirty="0">
                <a:solidFill>
                  <a:prstClr val="black"/>
                </a:solidFill>
                <a:latin typeface="Microsoft Sans Serif"/>
                <a:cs typeface="Microsoft Sans Serif"/>
              </a:rPr>
              <a:t>el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90" dirty="0">
                <a:solidFill>
                  <a:prstClr val="black"/>
                </a:solidFill>
                <a:latin typeface="Microsoft Sans Serif"/>
                <a:cs typeface="Microsoft Sans Serif"/>
              </a:rPr>
              <a:t>principio</a:t>
            </a:r>
            <a:endParaRPr lang="es-ES" sz="2400" dirty="0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720090" lvl="1" indent="-342900">
              <a:lnSpc>
                <a:spcPts val="2860"/>
              </a:lnSpc>
              <a:spcBef>
                <a:spcPts val="0"/>
              </a:spcBef>
              <a:buClr>
                <a:srgbClr val="94B6D1"/>
              </a:buClr>
              <a:buSzPct val="68750"/>
              <a:buFont typeface="Wingdings" panose="05000000000000000000" pitchFamily="2" charset="2"/>
              <a:buChar char="§"/>
              <a:tabLst>
                <a:tab pos="673735" algn="l"/>
                <a:tab pos="674370" algn="l"/>
              </a:tabLst>
            </a:pPr>
            <a:r>
              <a:rPr lang="es-ES" sz="2400" spc="-105" dirty="0">
                <a:solidFill>
                  <a:prstClr val="black"/>
                </a:solidFill>
                <a:latin typeface="Microsoft Sans Serif"/>
                <a:cs typeface="Microsoft Sans Serif"/>
              </a:rPr>
              <a:t>Directa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495" dirty="0">
                <a:solidFill>
                  <a:prstClr val="black"/>
                </a:solidFill>
                <a:latin typeface="Microsoft Sans Serif"/>
                <a:cs typeface="Microsoft Sans Serif"/>
              </a:rPr>
              <a:t>–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270" dirty="0">
                <a:solidFill>
                  <a:prstClr val="black"/>
                </a:solidFill>
                <a:latin typeface="Microsoft Sans Serif"/>
                <a:cs typeface="Microsoft Sans Serif"/>
              </a:rPr>
              <a:t>se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145" dirty="0">
                <a:solidFill>
                  <a:prstClr val="black"/>
                </a:solidFill>
                <a:latin typeface="Microsoft Sans Serif"/>
                <a:cs typeface="Microsoft Sans Serif"/>
              </a:rPr>
              <a:t>accede</a:t>
            </a:r>
            <a:r>
              <a:rPr lang="es-ES" sz="2400" spc="25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125" dirty="0">
                <a:solidFill>
                  <a:prstClr val="black"/>
                </a:solidFill>
                <a:latin typeface="Microsoft Sans Serif"/>
                <a:cs typeface="Microsoft Sans Serif"/>
              </a:rPr>
              <a:t>directamente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20" dirty="0">
                <a:solidFill>
                  <a:prstClr val="black"/>
                </a:solidFill>
                <a:latin typeface="Microsoft Sans Serif"/>
                <a:cs typeface="Microsoft Sans Serif"/>
              </a:rPr>
              <a:t>al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120" dirty="0">
                <a:solidFill>
                  <a:prstClr val="black"/>
                </a:solidFill>
                <a:latin typeface="Microsoft Sans Serif"/>
                <a:cs typeface="Microsoft Sans Serif"/>
              </a:rPr>
              <a:t>datos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145" dirty="0">
                <a:solidFill>
                  <a:prstClr val="black"/>
                </a:solidFill>
                <a:latin typeface="Microsoft Sans Serif"/>
                <a:cs typeface="Microsoft Sans Serif"/>
              </a:rPr>
              <a:t>que</a:t>
            </a:r>
            <a:r>
              <a:rPr lang="es-ES" sz="2400" spc="25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275" dirty="0">
                <a:solidFill>
                  <a:prstClr val="black"/>
                </a:solidFill>
                <a:latin typeface="Microsoft Sans Serif"/>
                <a:cs typeface="Microsoft Sans Serif"/>
              </a:rPr>
              <a:t>nos</a:t>
            </a:r>
            <a:r>
              <a:rPr lang="es-ES" sz="2400" spc="15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130" dirty="0">
                <a:solidFill>
                  <a:prstClr val="black"/>
                </a:solidFill>
                <a:latin typeface="Microsoft Sans Serif"/>
                <a:cs typeface="Microsoft Sans Serif"/>
              </a:rPr>
              <a:t>interesa</a:t>
            </a:r>
            <a:endParaRPr lang="es-ES" sz="2400" dirty="0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720090" lvl="1" indent="-342900">
              <a:lnSpc>
                <a:spcPts val="2870"/>
              </a:lnSpc>
              <a:spcBef>
                <a:spcPts val="0"/>
              </a:spcBef>
              <a:buClr>
                <a:srgbClr val="94B6D1"/>
              </a:buClr>
              <a:buSzPct val="68750"/>
              <a:buFont typeface="Wingdings" panose="05000000000000000000" pitchFamily="2" charset="2"/>
              <a:buChar char="§"/>
              <a:tabLst>
                <a:tab pos="673735" algn="l"/>
                <a:tab pos="674370" algn="l"/>
              </a:tabLst>
            </a:pPr>
            <a:r>
              <a:rPr lang="es-ES" sz="2400" spc="-140" dirty="0">
                <a:solidFill>
                  <a:prstClr val="black"/>
                </a:solidFill>
                <a:latin typeface="Microsoft Sans Serif"/>
                <a:cs typeface="Microsoft Sans Serif"/>
              </a:rPr>
              <a:t>Ind</a:t>
            </a:r>
            <a:r>
              <a:rPr lang="es-ES" sz="2400" spc="-240" dirty="0">
                <a:solidFill>
                  <a:prstClr val="black"/>
                </a:solidFill>
                <a:latin typeface="Microsoft Sans Serif"/>
                <a:cs typeface="Microsoft Sans Serif"/>
              </a:rPr>
              <a:t>e</a:t>
            </a:r>
            <a:r>
              <a:rPr lang="es-ES" sz="2400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xada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495" dirty="0">
                <a:solidFill>
                  <a:prstClr val="black"/>
                </a:solidFill>
                <a:latin typeface="Microsoft Sans Serif"/>
                <a:cs typeface="Microsoft Sans Serif"/>
              </a:rPr>
              <a:t>–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145" dirty="0">
                <a:solidFill>
                  <a:prstClr val="black"/>
                </a:solidFill>
                <a:latin typeface="Microsoft Sans Serif"/>
                <a:cs typeface="Microsoft Sans Serif"/>
              </a:rPr>
              <a:t>tiene</a:t>
            </a:r>
            <a:r>
              <a:rPr lang="es-ES" sz="2400" spc="-180" dirty="0">
                <a:solidFill>
                  <a:prstClr val="black"/>
                </a:solidFill>
                <a:latin typeface="Microsoft Sans Serif"/>
                <a:cs typeface="Microsoft Sans Serif"/>
              </a:rPr>
              <a:t>n</a:t>
            </a:r>
            <a:r>
              <a:rPr lang="es-ES" sz="2400" spc="15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290" dirty="0">
                <a:solidFill>
                  <a:prstClr val="black"/>
                </a:solidFill>
                <a:latin typeface="Microsoft Sans Serif"/>
                <a:cs typeface="Microsoft Sans Serif"/>
              </a:rPr>
              <a:t>u</a:t>
            </a:r>
            <a:r>
              <a:rPr lang="es-ES" sz="2400" spc="-285" dirty="0">
                <a:solidFill>
                  <a:prstClr val="black"/>
                </a:solidFill>
                <a:latin typeface="Microsoft Sans Serif"/>
                <a:cs typeface="Microsoft Sans Serif"/>
              </a:rPr>
              <a:t>n</a:t>
            </a:r>
            <a:r>
              <a:rPr lang="es-ES" sz="2400" spc="15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125" dirty="0">
                <a:solidFill>
                  <a:prstClr val="black"/>
                </a:solidFill>
                <a:latin typeface="Microsoft Sans Serif"/>
                <a:cs typeface="Microsoft Sans Serif"/>
              </a:rPr>
              <a:t>índic</a:t>
            </a:r>
            <a:r>
              <a:rPr lang="es-ES" sz="2400" spc="-160" dirty="0">
                <a:solidFill>
                  <a:prstClr val="black"/>
                </a:solidFill>
                <a:latin typeface="Microsoft Sans Serif"/>
                <a:cs typeface="Microsoft Sans Serif"/>
              </a:rPr>
              <a:t>e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15" dirty="0">
                <a:solidFill>
                  <a:prstClr val="black"/>
                </a:solidFill>
                <a:latin typeface="Microsoft Sans Serif"/>
                <a:cs typeface="Microsoft Sans Serif"/>
              </a:rPr>
              <a:t>pa</a:t>
            </a:r>
            <a:r>
              <a:rPr lang="es-ES" sz="2400" spc="-30" dirty="0">
                <a:solidFill>
                  <a:prstClr val="black"/>
                </a:solidFill>
                <a:latin typeface="Microsoft Sans Serif"/>
                <a:cs typeface="Microsoft Sans Serif"/>
              </a:rPr>
              <a:t>r</a:t>
            </a:r>
            <a:r>
              <a:rPr lang="es-ES" sz="2400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a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70" dirty="0">
                <a:solidFill>
                  <a:prstClr val="black"/>
                </a:solidFill>
                <a:latin typeface="Microsoft Sans Serif"/>
                <a:cs typeface="Microsoft Sans Serif"/>
              </a:rPr>
              <a:t>pode</a:t>
            </a:r>
            <a:r>
              <a:rPr lang="es-ES" sz="2400" spc="-40" dirty="0">
                <a:solidFill>
                  <a:prstClr val="black"/>
                </a:solidFill>
                <a:latin typeface="Microsoft Sans Serif"/>
                <a:cs typeface="Microsoft Sans Serif"/>
              </a:rPr>
              <a:t>r</a:t>
            </a:r>
            <a:r>
              <a:rPr lang="es-ES" sz="2400" spc="20" dirty="0">
                <a:solidFill>
                  <a:prstClr val="black"/>
                </a:solidFill>
                <a:latin typeface="Microsoft Sans Serif"/>
                <a:cs typeface="Microsoft Sans Serif"/>
              </a:rPr>
              <a:t> </a:t>
            </a:r>
            <a:r>
              <a:rPr lang="es-ES" sz="2400" spc="-125" dirty="0">
                <a:solidFill>
                  <a:prstClr val="black"/>
                </a:solidFill>
                <a:latin typeface="Microsoft Sans Serif"/>
                <a:cs typeface="Microsoft Sans Serif"/>
              </a:rPr>
              <a:t>acceder</a:t>
            </a:r>
            <a:endParaRPr lang="es-ES" sz="2400" dirty="0">
              <a:solidFill>
                <a:prstClr val="black"/>
              </a:solidFill>
              <a:latin typeface="Microsoft Sans Serif"/>
              <a:cs typeface="Microsoft Sans Serif"/>
            </a:endParaRP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CuadroTexto 3"/>
          <p:cNvSpPr txBox="1"/>
          <p:nvPr/>
        </p:nvSpPr>
        <p:spPr>
          <a:xfrm>
            <a:off x="739832" y="648393"/>
            <a:ext cx="899437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/>
              <a:t>Tipos de </a:t>
            </a:r>
            <a:r>
              <a:rPr lang="es-ES" sz="3200" b="1" dirty="0" smtClean="0"/>
              <a:t>ficheros</a:t>
            </a:r>
            <a:endParaRPr lang="es-ES" sz="3200" b="1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5338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FICHERO DE TEXTO 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3695" indent="-341630">
              <a:lnSpc>
                <a:spcPct val="100000"/>
              </a:lnSpc>
              <a:spcBef>
                <a:spcPts val="509"/>
              </a:spcBef>
              <a:buClr>
                <a:srgbClr val="DD8047"/>
              </a:buClr>
              <a:buSzPct val="60377"/>
              <a:buFont typeface="Cambria"/>
              <a:buChar char="◻"/>
              <a:tabLst>
                <a:tab pos="353695" algn="l"/>
                <a:tab pos="354330" algn="l"/>
              </a:tabLst>
            </a:pPr>
            <a:r>
              <a:rPr lang="es-ES" sz="2650" spc="-280" dirty="0">
                <a:latin typeface="Microsoft Sans Serif"/>
                <a:cs typeface="Microsoft Sans Serif"/>
              </a:rPr>
              <a:t>Se</a:t>
            </a:r>
            <a:r>
              <a:rPr lang="es-ES" sz="2650" spc="30" dirty="0">
                <a:latin typeface="Microsoft Sans Serif"/>
                <a:cs typeface="Microsoft Sans Serif"/>
              </a:rPr>
              <a:t> </a:t>
            </a:r>
            <a:r>
              <a:rPr lang="es-ES" sz="2650" spc="-185" dirty="0">
                <a:latin typeface="Microsoft Sans Serif"/>
                <a:cs typeface="Microsoft Sans Serif"/>
              </a:rPr>
              <a:t>le</a:t>
            </a:r>
            <a:r>
              <a:rPr lang="es-ES" sz="2650" spc="-229" dirty="0">
                <a:latin typeface="Microsoft Sans Serif"/>
                <a:cs typeface="Microsoft Sans Serif"/>
              </a:rPr>
              <a:t>s</a:t>
            </a:r>
            <a:r>
              <a:rPr lang="es-ES" sz="2650" spc="30" dirty="0">
                <a:latin typeface="Microsoft Sans Serif"/>
                <a:cs typeface="Microsoft Sans Serif"/>
              </a:rPr>
              <a:t> </a:t>
            </a:r>
            <a:r>
              <a:rPr lang="es-ES" sz="2650" spc="-90" dirty="0">
                <a:latin typeface="Microsoft Sans Serif"/>
                <a:cs typeface="Microsoft Sans Serif"/>
              </a:rPr>
              <a:t>llam</a:t>
            </a:r>
            <a:r>
              <a:rPr lang="es-ES" sz="2650" spc="-105" dirty="0">
                <a:latin typeface="Microsoft Sans Serif"/>
                <a:cs typeface="Microsoft Sans Serif"/>
              </a:rPr>
              <a:t>a</a:t>
            </a:r>
            <a:r>
              <a:rPr lang="es-ES" sz="2650" spc="30" dirty="0">
                <a:latin typeface="Microsoft Sans Serif"/>
                <a:cs typeface="Microsoft Sans Serif"/>
              </a:rPr>
              <a:t> </a:t>
            </a:r>
            <a:r>
              <a:rPr lang="es-ES" sz="2650" spc="-135" dirty="0">
                <a:latin typeface="Microsoft Sans Serif"/>
                <a:cs typeface="Microsoft Sans Serif"/>
              </a:rPr>
              <a:t>también</a:t>
            </a:r>
            <a:r>
              <a:rPr lang="es-ES" sz="2650" spc="80" dirty="0">
                <a:latin typeface="Microsoft Sans Serif"/>
                <a:cs typeface="Microsoft Sans Serif"/>
              </a:rPr>
              <a:t> </a:t>
            </a:r>
            <a:r>
              <a:rPr lang="es-ES" sz="2650" i="1" spc="-35" dirty="0">
                <a:latin typeface="Arial"/>
                <a:cs typeface="Arial"/>
              </a:rPr>
              <a:t>fi</a:t>
            </a:r>
            <a:r>
              <a:rPr lang="es-ES" sz="2650" i="1" spc="-20" dirty="0">
                <a:latin typeface="Arial"/>
                <a:cs typeface="Arial"/>
              </a:rPr>
              <a:t>c</a:t>
            </a:r>
            <a:r>
              <a:rPr lang="es-ES" sz="2650" i="1" spc="-235" dirty="0">
                <a:latin typeface="Arial"/>
                <a:cs typeface="Arial"/>
              </a:rPr>
              <a:t>he</a:t>
            </a:r>
            <a:r>
              <a:rPr lang="es-ES" sz="2650" i="1" spc="-165" dirty="0">
                <a:latin typeface="Arial"/>
                <a:cs typeface="Arial"/>
              </a:rPr>
              <a:t>r</a:t>
            </a:r>
            <a:r>
              <a:rPr lang="es-ES" sz="2650" i="1" spc="-285" dirty="0">
                <a:latin typeface="Arial"/>
                <a:cs typeface="Arial"/>
              </a:rPr>
              <a:t>os</a:t>
            </a:r>
            <a:r>
              <a:rPr lang="es-ES" sz="2650" i="1" dirty="0">
                <a:latin typeface="Arial"/>
                <a:cs typeface="Arial"/>
              </a:rPr>
              <a:t> </a:t>
            </a:r>
            <a:r>
              <a:rPr lang="es-ES" sz="2650" i="1" spc="-190" dirty="0">
                <a:latin typeface="Arial"/>
                <a:cs typeface="Arial"/>
              </a:rPr>
              <a:t>planos</a:t>
            </a:r>
            <a:r>
              <a:rPr lang="es-ES" sz="2650" i="1" dirty="0">
                <a:latin typeface="Arial"/>
                <a:cs typeface="Arial"/>
              </a:rPr>
              <a:t> </a:t>
            </a:r>
            <a:r>
              <a:rPr lang="es-ES" sz="2650" spc="-135" dirty="0">
                <a:latin typeface="Microsoft Sans Serif"/>
                <a:cs typeface="Microsoft Sans Serif"/>
              </a:rPr>
              <a:t>o</a:t>
            </a:r>
            <a:r>
              <a:rPr lang="es-ES" sz="2650" spc="35" dirty="0">
                <a:latin typeface="Microsoft Sans Serif"/>
                <a:cs typeface="Microsoft Sans Serif"/>
              </a:rPr>
              <a:t> </a:t>
            </a:r>
            <a:r>
              <a:rPr lang="es-ES" sz="2650" i="1" spc="-35" dirty="0">
                <a:latin typeface="Arial"/>
                <a:cs typeface="Arial"/>
              </a:rPr>
              <a:t>fi</a:t>
            </a:r>
            <a:r>
              <a:rPr lang="es-ES" sz="2650" i="1" spc="-20" dirty="0">
                <a:latin typeface="Arial"/>
                <a:cs typeface="Arial"/>
              </a:rPr>
              <a:t>c</a:t>
            </a:r>
            <a:r>
              <a:rPr lang="es-ES" sz="2650" i="1" spc="-235" dirty="0">
                <a:latin typeface="Arial"/>
                <a:cs typeface="Arial"/>
              </a:rPr>
              <a:t>he</a:t>
            </a:r>
            <a:r>
              <a:rPr lang="es-ES" sz="2650" i="1" spc="-165" dirty="0">
                <a:latin typeface="Arial"/>
                <a:cs typeface="Arial"/>
              </a:rPr>
              <a:t>r</a:t>
            </a:r>
            <a:r>
              <a:rPr lang="es-ES" sz="2650" i="1" spc="-285" dirty="0">
                <a:latin typeface="Arial"/>
                <a:cs typeface="Arial"/>
              </a:rPr>
              <a:t>os</a:t>
            </a:r>
            <a:r>
              <a:rPr lang="es-ES" sz="2650" i="1" dirty="0">
                <a:latin typeface="Arial"/>
                <a:cs typeface="Arial"/>
              </a:rPr>
              <a:t> </a:t>
            </a:r>
            <a:r>
              <a:rPr lang="es-ES" sz="2650" b="1" i="1" spc="-170" dirty="0" smtClean="0">
                <a:latin typeface="Arial"/>
                <a:cs typeface="Arial"/>
              </a:rPr>
              <a:t>ASCII</a:t>
            </a:r>
            <a:r>
              <a:rPr lang="es-ES" sz="2650" i="1" spc="-170" dirty="0" smtClean="0">
                <a:latin typeface="Arial"/>
                <a:cs typeface="Arial"/>
              </a:rPr>
              <a:t>.</a:t>
            </a:r>
            <a:endParaRPr lang="es-ES" sz="2650" dirty="0">
              <a:latin typeface="Arial"/>
              <a:cs typeface="Arial"/>
            </a:endParaRPr>
          </a:p>
          <a:p>
            <a:pPr marL="353695" marR="253365" indent="-341630">
              <a:lnSpc>
                <a:spcPts val="2900"/>
              </a:lnSpc>
              <a:spcBef>
                <a:spcPts val="745"/>
              </a:spcBef>
              <a:buClr>
                <a:srgbClr val="DD8047"/>
              </a:buClr>
              <a:buSzPct val="60377"/>
              <a:buFont typeface="Cambria"/>
              <a:buChar char="◻"/>
              <a:tabLst>
                <a:tab pos="353695" algn="l"/>
                <a:tab pos="354330" algn="l"/>
              </a:tabLst>
            </a:pPr>
            <a:r>
              <a:rPr lang="es-ES" sz="2650" spc="-310" dirty="0">
                <a:latin typeface="Microsoft Sans Serif"/>
                <a:cs typeface="Microsoft Sans Serif"/>
              </a:rPr>
              <a:t>El</a:t>
            </a:r>
            <a:r>
              <a:rPr lang="es-ES" sz="2650" spc="25" dirty="0">
                <a:latin typeface="Microsoft Sans Serif"/>
                <a:cs typeface="Microsoft Sans Serif"/>
              </a:rPr>
              <a:t> </a:t>
            </a:r>
            <a:r>
              <a:rPr lang="es-ES" sz="2650" spc="-100" dirty="0">
                <a:latin typeface="Microsoft Sans Serif"/>
                <a:cs typeface="Microsoft Sans Serif"/>
              </a:rPr>
              <a:t>código</a:t>
            </a:r>
            <a:r>
              <a:rPr lang="es-ES" sz="2650" spc="25" dirty="0">
                <a:latin typeface="Microsoft Sans Serif"/>
                <a:cs typeface="Microsoft Sans Serif"/>
              </a:rPr>
              <a:t> </a:t>
            </a:r>
            <a:r>
              <a:rPr lang="es-ES" sz="2650" spc="-235" dirty="0">
                <a:latin typeface="Microsoft Sans Serif"/>
                <a:cs typeface="Microsoft Sans Serif"/>
              </a:rPr>
              <a:t>ASCII</a:t>
            </a:r>
            <a:r>
              <a:rPr lang="es-ES" sz="2650" spc="30" dirty="0">
                <a:latin typeface="Microsoft Sans Serif"/>
                <a:cs typeface="Microsoft Sans Serif"/>
              </a:rPr>
              <a:t> </a:t>
            </a:r>
            <a:r>
              <a:rPr lang="es-ES" sz="2650" spc="-130" dirty="0">
                <a:latin typeface="Microsoft Sans Serif"/>
                <a:cs typeface="Microsoft Sans Serif"/>
              </a:rPr>
              <a:t>asigna</a:t>
            </a:r>
            <a:r>
              <a:rPr lang="es-ES" sz="2650" spc="25" dirty="0">
                <a:latin typeface="Microsoft Sans Serif"/>
                <a:cs typeface="Microsoft Sans Serif"/>
              </a:rPr>
              <a:t> </a:t>
            </a:r>
            <a:r>
              <a:rPr lang="es-ES" sz="2650" spc="-305" dirty="0">
                <a:latin typeface="Microsoft Sans Serif"/>
                <a:cs typeface="Microsoft Sans Serif"/>
              </a:rPr>
              <a:t>un</a:t>
            </a:r>
            <a:r>
              <a:rPr lang="es-ES" sz="2650" spc="25" dirty="0">
                <a:latin typeface="Microsoft Sans Serif"/>
                <a:cs typeface="Microsoft Sans Serif"/>
              </a:rPr>
              <a:t> </a:t>
            </a:r>
            <a:r>
              <a:rPr lang="es-ES" sz="2650" spc="-100" dirty="0">
                <a:latin typeface="Microsoft Sans Serif"/>
                <a:cs typeface="Microsoft Sans Serif"/>
              </a:rPr>
              <a:t>código</a:t>
            </a:r>
            <a:r>
              <a:rPr lang="es-ES" sz="2650" spc="25" dirty="0">
                <a:latin typeface="Microsoft Sans Serif"/>
                <a:cs typeface="Microsoft Sans Serif"/>
              </a:rPr>
              <a:t> </a:t>
            </a:r>
            <a:r>
              <a:rPr lang="es-ES" sz="2650" spc="-70" dirty="0">
                <a:latin typeface="Microsoft Sans Serif"/>
                <a:cs typeface="Microsoft Sans Serif"/>
              </a:rPr>
              <a:t>de</a:t>
            </a:r>
            <a:r>
              <a:rPr lang="es-ES" sz="2650" spc="25" dirty="0">
                <a:latin typeface="Microsoft Sans Serif"/>
                <a:cs typeface="Microsoft Sans Serif"/>
              </a:rPr>
              <a:t> </a:t>
            </a:r>
            <a:r>
              <a:rPr lang="es-ES" sz="2650" spc="5" dirty="0">
                <a:latin typeface="Microsoft Sans Serif"/>
                <a:cs typeface="Microsoft Sans Serif"/>
              </a:rPr>
              <a:t>8</a:t>
            </a:r>
            <a:r>
              <a:rPr lang="es-ES" sz="2650" spc="25" dirty="0">
                <a:latin typeface="Microsoft Sans Serif"/>
                <a:cs typeface="Microsoft Sans Serif"/>
              </a:rPr>
              <a:t> </a:t>
            </a:r>
            <a:r>
              <a:rPr lang="es-ES" sz="2650" spc="-120" dirty="0">
                <a:latin typeface="Microsoft Sans Serif"/>
                <a:cs typeface="Microsoft Sans Serif"/>
              </a:rPr>
              <a:t>bits</a:t>
            </a:r>
            <a:r>
              <a:rPr lang="es-ES" sz="2650" spc="25" dirty="0">
                <a:latin typeface="Microsoft Sans Serif"/>
                <a:cs typeface="Microsoft Sans Serif"/>
              </a:rPr>
              <a:t> </a:t>
            </a:r>
            <a:r>
              <a:rPr lang="es-ES" sz="2650" spc="5" dirty="0">
                <a:latin typeface="Microsoft Sans Serif"/>
                <a:cs typeface="Microsoft Sans Serif"/>
              </a:rPr>
              <a:t>a</a:t>
            </a:r>
            <a:r>
              <a:rPr lang="es-ES" sz="2650" spc="25" dirty="0">
                <a:latin typeface="Microsoft Sans Serif"/>
                <a:cs typeface="Microsoft Sans Serif"/>
              </a:rPr>
              <a:t> </a:t>
            </a:r>
            <a:r>
              <a:rPr lang="es-ES" sz="2650" spc="-75" dirty="0">
                <a:latin typeface="Microsoft Sans Serif"/>
                <a:cs typeface="Microsoft Sans Serif"/>
              </a:rPr>
              <a:t>cada </a:t>
            </a:r>
            <a:r>
              <a:rPr lang="es-ES" sz="2650" spc="-70" dirty="0">
                <a:latin typeface="Microsoft Sans Serif"/>
                <a:cs typeface="Microsoft Sans Serif"/>
              </a:rPr>
              <a:t> </a:t>
            </a:r>
            <a:r>
              <a:rPr lang="es-ES" sz="2650" spc="-120" dirty="0">
                <a:latin typeface="Microsoft Sans Serif"/>
                <a:cs typeface="Microsoft Sans Serif"/>
              </a:rPr>
              <a:t>carácter,</a:t>
            </a:r>
            <a:r>
              <a:rPr lang="es-ES" sz="2650" spc="30" dirty="0">
                <a:latin typeface="Microsoft Sans Serif"/>
                <a:cs typeface="Microsoft Sans Serif"/>
              </a:rPr>
              <a:t> </a:t>
            </a:r>
            <a:r>
              <a:rPr lang="es-ES" sz="2650" spc="-170" dirty="0">
                <a:latin typeface="Microsoft Sans Serif"/>
                <a:cs typeface="Microsoft Sans Serif"/>
              </a:rPr>
              <a:t>mientras</a:t>
            </a:r>
            <a:r>
              <a:rPr lang="es-ES" sz="2650" spc="25" dirty="0">
                <a:latin typeface="Microsoft Sans Serif"/>
                <a:cs typeface="Microsoft Sans Serif"/>
              </a:rPr>
              <a:t> </a:t>
            </a:r>
            <a:r>
              <a:rPr lang="es-ES" sz="2650" spc="-150" dirty="0">
                <a:latin typeface="Microsoft Sans Serif"/>
                <a:cs typeface="Microsoft Sans Serif"/>
              </a:rPr>
              <a:t>que</a:t>
            </a:r>
            <a:r>
              <a:rPr lang="es-ES" sz="2650" spc="25" dirty="0">
                <a:latin typeface="Microsoft Sans Serif"/>
                <a:cs typeface="Microsoft Sans Serif"/>
              </a:rPr>
              <a:t> </a:t>
            </a:r>
            <a:r>
              <a:rPr lang="es-ES" sz="2650" spc="-75" dirty="0">
                <a:latin typeface="Microsoft Sans Serif"/>
                <a:cs typeface="Microsoft Sans Serif"/>
              </a:rPr>
              <a:t>el</a:t>
            </a:r>
            <a:r>
              <a:rPr lang="es-ES" sz="2650" spc="30" dirty="0">
                <a:latin typeface="Microsoft Sans Serif"/>
                <a:cs typeface="Microsoft Sans Serif"/>
              </a:rPr>
              <a:t> </a:t>
            </a:r>
            <a:r>
              <a:rPr lang="es-ES" sz="2650" spc="-250" dirty="0">
                <a:latin typeface="Microsoft Sans Serif"/>
                <a:cs typeface="Microsoft Sans Serif"/>
              </a:rPr>
              <a:t>UNICODE</a:t>
            </a:r>
            <a:r>
              <a:rPr lang="es-ES" sz="2650" spc="30" dirty="0">
                <a:latin typeface="Microsoft Sans Serif"/>
                <a:cs typeface="Microsoft Sans Serif"/>
              </a:rPr>
              <a:t> </a:t>
            </a:r>
            <a:r>
              <a:rPr lang="es-ES" sz="2650" spc="-285" dirty="0">
                <a:latin typeface="Microsoft Sans Serif"/>
                <a:cs typeface="Microsoft Sans Serif"/>
              </a:rPr>
              <a:t>se</a:t>
            </a:r>
            <a:r>
              <a:rPr lang="es-ES" sz="2650" spc="30" dirty="0">
                <a:latin typeface="Microsoft Sans Serif"/>
                <a:cs typeface="Microsoft Sans Serif"/>
              </a:rPr>
              <a:t> </a:t>
            </a:r>
            <a:r>
              <a:rPr lang="es-ES" sz="2650" spc="-80" dirty="0">
                <a:latin typeface="Microsoft Sans Serif"/>
                <a:cs typeface="Microsoft Sans Serif"/>
              </a:rPr>
              <a:t>lo</a:t>
            </a:r>
            <a:r>
              <a:rPr lang="es-ES" sz="2650" spc="30" dirty="0">
                <a:latin typeface="Microsoft Sans Serif"/>
                <a:cs typeface="Microsoft Sans Serif"/>
              </a:rPr>
              <a:t> </a:t>
            </a:r>
            <a:r>
              <a:rPr lang="es-ES" sz="2650" spc="-130" dirty="0">
                <a:latin typeface="Microsoft Sans Serif"/>
                <a:cs typeface="Microsoft Sans Serif"/>
              </a:rPr>
              <a:t>asigna</a:t>
            </a:r>
            <a:r>
              <a:rPr lang="es-ES" sz="2650" spc="25" dirty="0">
                <a:latin typeface="Microsoft Sans Serif"/>
                <a:cs typeface="Microsoft Sans Serif"/>
              </a:rPr>
              <a:t> </a:t>
            </a:r>
            <a:r>
              <a:rPr lang="es-ES" sz="2650" spc="-70" dirty="0">
                <a:latin typeface="Microsoft Sans Serif"/>
                <a:cs typeface="Microsoft Sans Serif"/>
              </a:rPr>
              <a:t>de</a:t>
            </a:r>
            <a:r>
              <a:rPr lang="es-ES" sz="2650" spc="25" dirty="0">
                <a:latin typeface="Microsoft Sans Serif"/>
                <a:cs typeface="Microsoft Sans Serif"/>
              </a:rPr>
              <a:t> </a:t>
            </a:r>
            <a:r>
              <a:rPr lang="es-ES" sz="2650" dirty="0">
                <a:latin typeface="Microsoft Sans Serif"/>
                <a:cs typeface="Microsoft Sans Serif"/>
              </a:rPr>
              <a:t>16 </a:t>
            </a:r>
            <a:r>
              <a:rPr lang="es-ES" sz="2650" spc="-690" dirty="0">
                <a:latin typeface="Microsoft Sans Serif"/>
                <a:cs typeface="Microsoft Sans Serif"/>
              </a:rPr>
              <a:t> </a:t>
            </a:r>
            <a:r>
              <a:rPr lang="es-ES" sz="2650" spc="-130" dirty="0">
                <a:latin typeface="Microsoft Sans Serif"/>
                <a:cs typeface="Microsoft Sans Serif"/>
              </a:rPr>
              <a:t>bits.</a:t>
            </a:r>
            <a:endParaRPr lang="es-ES" sz="2650" dirty="0">
              <a:latin typeface="Microsoft Sans Serif"/>
              <a:cs typeface="Microsoft Sans Serif"/>
            </a:endParaRPr>
          </a:p>
          <a:p>
            <a:pPr marL="353695" indent="-341630">
              <a:lnSpc>
                <a:spcPct val="100000"/>
              </a:lnSpc>
              <a:spcBef>
                <a:spcPts val="360"/>
              </a:spcBef>
              <a:buClr>
                <a:srgbClr val="DD8047"/>
              </a:buClr>
              <a:buSzPct val="60377"/>
              <a:buFont typeface="Cambria"/>
              <a:buChar char="◻"/>
              <a:tabLst>
                <a:tab pos="353695" algn="l"/>
                <a:tab pos="354330" algn="l"/>
              </a:tabLst>
            </a:pPr>
            <a:r>
              <a:rPr lang="es-ES" sz="2650" spc="-215" dirty="0">
                <a:latin typeface="Microsoft Sans Serif"/>
                <a:cs typeface="Microsoft Sans Serif"/>
              </a:rPr>
              <a:t>Ejemplos:</a:t>
            </a:r>
            <a:endParaRPr lang="es-ES" sz="2650" dirty="0">
              <a:latin typeface="Microsoft Sans Serif"/>
              <a:cs typeface="Microsoft Sans Serif"/>
            </a:endParaRPr>
          </a:p>
          <a:p>
            <a:pPr marL="673735" lvl="1" indent="-296545">
              <a:lnSpc>
                <a:spcPct val="100000"/>
              </a:lnSpc>
              <a:spcBef>
                <a:spcPts val="280"/>
              </a:spcBef>
              <a:buClr>
                <a:srgbClr val="94B6D1"/>
              </a:buClr>
              <a:buSzPct val="68750"/>
              <a:buFont typeface="Cambria"/>
              <a:buChar char="□"/>
              <a:tabLst>
                <a:tab pos="673735" algn="l"/>
                <a:tab pos="674370" algn="l"/>
              </a:tabLst>
            </a:pPr>
            <a:r>
              <a:rPr lang="es-ES" sz="1800" spc="-229" dirty="0">
                <a:latin typeface="Microsoft Sans Serif"/>
                <a:cs typeface="Microsoft Sans Serif"/>
              </a:rPr>
              <a:t>Fi</a:t>
            </a:r>
            <a:r>
              <a:rPr lang="es-ES" sz="1800" spc="-175" dirty="0">
                <a:latin typeface="Microsoft Sans Serif"/>
                <a:cs typeface="Microsoft Sans Serif"/>
              </a:rPr>
              <a:t>c</a:t>
            </a:r>
            <a:r>
              <a:rPr lang="es-ES" sz="1800" spc="-165" dirty="0">
                <a:latin typeface="Microsoft Sans Serif"/>
                <a:cs typeface="Microsoft Sans Serif"/>
              </a:rPr>
              <a:t>he</a:t>
            </a:r>
            <a:r>
              <a:rPr lang="es-ES" sz="1800" spc="-150" dirty="0">
                <a:latin typeface="Microsoft Sans Serif"/>
                <a:cs typeface="Microsoft Sans Serif"/>
              </a:rPr>
              <a:t>r</a:t>
            </a:r>
            <a:r>
              <a:rPr lang="es-ES" sz="1800" spc="-270" dirty="0">
                <a:latin typeface="Microsoft Sans Serif"/>
                <a:cs typeface="Microsoft Sans Serif"/>
              </a:rPr>
              <a:t>os</a:t>
            </a:r>
            <a:r>
              <a:rPr lang="es-ES" sz="1800" spc="20" dirty="0">
                <a:latin typeface="Microsoft Sans Serif"/>
                <a:cs typeface="Microsoft Sans Serif"/>
              </a:rPr>
              <a:t> </a:t>
            </a:r>
            <a:r>
              <a:rPr lang="es-ES" sz="1800" spc="-75" dirty="0">
                <a:latin typeface="Microsoft Sans Serif"/>
                <a:cs typeface="Microsoft Sans Serif"/>
              </a:rPr>
              <a:t>d</a:t>
            </a:r>
            <a:r>
              <a:rPr lang="es-ES" sz="1800" spc="-70" dirty="0">
                <a:latin typeface="Microsoft Sans Serif"/>
                <a:cs typeface="Microsoft Sans Serif"/>
              </a:rPr>
              <a:t>e</a:t>
            </a:r>
            <a:r>
              <a:rPr lang="es-ES" sz="1800" spc="20" dirty="0">
                <a:latin typeface="Microsoft Sans Serif"/>
                <a:cs typeface="Microsoft Sans Serif"/>
              </a:rPr>
              <a:t> </a:t>
            </a:r>
            <a:r>
              <a:rPr lang="es-ES" sz="1800" spc="-120" dirty="0">
                <a:latin typeface="Microsoft Sans Serif"/>
                <a:cs typeface="Microsoft Sans Serif"/>
              </a:rPr>
              <a:t>configu</a:t>
            </a:r>
            <a:r>
              <a:rPr lang="es-ES" sz="1800" spc="-110" dirty="0">
                <a:latin typeface="Microsoft Sans Serif"/>
                <a:cs typeface="Microsoft Sans Serif"/>
              </a:rPr>
              <a:t>r</a:t>
            </a:r>
            <a:r>
              <a:rPr lang="es-ES" sz="1800" spc="-160" dirty="0">
                <a:latin typeface="Microsoft Sans Serif"/>
                <a:cs typeface="Microsoft Sans Serif"/>
              </a:rPr>
              <a:t>ación</a:t>
            </a:r>
            <a:r>
              <a:rPr lang="es-ES" sz="1800" spc="-90" dirty="0">
                <a:latin typeface="Microsoft Sans Serif"/>
                <a:cs typeface="Microsoft Sans Serif"/>
              </a:rPr>
              <a:t>:</a:t>
            </a:r>
            <a:r>
              <a:rPr lang="es-ES" sz="1800" spc="20" dirty="0">
                <a:latin typeface="Microsoft Sans Serif"/>
                <a:cs typeface="Microsoft Sans Serif"/>
              </a:rPr>
              <a:t> </a:t>
            </a:r>
            <a:r>
              <a:rPr lang="es-ES" sz="1800" spc="-130" dirty="0">
                <a:latin typeface="Microsoft Sans Serif"/>
                <a:cs typeface="Microsoft Sans Serif"/>
              </a:rPr>
              <a:t>.</a:t>
            </a:r>
            <a:r>
              <a:rPr lang="es-ES" sz="1800" spc="-130" dirty="0" err="1">
                <a:latin typeface="Microsoft Sans Serif"/>
                <a:cs typeface="Microsoft Sans Serif"/>
              </a:rPr>
              <a:t>ini</a:t>
            </a:r>
            <a:r>
              <a:rPr lang="es-ES" sz="1800" spc="-110" dirty="0">
                <a:latin typeface="Microsoft Sans Serif"/>
                <a:cs typeface="Microsoft Sans Serif"/>
              </a:rPr>
              <a:t>,</a:t>
            </a:r>
            <a:r>
              <a:rPr lang="es-ES" sz="1800" spc="20" dirty="0">
                <a:latin typeface="Microsoft Sans Serif"/>
                <a:cs typeface="Microsoft Sans Serif"/>
              </a:rPr>
              <a:t> </a:t>
            </a:r>
            <a:r>
              <a:rPr lang="es-ES" sz="1800" spc="-155" dirty="0">
                <a:latin typeface="Microsoft Sans Serif"/>
                <a:cs typeface="Microsoft Sans Serif"/>
              </a:rPr>
              <a:t>.</a:t>
            </a:r>
            <a:r>
              <a:rPr lang="es-ES" sz="1800" spc="-155" dirty="0" err="1">
                <a:latin typeface="Microsoft Sans Serif"/>
                <a:cs typeface="Microsoft Sans Serif"/>
              </a:rPr>
              <a:t>in</a:t>
            </a:r>
            <a:r>
              <a:rPr lang="es-ES" sz="1800" spc="-15" dirty="0" err="1">
                <a:latin typeface="Microsoft Sans Serif"/>
                <a:cs typeface="Microsoft Sans Serif"/>
              </a:rPr>
              <a:t>f</a:t>
            </a:r>
            <a:r>
              <a:rPr lang="es-ES" sz="1800" spc="-140" dirty="0">
                <a:latin typeface="Microsoft Sans Serif"/>
                <a:cs typeface="Microsoft Sans Serif"/>
              </a:rPr>
              <a:t>,</a:t>
            </a:r>
            <a:r>
              <a:rPr lang="es-ES" sz="1800" spc="20" dirty="0">
                <a:latin typeface="Microsoft Sans Serif"/>
                <a:cs typeface="Microsoft Sans Serif"/>
              </a:rPr>
              <a:t> </a:t>
            </a:r>
            <a:r>
              <a:rPr lang="es-ES" sz="1800" spc="-145" dirty="0">
                <a:latin typeface="Microsoft Sans Serif"/>
                <a:cs typeface="Microsoft Sans Serif"/>
              </a:rPr>
              <a:t>.</a:t>
            </a:r>
            <a:r>
              <a:rPr lang="es-ES" sz="1800" spc="-145" dirty="0" err="1">
                <a:latin typeface="Microsoft Sans Serif"/>
                <a:cs typeface="Microsoft Sans Serif"/>
              </a:rPr>
              <a:t>conf</a:t>
            </a:r>
            <a:endParaRPr lang="es-ES" sz="1800" dirty="0">
              <a:latin typeface="Microsoft Sans Serif"/>
              <a:cs typeface="Microsoft Sans Serif"/>
            </a:endParaRPr>
          </a:p>
          <a:p>
            <a:pPr marL="673735" lvl="1" indent="-296545">
              <a:lnSpc>
                <a:spcPct val="100000"/>
              </a:lnSpc>
              <a:spcBef>
                <a:spcPts val="265"/>
              </a:spcBef>
              <a:buClr>
                <a:srgbClr val="94B6D1"/>
              </a:buClr>
              <a:buSzPct val="68750"/>
              <a:buFont typeface="Cambria"/>
              <a:buChar char="□"/>
              <a:tabLst>
                <a:tab pos="673735" algn="l"/>
                <a:tab pos="674370" algn="l"/>
              </a:tabLst>
            </a:pPr>
            <a:r>
              <a:rPr lang="es-ES" sz="1800" spc="-229" dirty="0">
                <a:latin typeface="Microsoft Sans Serif"/>
                <a:cs typeface="Microsoft Sans Serif"/>
              </a:rPr>
              <a:t>Fi</a:t>
            </a:r>
            <a:r>
              <a:rPr lang="es-ES" sz="1800" spc="-175" dirty="0">
                <a:latin typeface="Microsoft Sans Serif"/>
                <a:cs typeface="Microsoft Sans Serif"/>
              </a:rPr>
              <a:t>c</a:t>
            </a:r>
            <a:r>
              <a:rPr lang="es-ES" sz="1800" spc="-165" dirty="0">
                <a:latin typeface="Microsoft Sans Serif"/>
                <a:cs typeface="Microsoft Sans Serif"/>
              </a:rPr>
              <a:t>he</a:t>
            </a:r>
            <a:r>
              <a:rPr lang="es-ES" sz="1800" spc="-150" dirty="0">
                <a:latin typeface="Microsoft Sans Serif"/>
                <a:cs typeface="Microsoft Sans Serif"/>
              </a:rPr>
              <a:t>r</a:t>
            </a:r>
            <a:r>
              <a:rPr lang="es-ES" sz="1800" spc="-270" dirty="0">
                <a:latin typeface="Microsoft Sans Serif"/>
                <a:cs typeface="Microsoft Sans Serif"/>
              </a:rPr>
              <a:t>os</a:t>
            </a:r>
            <a:r>
              <a:rPr lang="es-ES" sz="1800" spc="20" dirty="0">
                <a:latin typeface="Microsoft Sans Serif"/>
                <a:cs typeface="Microsoft Sans Serif"/>
              </a:rPr>
              <a:t> </a:t>
            </a:r>
            <a:r>
              <a:rPr lang="es-ES" sz="1800" spc="-75" dirty="0">
                <a:latin typeface="Microsoft Sans Serif"/>
                <a:cs typeface="Microsoft Sans Serif"/>
              </a:rPr>
              <a:t>d</a:t>
            </a:r>
            <a:r>
              <a:rPr lang="es-ES" sz="1800" spc="-70" dirty="0">
                <a:latin typeface="Microsoft Sans Serif"/>
                <a:cs typeface="Microsoft Sans Serif"/>
              </a:rPr>
              <a:t>e</a:t>
            </a:r>
            <a:r>
              <a:rPr lang="es-ES" sz="1800" spc="20" dirty="0">
                <a:latin typeface="Microsoft Sans Serif"/>
                <a:cs typeface="Microsoft Sans Serif"/>
              </a:rPr>
              <a:t> </a:t>
            </a:r>
            <a:r>
              <a:rPr lang="es-ES" sz="1800" spc="-100" dirty="0">
                <a:latin typeface="Microsoft Sans Serif"/>
                <a:cs typeface="Microsoft Sans Serif"/>
              </a:rPr>
              <a:t>códig</a:t>
            </a:r>
            <a:r>
              <a:rPr lang="es-ES" sz="1800" spc="-110" dirty="0">
                <a:latin typeface="Microsoft Sans Serif"/>
                <a:cs typeface="Microsoft Sans Serif"/>
              </a:rPr>
              <a:t>o</a:t>
            </a:r>
            <a:r>
              <a:rPr lang="es-ES" sz="1800" spc="20" dirty="0">
                <a:latin typeface="Microsoft Sans Serif"/>
                <a:cs typeface="Microsoft Sans Serif"/>
              </a:rPr>
              <a:t> </a:t>
            </a:r>
            <a:r>
              <a:rPr lang="es-ES" sz="1800" spc="-130" dirty="0">
                <a:latin typeface="Microsoft Sans Serif"/>
                <a:cs typeface="Microsoft Sans Serif"/>
              </a:rPr>
              <a:t>fuente:.</a:t>
            </a:r>
            <a:r>
              <a:rPr lang="es-ES" sz="1800" spc="-130" dirty="0" err="1">
                <a:latin typeface="Microsoft Sans Serif"/>
                <a:cs typeface="Microsoft Sans Serif"/>
              </a:rPr>
              <a:t>sql</a:t>
            </a:r>
            <a:r>
              <a:rPr lang="es-ES" sz="1800" spc="-130" dirty="0">
                <a:latin typeface="Microsoft Sans Serif"/>
                <a:cs typeface="Microsoft Sans Serif"/>
              </a:rPr>
              <a:t>,</a:t>
            </a:r>
            <a:r>
              <a:rPr lang="es-ES" sz="1800" spc="20" dirty="0">
                <a:latin typeface="Microsoft Sans Serif"/>
                <a:cs typeface="Microsoft Sans Serif"/>
              </a:rPr>
              <a:t> </a:t>
            </a:r>
            <a:r>
              <a:rPr lang="es-ES" sz="1800" spc="-210" dirty="0">
                <a:latin typeface="Microsoft Sans Serif"/>
                <a:cs typeface="Microsoft Sans Serif"/>
              </a:rPr>
              <a:t>.c</a:t>
            </a:r>
            <a:r>
              <a:rPr lang="es-ES" sz="1800" spc="-150" dirty="0">
                <a:latin typeface="Microsoft Sans Serif"/>
                <a:cs typeface="Microsoft Sans Serif"/>
              </a:rPr>
              <a:t>,</a:t>
            </a:r>
            <a:r>
              <a:rPr lang="es-ES" sz="1800" spc="20" dirty="0">
                <a:latin typeface="Microsoft Sans Serif"/>
                <a:cs typeface="Microsoft Sans Serif"/>
              </a:rPr>
              <a:t> </a:t>
            </a:r>
            <a:r>
              <a:rPr lang="es-ES" sz="1800" spc="-80" dirty="0">
                <a:latin typeface="Microsoft Sans Serif"/>
                <a:cs typeface="Microsoft Sans Serif"/>
              </a:rPr>
              <a:t>.ja</a:t>
            </a:r>
            <a:r>
              <a:rPr lang="es-ES" sz="1800" spc="-155" dirty="0">
                <a:latin typeface="Microsoft Sans Serif"/>
                <a:cs typeface="Microsoft Sans Serif"/>
              </a:rPr>
              <a:t>v</a:t>
            </a:r>
            <a:r>
              <a:rPr lang="es-ES" sz="1800" spc="-10" dirty="0">
                <a:latin typeface="Microsoft Sans Serif"/>
                <a:cs typeface="Microsoft Sans Serif"/>
              </a:rPr>
              <a:t>a</a:t>
            </a:r>
            <a:endParaRPr lang="es-ES" sz="1800" dirty="0">
              <a:latin typeface="Microsoft Sans Serif"/>
              <a:cs typeface="Microsoft Sans Serif"/>
            </a:endParaRPr>
          </a:p>
          <a:p>
            <a:pPr marL="673735" lvl="1" indent="-296545">
              <a:lnSpc>
                <a:spcPct val="100000"/>
              </a:lnSpc>
              <a:spcBef>
                <a:spcPts val="270"/>
              </a:spcBef>
              <a:buClr>
                <a:srgbClr val="94B6D1"/>
              </a:buClr>
              <a:buSzPct val="68750"/>
              <a:buFont typeface="Cambria"/>
              <a:buChar char="□"/>
              <a:tabLst>
                <a:tab pos="673735" algn="l"/>
                <a:tab pos="674370" algn="l"/>
              </a:tabLst>
            </a:pPr>
            <a:r>
              <a:rPr lang="es-ES" sz="1800" spc="-229" dirty="0">
                <a:latin typeface="Microsoft Sans Serif"/>
                <a:cs typeface="Microsoft Sans Serif"/>
              </a:rPr>
              <a:t>Fi</a:t>
            </a:r>
            <a:r>
              <a:rPr lang="es-ES" sz="1800" spc="-175" dirty="0">
                <a:latin typeface="Microsoft Sans Serif"/>
                <a:cs typeface="Microsoft Sans Serif"/>
              </a:rPr>
              <a:t>c</a:t>
            </a:r>
            <a:r>
              <a:rPr lang="es-ES" sz="1800" spc="-165" dirty="0">
                <a:latin typeface="Microsoft Sans Serif"/>
                <a:cs typeface="Microsoft Sans Serif"/>
              </a:rPr>
              <a:t>he</a:t>
            </a:r>
            <a:r>
              <a:rPr lang="es-ES" sz="1800" spc="-150" dirty="0">
                <a:latin typeface="Microsoft Sans Serif"/>
                <a:cs typeface="Microsoft Sans Serif"/>
              </a:rPr>
              <a:t>r</a:t>
            </a:r>
            <a:r>
              <a:rPr lang="es-ES" sz="1800" spc="-270" dirty="0">
                <a:latin typeface="Microsoft Sans Serif"/>
                <a:cs typeface="Microsoft Sans Serif"/>
              </a:rPr>
              <a:t>os</a:t>
            </a:r>
            <a:r>
              <a:rPr lang="es-ES" sz="1800" spc="20" dirty="0">
                <a:latin typeface="Microsoft Sans Serif"/>
                <a:cs typeface="Microsoft Sans Serif"/>
              </a:rPr>
              <a:t> </a:t>
            </a:r>
            <a:r>
              <a:rPr lang="es-ES" sz="1800" spc="-75" dirty="0">
                <a:latin typeface="Microsoft Sans Serif"/>
                <a:cs typeface="Microsoft Sans Serif"/>
              </a:rPr>
              <a:t>d</a:t>
            </a:r>
            <a:r>
              <a:rPr lang="es-ES" sz="1800" spc="-70" dirty="0">
                <a:latin typeface="Microsoft Sans Serif"/>
                <a:cs typeface="Microsoft Sans Serif"/>
              </a:rPr>
              <a:t>e</a:t>
            </a:r>
            <a:r>
              <a:rPr lang="es-ES" sz="1800" spc="20" dirty="0">
                <a:latin typeface="Microsoft Sans Serif"/>
                <a:cs typeface="Microsoft Sans Serif"/>
              </a:rPr>
              <a:t> </a:t>
            </a:r>
            <a:r>
              <a:rPr lang="es-ES" sz="1800" spc="-110" dirty="0">
                <a:latin typeface="Microsoft Sans Serif"/>
                <a:cs typeface="Microsoft Sans Serif"/>
              </a:rPr>
              <a:t>página</a:t>
            </a:r>
            <a:r>
              <a:rPr lang="es-ES" sz="1800" spc="-105" dirty="0">
                <a:latin typeface="Microsoft Sans Serif"/>
                <a:cs typeface="Microsoft Sans Serif"/>
              </a:rPr>
              <a:t>s</a:t>
            </a:r>
            <a:r>
              <a:rPr lang="es-ES" sz="1800" spc="20" dirty="0">
                <a:latin typeface="Microsoft Sans Serif"/>
                <a:cs typeface="Microsoft Sans Serif"/>
              </a:rPr>
              <a:t> </a:t>
            </a:r>
            <a:r>
              <a:rPr lang="es-ES" sz="1800" spc="-185" dirty="0">
                <a:latin typeface="Microsoft Sans Serif"/>
                <a:cs typeface="Microsoft Sans Serif"/>
              </a:rPr>
              <a:t>we</a:t>
            </a:r>
            <a:r>
              <a:rPr lang="es-ES" sz="1800" spc="-105" dirty="0">
                <a:latin typeface="Microsoft Sans Serif"/>
                <a:cs typeface="Microsoft Sans Serif"/>
              </a:rPr>
              <a:t>b</a:t>
            </a:r>
            <a:r>
              <a:rPr lang="es-ES" sz="1800" spc="-50" dirty="0">
                <a:latin typeface="Microsoft Sans Serif"/>
                <a:cs typeface="Microsoft Sans Serif"/>
              </a:rPr>
              <a:t>:</a:t>
            </a:r>
            <a:r>
              <a:rPr lang="es-ES" sz="1800" spc="20" dirty="0">
                <a:latin typeface="Microsoft Sans Serif"/>
                <a:cs typeface="Microsoft Sans Serif"/>
              </a:rPr>
              <a:t> </a:t>
            </a:r>
            <a:r>
              <a:rPr lang="es-ES" sz="1800" spc="-185" dirty="0">
                <a:latin typeface="Microsoft Sans Serif"/>
                <a:cs typeface="Microsoft Sans Serif"/>
              </a:rPr>
              <a:t>.</a:t>
            </a:r>
            <a:r>
              <a:rPr lang="es-ES" sz="1800" spc="-185" dirty="0" err="1">
                <a:latin typeface="Microsoft Sans Serif"/>
                <a:cs typeface="Microsoft Sans Serif"/>
              </a:rPr>
              <a:t>html</a:t>
            </a:r>
            <a:r>
              <a:rPr lang="es-ES" sz="1800" spc="-114" dirty="0">
                <a:latin typeface="Microsoft Sans Serif"/>
                <a:cs typeface="Microsoft Sans Serif"/>
              </a:rPr>
              <a:t>,</a:t>
            </a:r>
            <a:r>
              <a:rPr lang="es-ES" sz="1800" spc="20" dirty="0">
                <a:latin typeface="Microsoft Sans Serif"/>
                <a:cs typeface="Microsoft Sans Serif"/>
              </a:rPr>
              <a:t> </a:t>
            </a:r>
            <a:r>
              <a:rPr lang="es-ES" sz="1800" spc="-110" dirty="0">
                <a:latin typeface="Microsoft Sans Serif"/>
                <a:cs typeface="Microsoft Sans Serif"/>
              </a:rPr>
              <a:t>.</a:t>
            </a:r>
            <a:r>
              <a:rPr lang="es-ES" sz="1800" spc="-110" dirty="0" err="1">
                <a:latin typeface="Microsoft Sans Serif"/>
                <a:cs typeface="Microsoft Sans Serif"/>
              </a:rPr>
              <a:t>ph</a:t>
            </a:r>
            <a:r>
              <a:rPr lang="es-ES" sz="1800" spc="-225" dirty="0" err="1">
                <a:latin typeface="Microsoft Sans Serif"/>
                <a:cs typeface="Microsoft Sans Serif"/>
              </a:rPr>
              <a:t>p</a:t>
            </a:r>
            <a:r>
              <a:rPr lang="es-ES" sz="1800" spc="-140" dirty="0">
                <a:latin typeface="Microsoft Sans Serif"/>
                <a:cs typeface="Microsoft Sans Serif"/>
              </a:rPr>
              <a:t>,</a:t>
            </a:r>
            <a:r>
              <a:rPr lang="es-ES" sz="1800" spc="20" dirty="0">
                <a:latin typeface="Microsoft Sans Serif"/>
                <a:cs typeface="Microsoft Sans Serif"/>
              </a:rPr>
              <a:t> </a:t>
            </a:r>
            <a:r>
              <a:rPr lang="es-ES" sz="1800" spc="-300" dirty="0">
                <a:latin typeface="Microsoft Sans Serif"/>
                <a:cs typeface="Microsoft Sans Serif"/>
              </a:rPr>
              <a:t>.</a:t>
            </a:r>
            <a:r>
              <a:rPr lang="es-ES" sz="1800" spc="-300" dirty="0" err="1">
                <a:latin typeface="Microsoft Sans Serif"/>
                <a:cs typeface="Microsoft Sans Serif"/>
              </a:rPr>
              <a:t>cs</a:t>
            </a:r>
            <a:r>
              <a:rPr lang="es-ES" sz="1800" spc="-395" dirty="0" err="1">
                <a:latin typeface="Microsoft Sans Serif"/>
                <a:cs typeface="Microsoft Sans Serif"/>
              </a:rPr>
              <a:t>s</a:t>
            </a:r>
            <a:r>
              <a:rPr lang="es-ES" sz="1800" spc="-140" dirty="0">
                <a:latin typeface="Microsoft Sans Serif"/>
                <a:cs typeface="Microsoft Sans Serif"/>
              </a:rPr>
              <a:t>,</a:t>
            </a:r>
            <a:r>
              <a:rPr lang="es-ES" sz="1800" spc="20" dirty="0">
                <a:latin typeface="Microsoft Sans Serif"/>
                <a:cs typeface="Microsoft Sans Serif"/>
              </a:rPr>
              <a:t> </a:t>
            </a:r>
            <a:r>
              <a:rPr lang="es-ES" sz="1800" spc="-145" dirty="0">
                <a:latin typeface="Microsoft Sans Serif"/>
                <a:cs typeface="Microsoft Sans Serif"/>
              </a:rPr>
              <a:t>.</a:t>
            </a:r>
            <a:r>
              <a:rPr lang="es-ES" sz="1800" spc="-145" dirty="0" err="1">
                <a:latin typeface="Microsoft Sans Serif"/>
                <a:cs typeface="Microsoft Sans Serif"/>
              </a:rPr>
              <a:t>xml</a:t>
            </a:r>
            <a:endParaRPr lang="es-ES" sz="1800" dirty="0">
              <a:latin typeface="Microsoft Sans Serif"/>
              <a:cs typeface="Microsoft Sans Serif"/>
            </a:endParaRPr>
          </a:p>
          <a:p>
            <a:pPr marL="673735" marR="5080" lvl="1" indent="-295910" algn="just">
              <a:lnSpc>
                <a:spcPts val="2600"/>
              </a:lnSpc>
              <a:spcBef>
                <a:spcPts val="585"/>
              </a:spcBef>
              <a:buClr>
                <a:srgbClr val="94B6D1"/>
              </a:buClr>
              <a:buSzPct val="68750"/>
              <a:buFont typeface="Cambria"/>
              <a:buChar char="□"/>
              <a:tabLst>
                <a:tab pos="674370" algn="l"/>
              </a:tabLst>
            </a:pPr>
            <a:r>
              <a:rPr lang="es-ES" sz="1800" spc="-190" dirty="0">
                <a:latin typeface="Microsoft Sans Serif"/>
                <a:cs typeface="Microsoft Sans Serif"/>
              </a:rPr>
              <a:t>Formatos </a:t>
            </a:r>
            <a:r>
              <a:rPr lang="es-ES" sz="1800" spc="-145" dirty="0">
                <a:latin typeface="Microsoft Sans Serif"/>
                <a:cs typeface="Microsoft Sans Serif"/>
              </a:rPr>
              <a:t>enriquecidos: </a:t>
            </a:r>
            <a:r>
              <a:rPr lang="es-ES" sz="1800" spc="-275" dirty="0">
                <a:latin typeface="Microsoft Sans Serif"/>
                <a:cs typeface="Microsoft Sans Serif"/>
              </a:rPr>
              <a:t>Son </a:t>
            </a:r>
            <a:r>
              <a:rPr lang="es-ES" sz="1800" spc="-130" dirty="0">
                <a:latin typeface="Microsoft Sans Serif"/>
                <a:cs typeface="Microsoft Sans Serif"/>
              </a:rPr>
              <a:t>textos </a:t>
            </a:r>
            <a:r>
              <a:rPr lang="es-ES" sz="1800" spc="-145" dirty="0">
                <a:latin typeface="Microsoft Sans Serif"/>
                <a:cs typeface="Microsoft Sans Serif"/>
              </a:rPr>
              <a:t>que </a:t>
            </a:r>
            <a:r>
              <a:rPr lang="es-ES" sz="1800" spc="-180" dirty="0">
                <a:latin typeface="Microsoft Sans Serif"/>
                <a:cs typeface="Microsoft Sans Serif"/>
              </a:rPr>
              <a:t>contienen </a:t>
            </a:r>
            <a:r>
              <a:rPr lang="es-ES" sz="1800" spc="-145" dirty="0">
                <a:latin typeface="Microsoft Sans Serif"/>
                <a:cs typeface="Microsoft Sans Serif"/>
              </a:rPr>
              <a:t>códigos </a:t>
            </a:r>
            <a:r>
              <a:rPr lang="es-ES" sz="1800" spc="-75" dirty="0">
                <a:latin typeface="Microsoft Sans Serif"/>
                <a:cs typeface="Microsoft Sans Serif"/>
              </a:rPr>
              <a:t>de </a:t>
            </a:r>
            <a:r>
              <a:rPr lang="es-ES" sz="1800" spc="-70" dirty="0">
                <a:latin typeface="Microsoft Sans Serif"/>
                <a:cs typeface="Microsoft Sans Serif"/>
              </a:rPr>
              <a:t> </a:t>
            </a:r>
            <a:r>
              <a:rPr lang="es-ES" sz="1800" spc="-135" dirty="0">
                <a:latin typeface="Microsoft Sans Serif"/>
                <a:cs typeface="Microsoft Sans Serif"/>
              </a:rPr>
              <a:t>control </a:t>
            </a:r>
            <a:r>
              <a:rPr lang="es-ES" sz="1800" spc="-15" dirty="0">
                <a:latin typeface="Microsoft Sans Serif"/>
                <a:cs typeface="Microsoft Sans Serif"/>
              </a:rPr>
              <a:t>para </a:t>
            </a:r>
            <a:r>
              <a:rPr lang="es-ES" sz="1800" spc="-80" dirty="0">
                <a:latin typeface="Microsoft Sans Serif"/>
                <a:cs typeface="Microsoft Sans Serif"/>
              </a:rPr>
              <a:t>ofrecer </a:t>
            </a:r>
            <a:r>
              <a:rPr lang="es-ES" sz="1800" spc="-195" dirty="0">
                <a:latin typeface="Microsoft Sans Serif"/>
                <a:cs typeface="Microsoft Sans Serif"/>
              </a:rPr>
              <a:t>una </a:t>
            </a:r>
            <a:r>
              <a:rPr lang="es-ES" sz="1800" spc="-175" dirty="0">
                <a:latin typeface="Microsoft Sans Serif"/>
                <a:cs typeface="Microsoft Sans Serif"/>
              </a:rPr>
              <a:t>visión </a:t>
            </a:r>
            <a:r>
              <a:rPr lang="es-ES" sz="1800" spc="-60" dirty="0">
                <a:latin typeface="Microsoft Sans Serif"/>
                <a:cs typeface="Microsoft Sans Serif"/>
              </a:rPr>
              <a:t>del </a:t>
            </a:r>
            <a:r>
              <a:rPr lang="es-ES" sz="1800" spc="-75" dirty="0">
                <a:latin typeface="Microsoft Sans Serif"/>
                <a:cs typeface="Microsoft Sans Serif"/>
              </a:rPr>
              <a:t>texto </a:t>
            </a:r>
            <a:r>
              <a:rPr lang="es-ES" sz="1800" spc="-275" dirty="0">
                <a:latin typeface="Microsoft Sans Serif"/>
                <a:cs typeface="Microsoft Sans Serif"/>
              </a:rPr>
              <a:t>más </a:t>
            </a:r>
            <a:r>
              <a:rPr lang="es-ES" sz="1800" spc="-105" dirty="0">
                <a:latin typeface="Microsoft Sans Serif"/>
                <a:cs typeface="Microsoft Sans Serif"/>
              </a:rPr>
              <a:t>elegante: </a:t>
            </a:r>
            <a:r>
              <a:rPr lang="es-ES" sz="1800" spc="-55" dirty="0">
                <a:latin typeface="Microsoft Sans Serif"/>
                <a:cs typeface="Microsoft Sans Serif"/>
              </a:rPr>
              <a:t>.</a:t>
            </a:r>
            <a:r>
              <a:rPr lang="es-ES" sz="1800" spc="-55" dirty="0" err="1">
                <a:latin typeface="Microsoft Sans Serif"/>
                <a:cs typeface="Microsoft Sans Serif"/>
              </a:rPr>
              <a:t>rtf</a:t>
            </a:r>
            <a:r>
              <a:rPr lang="es-ES" sz="1800" spc="-55" dirty="0">
                <a:latin typeface="Microsoft Sans Serif"/>
                <a:cs typeface="Microsoft Sans Serif"/>
              </a:rPr>
              <a:t>, </a:t>
            </a:r>
            <a:r>
              <a:rPr lang="es-ES" sz="1800" spc="-140" dirty="0">
                <a:latin typeface="Microsoft Sans Serif"/>
                <a:cs typeface="Microsoft Sans Serif"/>
              </a:rPr>
              <a:t>. </a:t>
            </a:r>
            <a:r>
              <a:rPr lang="es-ES" sz="1800" spc="-135" dirty="0">
                <a:latin typeface="Microsoft Sans Serif"/>
                <a:cs typeface="Microsoft Sans Serif"/>
              </a:rPr>
              <a:t> </a:t>
            </a:r>
            <a:r>
              <a:rPr lang="es-ES" sz="1800" spc="-220" dirty="0" err="1">
                <a:latin typeface="Microsoft Sans Serif"/>
                <a:cs typeface="Microsoft Sans Serif"/>
              </a:rPr>
              <a:t>p</a:t>
            </a:r>
            <a:r>
              <a:rPr lang="es-ES" sz="1800" spc="-195" dirty="0" err="1">
                <a:latin typeface="Microsoft Sans Serif"/>
                <a:cs typeface="Microsoft Sans Serif"/>
              </a:rPr>
              <a:t>s</a:t>
            </a:r>
            <a:r>
              <a:rPr lang="es-ES" sz="1800" spc="20" dirty="0">
                <a:latin typeface="Microsoft Sans Serif"/>
                <a:cs typeface="Microsoft Sans Serif"/>
              </a:rPr>
              <a:t> </a:t>
            </a:r>
            <a:r>
              <a:rPr lang="es-ES" sz="1800" spc="-140" dirty="0">
                <a:latin typeface="Microsoft Sans Serif"/>
                <a:cs typeface="Microsoft Sans Serif"/>
              </a:rPr>
              <a:t>,</a:t>
            </a:r>
            <a:r>
              <a:rPr lang="es-ES" sz="1800" spc="20" dirty="0">
                <a:latin typeface="Microsoft Sans Serif"/>
                <a:cs typeface="Microsoft Sans Serif"/>
              </a:rPr>
              <a:t> </a:t>
            </a:r>
            <a:r>
              <a:rPr lang="es-ES" sz="1800" spc="-140" dirty="0">
                <a:latin typeface="Microsoft Sans Serif"/>
                <a:cs typeface="Microsoft Sans Serif"/>
              </a:rPr>
              <a:t>.</a:t>
            </a:r>
            <a:r>
              <a:rPr lang="es-ES" sz="1800" spc="20" dirty="0">
                <a:latin typeface="Microsoft Sans Serif"/>
                <a:cs typeface="Microsoft Sans Serif"/>
              </a:rPr>
              <a:t> </a:t>
            </a:r>
            <a:r>
              <a:rPr lang="es-ES" sz="1800" spc="-55" dirty="0">
                <a:latin typeface="Microsoft Sans Serif"/>
                <a:cs typeface="Microsoft Sans Serif"/>
              </a:rPr>
              <a:t>t</a:t>
            </a:r>
            <a:r>
              <a:rPr lang="es-ES" sz="1800" spc="-175" dirty="0" smtClean="0">
                <a:latin typeface="Microsoft Sans Serif"/>
                <a:cs typeface="Microsoft Sans Serif"/>
              </a:rPr>
              <a:t>e</a:t>
            </a:r>
            <a:r>
              <a:rPr lang="es-ES" sz="1800" dirty="0" smtClean="0">
                <a:latin typeface="Microsoft Sans Serif"/>
                <a:cs typeface="Microsoft Sans Serif"/>
              </a:rPr>
              <a:t>x, .</a:t>
            </a:r>
            <a:r>
              <a:rPr lang="es-ES" sz="1800" dirty="0" err="1" smtClean="0">
                <a:latin typeface="Microsoft Sans Serif"/>
                <a:cs typeface="Microsoft Sans Serif"/>
              </a:rPr>
              <a:t>txt</a:t>
            </a:r>
            <a:r>
              <a:rPr lang="es-ES" sz="1800" dirty="0" smtClean="0">
                <a:latin typeface="Microsoft Sans Serif"/>
                <a:cs typeface="Microsoft Sans Serif"/>
              </a:rPr>
              <a:t>,…</a:t>
            </a:r>
            <a:endParaRPr lang="es-ES" sz="1800" dirty="0">
              <a:latin typeface="Microsoft Sans Serif"/>
              <a:cs typeface="Microsoft Sans Serif"/>
            </a:endParaRPr>
          </a:p>
          <a:p>
            <a:endParaRPr lang="es-ES" dirty="0"/>
          </a:p>
        </p:txBody>
      </p:sp>
      <p:sp>
        <p:nvSpPr>
          <p:cNvPr id="4" name="Rectángulo 3"/>
          <p:cNvSpPr/>
          <p:nvPr/>
        </p:nvSpPr>
        <p:spPr>
          <a:xfrm>
            <a:off x="7040880" y="869286"/>
            <a:ext cx="28956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b="0" i="0" dirty="0" err="1" smtClean="0">
                <a:solidFill>
                  <a:srgbClr val="202124"/>
                </a:solidFill>
                <a:effectLst/>
                <a:latin typeface="Google Sans"/>
              </a:rPr>
              <a:t>Caracter</a:t>
            </a:r>
            <a:r>
              <a:rPr lang="es-ES" b="0" i="0" dirty="0" smtClean="0">
                <a:solidFill>
                  <a:srgbClr val="202124"/>
                </a:solidFill>
                <a:effectLst/>
                <a:latin typeface="Google Sans"/>
              </a:rPr>
              <a:t> “A”: 0100 0001.</a:t>
            </a:r>
          </a:p>
        </p:txBody>
      </p:sp>
    </p:spTree>
    <p:extLst>
      <p:ext uri="{BB962C8B-B14F-4D97-AF65-F5344CB8AC3E}">
        <p14:creationId xmlns:p14="http://schemas.microsoft.com/office/powerpoint/2010/main" val="217828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pc="-415" dirty="0"/>
              <a:t>Fi</a:t>
            </a:r>
            <a:r>
              <a:rPr lang="es-ES" spc="-320" dirty="0"/>
              <a:t>c</a:t>
            </a:r>
            <a:r>
              <a:rPr lang="es-ES" spc="-305" dirty="0"/>
              <a:t>he</a:t>
            </a:r>
            <a:r>
              <a:rPr lang="es-ES" spc="-275" dirty="0"/>
              <a:t>r</a:t>
            </a:r>
            <a:r>
              <a:rPr lang="es-ES" spc="-495" dirty="0"/>
              <a:t>os</a:t>
            </a:r>
            <a:r>
              <a:rPr lang="es-ES" spc="40" dirty="0"/>
              <a:t> </a:t>
            </a:r>
            <a:r>
              <a:rPr lang="es-ES" spc="-210" dirty="0"/>
              <a:t>binarios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27771"/>
          </a:xfrm>
        </p:spPr>
        <p:txBody>
          <a:bodyPr>
            <a:normAutofit/>
          </a:bodyPr>
          <a:lstStyle/>
          <a:p>
            <a:pPr marL="355600" indent="-343535">
              <a:lnSpc>
                <a:spcPct val="100000"/>
              </a:lnSpc>
              <a:spcBef>
                <a:spcPts val="800"/>
              </a:spcBef>
              <a:buClr>
                <a:srgbClr val="DD8047"/>
              </a:buClr>
              <a:buSzPct val="58620"/>
              <a:buFont typeface="Cambria"/>
              <a:buChar char="◻"/>
              <a:tabLst>
                <a:tab pos="354965" algn="l"/>
                <a:tab pos="356235" algn="l"/>
              </a:tabLst>
            </a:pPr>
            <a:r>
              <a:rPr lang="es-ES" sz="2900" spc="-730" dirty="0">
                <a:latin typeface="Microsoft Sans Serif"/>
                <a:cs typeface="Microsoft Sans Serif"/>
              </a:rPr>
              <a:t>R</a:t>
            </a:r>
            <a:r>
              <a:rPr lang="es-ES" sz="2900" spc="-155" dirty="0">
                <a:latin typeface="Microsoft Sans Serif"/>
                <a:cs typeface="Microsoft Sans Serif"/>
              </a:rPr>
              <a:t>equieren</a:t>
            </a:r>
            <a:r>
              <a:rPr lang="es-ES" sz="2900" spc="25" dirty="0">
                <a:latin typeface="Microsoft Sans Serif"/>
                <a:cs typeface="Microsoft Sans Serif"/>
              </a:rPr>
              <a:t> </a:t>
            </a:r>
            <a:r>
              <a:rPr lang="es-ES" sz="2900" spc="-355" dirty="0">
                <a:latin typeface="Microsoft Sans Serif"/>
                <a:cs typeface="Microsoft Sans Serif"/>
              </a:rPr>
              <a:t>u</a:t>
            </a:r>
            <a:r>
              <a:rPr lang="es-ES" sz="2900" spc="-345" dirty="0">
                <a:latin typeface="Microsoft Sans Serif"/>
                <a:cs typeface="Microsoft Sans Serif"/>
              </a:rPr>
              <a:t>n</a:t>
            </a:r>
            <a:r>
              <a:rPr lang="es-ES" sz="2900" spc="20" dirty="0">
                <a:latin typeface="Microsoft Sans Serif"/>
                <a:cs typeface="Microsoft Sans Serif"/>
              </a:rPr>
              <a:t> </a:t>
            </a:r>
            <a:r>
              <a:rPr lang="es-ES" sz="2900" spc="100" dirty="0">
                <a:latin typeface="Microsoft Sans Serif"/>
                <a:cs typeface="Microsoft Sans Serif"/>
              </a:rPr>
              <a:t>f</a:t>
            </a:r>
            <a:r>
              <a:rPr lang="es-ES" sz="2900" spc="-105" dirty="0">
                <a:latin typeface="Microsoft Sans Serif"/>
                <a:cs typeface="Microsoft Sans Serif"/>
              </a:rPr>
              <a:t>o</a:t>
            </a:r>
            <a:r>
              <a:rPr lang="es-ES" sz="2900" spc="-10" dirty="0">
                <a:latin typeface="Microsoft Sans Serif"/>
                <a:cs typeface="Microsoft Sans Serif"/>
              </a:rPr>
              <a:t>r</a:t>
            </a:r>
            <a:r>
              <a:rPr lang="es-ES" sz="2900" spc="-180" dirty="0">
                <a:latin typeface="Microsoft Sans Serif"/>
                <a:cs typeface="Microsoft Sans Serif"/>
              </a:rPr>
              <a:t>mat</a:t>
            </a:r>
            <a:r>
              <a:rPr lang="es-ES" sz="2900" spc="-170" dirty="0">
                <a:latin typeface="Microsoft Sans Serif"/>
                <a:cs typeface="Microsoft Sans Serif"/>
              </a:rPr>
              <a:t>o</a:t>
            </a:r>
            <a:r>
              <a:rPr lang="es-ES" sz="2900" spc="20" dirty="0">
                <a:latin typeface="Microsoft Sans Serif"/>
                <a:cs typeface="Microsoft Sans Serif"/>
              </a:rPr>
              <a:t> </a:t>
            </a:r>
            <a:r>
              <a:rPr lang="es-ES" sz="2900" spc="-15" dirty="0">
                <a:latin typeface="Microsoft Sans Serif"/>
                <a:cs typeface="Microsoft Sans Serif"/>
              </a:rPr>
              <a:t>pa</a:t>
            </a:r>
            <a:r>
              <a:rPr lang="es-ES" sz="2900" spc="-40" dirty="0">
                <a:latin typeface="Microsoft Sans Serif"/>
                <a:cs typeface="Microsoft Sans Serif"/>
              </a:rPr>
              <a:t>r</a:t>
            </a:r>
            <a:r>
              <a:rPr lang="es-ES" sz="2900" spc="-15" dirty="0">
                <a:latin typeface="Microsoft Sans Serif"/>
                <a:cs typeface="Microsoft Sans Serif"/>
              </a:rPr>
              <a:t>a</a:t>
            </a:r>
            <a:r>
              <a:rPr lang="es-ES" sz="2900" spc="20" dirty="0">
                <a:latin typeface="Microsoft Sans Serif"/>
                <a:cs typeface="Microsoft Sans Serif"/>
              </a:rPr>
              <a:t> </a:t>
            </a:r>
            <a:r>
              <a:rPr lang="es-ES" sz="2900" spc="-220" dirty="0">
                <a:latin typeface="Microsoft Sans Serif"/>
                <a:cs typeface="Microsoft Sans Serif"/>
              </a:rPr>
              <a:t>ser</a:t>
            </a:r>
            <a:r>
              <a:rPr lang="es-ES" sz="2900" spc="25" dirty="0">
                <a:latin typeface="Microsoft Sans Serif"/>
                <a:cs typeface="Microsoft Sans Serif"/>
              </a:rPr>
              <a:t> </a:t>
            </a:r>
            <a:r>
              <a:rPr lang="es-ES" sz="2900" spc="-85" dirty="0">
                <a:latin typeface="Microsoft Sans Serif"/>
                <a:cs typeface="Microsoft Sans Serif"/>
              </a:rPr>
              <a:t>interpretad</a:t>
            </a:r>
            <a:r>
              <a:rPr lang="es-ES" sz="2900" spc="-160" dirty="0">
                <a:latin typeface="Microsoft Sans Serif"/>
                <a:cs typeface="Microsoft Sans Serif"/>
              </a:rPr>
              <a:t>o</a:t>
            </a:r>
            <a:r>
              <a:rPr lang="es-ES" sz="2900" spc="-170" dirty="0">
                <a:latin typeface="Microsoft Sans Serif"/>
                <a:cs typeface="Microsoft Sans Serif"/>
              </a:rPr>
              <a:t>.</a:t>
            </a:r>
            <a:endParaRPr lang="es-ES" sz="2900" dirty="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00"/>
              </a:spcBef>
              <a:buClr>
                <a:srgbClr val="DD8047"/>
              </a:buClr>
              <a:buSzPct val="58620"/>
              <a:buFont typeface="Cambria"/>
              <a:buChar char="◻"/>
              <a:tabLst>
                <a:tab pos="354965" algn="l"/>
                <a:tab pos="356235" algn="l"/>
              </a:tabLst>
            </a:pPr>
            <a:r>
              <a:rPr lang="es-ES" sz="2900" spc="-250" dirty="0">
                <a:latin typeface="Microsoft Sans Serif"/>
                <a:cs typeface="Microsoft Sans Serif"/>
              </a:rPr>
              <a:t>Ejemplos:</a:t>
            </a:r>
            <a:endParaRPr lang="es-ES" sz="2900" dirty="0">
              <a:latin typeface="Microsoft Sans Serif"/>
              <a:cs typeface="Microsoft Sans Serif"/>
            </a:endParaRPr>
          </a:p>
          <a:p>
            <a:pPr marL="675640" lvl="1" indent="-298450">
              <a:lnSpc>
                <a:spcPct val="100000"/>
              </a:lnSpc>
              <a:spcBef>
                <a:spcPts val="560"/>
              </a:spcBef>
              <a:buClr>
                <a:srgbClr val="94B6D1"/>
              </a:buClr>
              <a:buSzPct val="69230"/>
              <a:buFont typeface="Cambria"/>
              <a:buChar char="□"/>
              <a:tabLst>
                <a:tab pos="675005" algn="l"/>
                <a:tab pos="676275" algn="l"/>
              </a:tabLst>
            </a:pPr>
            <a:r>
              <a:rPr lang="es-ES" sz="2600" spc="-229" dirty="0">
                <a:latin typeface="Microsoft Sans Serif"/>
                <a:cs typeface="Microsoft Sans Serif"/>
              </a:rPr>
              <a:t>De</a:t>
            </a:r>
            <a:r>
              <a:rPr lang="es-ES" sz="2600" spc="20" dirty="0">
                <a:latin typeface="Microsoft Sans Serif"/>
                <a:cs typeface="Microsoft Sans Serif"/>
              </a:rPr>
              <a:t> </a:t>
            </a:r>
            <a:r>
              <a:rPr lang="es-ES" sz="2600" spc="-125" dirty="0">
                <a:latin typeface="Microsoft Sans Serif"/>
                <a:cs typeface="Microsoft Sans Serif"/>
              </a:rPr>
              <a:t>ima</a:t>
            </a:r>
            <a:r>
              <a:rPr lang="es-ES" sz="2600" spc="-180" dirty="0">
                <a:latin typeface="Microsoft Sans Serif"/>
                <a:cs typeface="Microsoft Sans Serif"/>
              </a:rPr>
              <a:t>g</a:t>
            </a:r>
            <a:r>
              <a:rPr lang="es-ES" sz="2600" spc="-204" dirty="0">
                <a:latin typeface="Microsoft Sans Serif"/>
                <a:cs typeface="Microsoft Sans Serif"/>
              </a:rPr>
              <a:t>en:</a:t>
            </a:r>
            <a:r>
              <a:rPr lang="es-ES" sz="2600" spc="20" dirty="0">
                <a:latin typeface="Microsoft Sans Serif"/>
                <a:cs typeface="Microsoft Sans Serif"/>
              </a:rPr>
              <a:t> </a:t>
            </a:r>
            <a:r>
              <a:rPr lang="es-ES" sz="2600" spc="-50" dirty="0">
                <a:latin typeface="Microsoft Sans Serif"/>
                <a:cs typeface="Microsoft Sans Serif"/>
              </a:rPr>
              <a:t>.</a:t>
            </a:r>
            <a:r>
              <a:rPr lang="es-ES" sz="2600" spc="-50" dirty="0" err="1">
                <a:latin typeface="Microsoft Sans Serif"/>
                <a:cs typeface="Microsoft Sans Serif"/>
              </a:rPr>
              <a:t>jp</a:t>
            </a:r>
            <a:r>
              <a:rPr lang="es-ES" sz="2600" spc="-125" dirty="0" err="1">
                <a:latin typeface="Microsoft Sans Serif"/>
                <a:cs typeface="Microsoft Sans Serif"/>
              </a:rPr>
              <a:t>g</a:t>
            </a:r>
            <a:r>
              <a:rPr lang="es-ES" sz="2600" spc="-155" dirty="0">
                <a:latin typeface="Microsoft Sans Serif"/>
                <a:cs typeface="Microsoft Sans Serif"/>
              </a:rPr>
              <a:t>,</a:t>
            </a:r>
            <a:r>
              <a:rPr lang="es-ES" sz="2600" spc="20" dirty="0">
                <a:latin typeface="Microsoft Sans Serif"/>
                <a:cs typeface="Microsoft Sans Serif"/>
              </a:rPr>
              <a:t> </a:t>
            </a:r>
            <a:r>
              <a:rPr lang="es-ES" sz="2600" spc="-70" dirty="0">
                <a:latin typeface="Microsoft Sans Serif"/>
                <a:cs typeface="Microsoft Sans Serif"/>
              </a:rPr>
              <a:t>.</a:t>
            </a:r>
            <a:r>
              <a:rPr lang="es-ES" sz="2600" spc="-70" dirty="0" err="1">
                <a:latin typeface="Microsoft Sans Serif"/>
                <a:cs typeface="Microsoft Sans Serif"/>
              </a:rPr>
              <a:t>gi</a:t>
            </a:r>
            <a:r>
              <a:rPr lang="es-ES" sz="2600" spc="-20" dirty="0" err="1">
                <a:latin typeface="Microsoft Sans Serif"/>
                <a:cs typeface="Microsoft Sans Serif"/>
              </a:rPr>
              <a:t>f</a:t>
            </a:r>
            <a:r>
              <a:rPr lang="es-ES" sz="2600" spc="-155" dirty="0">
                <a:latin typeface="Microsoft Sans Serif"/>
                <a:cs typeface="Microsoft Sans Serif"/>
              </a:rPr>
              <a:t>,</a:t>
            </a:r>
            <a:r>
              <a:rPr lang="es-ES" sz="2600" spc="20" dirty="0">
                <a:latin typeface="Microsoft Sans Serif"/>
                <a:cs typeface="Microsoft Sans Serif"/>
              </a:rPr>
              <a:t> </a:t>
            </a:r>
            <a:r>
              <a:rPr lang="es-ES" sz="2600" spc="-20" dirty="0">
                <a:latin typeface="Microsoft Sans Serif"/>
                <a:cs typeface="Microsoft Sans Serif"/>
              </a:rPr>
              <a:t>.</a:t>
            </a:r>
            <a:r>
              <a:rPr lang="es-ES" sz="2600" spc="-20" dirty="0" err="1">
                <a:latin typeface="Microsoft Sans Serif"/>
                <a:cs typeface="Microsoft Sans Serif"/>
              </a:rPr>
              <a:t>tiff</a:t>
            </a:r>
            <a:r>
              <a:rPr lang="es-ES" sz="2600" spc="-155" dirty="0">
                <a:latin typeface="Microsoft Sans Serif"/>
                <a:cs typeface="Microsoft Sans Serif"/>
              </a:rPr>
              <a:t>,</a:t>
            </a:r>
            <a:r>
              <a:rPr lang="es-ES" sz="2600" spc="20" dirty="0">
                <a:latin typeface="Microsoft Sans Serif"/>
                <a:cs typeface="Microsoft Sans Serif"/>
              </a:rPr>
              <a:t> </a:t>
            </a:r>
            <a:r>
              <a:rPr lang="es-ES" sz="2600" spc="-204" dirty="0">
                <a:latin typeface="Microsoft Sans Serif"/>
                <a:cs typeface="Microsoft Sans Serif"/>
              </a:rPr>
              <a:t>.</a:t>
            </a:r>
            <a:r>
              <a:rPr lang="es-ES" sz="2600" spc="-204" dirty="0" err="1">
                <a:latin typeface="Microsoft Sans Serif"/>
                <a:cs typeface="Microsoft Sans Serif"/>
              </a:rPr>
              <a:t>bm</a:t>
            </a:r>
            <a:r>
              <a:rPr lang="es-ES" sz="2600" spc="-120" dirty="0" err="1">
                <a:latin typeface="Microsoft Sans Serif"/>
                <a:cs typeface="Microsoft Sans Serif"/>
              </a:rPr>
              <a:t>p</a:t>
            </a:r>
            <a:r>
              <a:rPr lang="es-ES" sz="2600" spc="-155" dirty="0">
                <a:latin typeface="Microsoft Sans Serif"/>
                <a:cs typeface="Microsoft Sans Serif"/>
              </a:rPr>
              <a:t>,</a:t>
            </a:r>
            <a:r>
              <a:rPr lang="es-ES" sz="2600" spc="20" dirty="0">
                <a:latin typeface="Microsoft Sans Serif"/>
                <a:cs typeface="Microsoft Sans Serif"/>
              </a:rPr>
              <a:t> </a:t>
            </a:r>
            <a:r>
              <a:rPr lang="es-ES" sz="2600" spc="-250" dirty="0">
                <a:latin typeface="Microsoft Sans Serif"/>
                <a:cs typeface="Microsoft Sans Serif"/>
              </a:rPr>
              <a:t>.</a:t>
            </a:r>
            <a:r>
              <a:rPr lang="es-ES" sz="2600" spc="-250" dirty="0" err="1">
                <a:latin typeface="Microsoft Sans Serif"/>
                <a:cs typeface="Microsoft Sans Serif"/>
              </a:rPr>
              <a:t>wm</a:t>
            </a:r>
            <a:r>
              <a:rPr lang="es-ES" sz="2600" spc="-20" dirty="0" err="1">
                <a:latin typeface="Microsoft Sans Serif"/>
                <a:cs typeface="Microsoft Sans Serif"/>
              </a:rPr>
              <a:t>f</a:t>
            </a:r>
            <a:r>
              <a:rPr lang="es-ES" sz="2600" spc="-155" dirty="0">
                <a:latin typeface="Microsoft Sans Serif"/>
                <a:cs typeface="Microsoft Sans Serif"/>
              </a:rPr>
              <a:t>,</a:t>
            </a:r>
            <a:r>
              <a:rPr lang="es-ES" sz="2600" spc="20" dirty="0">
                <a:latin typeface="Microsoft Sans Serif"/>
                <a:cs typeface="Microsoft Sans Serif"/>
              </a:rPr>
              <a:t> </a:t>
            </a:r>
            <a:r>
              <a:rPr lang="es-ES" sz="2600" spc="-120" dirty="0">
                <a:latin typeface="Microsoft Sans Serif"/>
                <a:cs typeface="Microsoft Sans Serif"/>
              </a:rPr>
              <a:t>.</a:t>
            </a:r>
            <a:r>
              <a:rPr lang="es-ES" sz="2600" spc="-120" dirty="0" err="1">
                <a:latin typeface="Microsoft Sans Serif"/>
                <a:cs typeface="Microsoft Sans Serif"/>
              </a:rPr>
              <a:t>pn</a:t>
            </a:r>
            <a:r>
              <a:rPr lang="es-ES" sz="2600" spc="-195" dirty="0" err="1">
                <a:latin typeface="Microsoft Sans Serif"/>
                <a:cs typeface="Microsoft Sans Serif"/>
              </a:rPr>
              <a:t>g</a:t>
            </a:r>
            <a:r>
              <a:rPr lang="es-ES" sz="2600" spc="-155" dirty="0">
                <a:latin typeface="Microsoft Sans Serif"/>
                <a:cs typeface="Microsoft Sans Serif"/>
              </a:rPr>
              <a:t>,</a:t>
            </a:r>
            <a:r>
              <a:rPr lang="es-ES" sz="2600" spc="20" dirty="0">
                <a:latin typeface="Microsoft Sans Serif"/>
                <a:cs typeface="Microsoft Sans Serif"/>
              </a:rPr>
              <a:t> </a:t>
            </a:r>
            <a:r>
              <a:rPr lang="es-ES" sz="2600" spc="-125" dirty="0">
                <a:latin typeface="Microsoft Sans Serif"/>
                <a:cs typeface="Microsoft Sans Serif"/>
              </a:rPr>
              <a:t>.</a:t>
            </a:r>
            <a:r>
              <a:rPr lang="es-ES" sz="2600" spc="-125" dirty="0" err="1">
                <a:latin typeface="Microsoft Sans Serif"/>
                <a:cs typeface="Microsoft Sans Serif"/>
              </a:rPr>
              <a:t>pcx</a:t>
            </a:r>
            <a:endParaRPr lang="es-ES" sz="2600" dirty="0">
              <a:latin typeface="Microsoft Sans Serif"/>
              <a:cs typeface="Microsoft Sans Serif"/>
            </a:endParaRPr>
          </a:p>
          <a:p>
            <a:pPr marL="675640" lvl="1" indent="-298450">
              <a:lnSpc>
                <a:spcPct val="100000"/>
              </a:lnSpc>
              <a:spcBef>
                <a:spcPts val="550"/>
              </a:spcBef>
              <a:buClr>
                <a:srgbClr val="94B6D1"/>
              </a:buClr>
              <a:buSzPct val="69230"/>
              <a:buFont typeface="Cambria"/>
              <a:buChar char="□"/>
              <a:tabLst>
                <a:tab pos="675005" algn="l"/>
                <a:tab pos="676275" algn="l"/>
              </a:tabLst>
            </a:pPr>
            <a:r>
              <a:rPr lang="es-ES" sz="2600" spc="-229" dirty="0">
                <a:latin typeface="Microsoft Sans Serif"/>
                <a:cs typeface="Microsoft Sans Serif"/>
              </a:rPr>
              <a:t>De</a:t>
            </a:r>
            <a:r>
              <a:rPr lang="es-ES" sz="2600" spc="20" dirty="0">
                <a:latin typeface="Microsoft Sans Serif"/>
                <a:cs typeface="Microsoft Sans Serif"/>
              </a:rPr>
              <a:t> </a:t>
            </a:r>
            <a:r>
              <a:rPr lang="es-ES" sz="2600" spc="-125" dirty="0">
                <a:latin typeface="Microsoft Sans Serif"/>
                <a:cs typeface="Microsoft Sans Serif"/>
              </a:rPr>
              <a:t>vídeo</a:t>
            </a:r>
            <a:r>
              <a:rPr lang="es-ES" sz="2600" spc="-70" dirty="0">
                <a:latin typeface="Microsoft Sans Serif"/>
                <a:cs typeface="Microsoft Sans Serif"/>
              </a:rPr>
              <a:t>:</a:t>
            </a:r>
            <a:r>
              <a:rPr lang="es-ES" sz="2600" spc="15" dirty="0">
                <a:latin typeface="Microsoft Sans Serif"/>
                <a:cs typeface="Microsoft Sans Serif"/>
              </a:rPr>
              <a:t> </a:t>
            </a:r>
            <a:r>
              <a:rPr lang="es-ES" sz="2600" spc="-160" dirty="0">
                <a:latin typeface="Microsoft Sans Serif"/>
                <a:cs typeface="Microsoft Sans Serif"/>
              </a:rPr>
              <a:t>.</a:t>
            </a:r>
            <a:r>
              <a:rPr lang="es-ES" sz="2600" spc="-160" dirty="0" err="1">
                <a:latin typeface="Microsoft Sans Serif"/>
                <a:cs typeface="Microsoft Sans Serif"/>
              </a:rPr>
              <a:t>mp</a:t>
            </a:r>
            <a:r>
              <a:rPr lang="es-ES" sz="2600" spc="-210" dirty="0" err="1">
                <a:latin typeface="Microsoft Sans Serif"/>
                <a:cs typeface="Microsoft Sans Serif"/>
              </a:rPr>
              <a:t>g</a:t>
            </a:r>
            <a:r>
              <a:rPr lang="es-ES" sz="2600" spc="-155" dirty="0">
                <a:latin typeface="Microsoft Sans Serif"/>
                <a:cs typeface="Microsoft Sans Serif"/>
              </a:rPr>
              <a:t>,</a:t>
            </a:r>
            <a:r>
              <a:rPr lang="es-ES" sz="2600" spc="20" dirty="0">
                <a:latin typeface="Microsoft Sans Serif"/>
                <a:cs typeface="Microsoft Sans Serif"/>
              </a:rPr>
              <a:t> </a:t>
            </a:r>
            <a:r>
              <a:rPr lang="es-ES" sz="2600" spc="-250" dirty="0">
                <a:latin typeface="Microsoft Sans Serif"/>
                <a:cs typeface="Microsoft Sans Serif"/>
              </a:rPr>
              <a:t>.</a:t>
            </a:r>
            <a:r>
              <a:rPr lang="es-ES" sz="2600" spc="-250" dirty="0" err="1">
                <a:latin typeface="Microsoft Sans Serif"/>
                <a:cs typeface="Microsoft Sans Serif"/>
              </a:rPr>
              <a:t>mo</a:t>
            </a:r>
            <a:r>
              <a:rPr lang="es-ES" sz="2600" spc="-375" dirty="0" err="1">
                <a:latin typeface="Microsoft Sans Serif"/>
                <a:cs typeface="Microsoft Sans Serif"/>
              </a:rPr>
              <a:t>v</a:t>
            </a:r>
            <a:r>
              <a:rPr lang="es-ES" sz="2600" spc="-155" dirty="0">
                <a:latin typeface="Microsoft Sans Serif"/>
                <a:cs typeface="Microsoft Sans Serif"/>
              </a:rPr>
              <a:t>,</a:t>
            </a:r>
            <a:r>
              <a:rPr lang="es-ES" sz="2600" spc="20" dirty="0">
                <a:latin typeface="Microsoft Sans Serif"/>
                <a:cs typeface="Microsoft Sans Serif"/>
              </a:rPr>
              <a:t> </a:t>
            </a:r>
            <a:r>
              <a:rPr lang="es-ES" sz="2600" spc="-114" dirty="0">
                <a:latin typeface="Microsoft Sans Serif"/>
                <a:cs typeface="Microsoft Sans Serif"/>
              </a:rPr>
              <a:t>.</a:t>
            </a:r>
            <a:r>
              <a:rPr lang="es-ES" sz="2600" spc="-114" dirty="0" err="1">
                <a:latin typeface="Microsoft Sans Serif"/>
                <a:cs typeface="Microsoft Sans Serif"/>
              </a:rPr>
              <a:t>avi</a:t>
            </a:r>
            <a:r>
              <a:rPr lang="es-ES" sz="2600" spc="-80" dirty="0">
                <a:latin typeface="Microsoft Sans Serif"/>
                <a:cs typeface="Microsoft Sans Serif"/>
              </a:rPr>
              <a:t>,</a:t>
            </a:r>
            <a:r>
              <a:rPr lang="es-ES" sz="2600" spc="20" dirty="0">
                <a:latin typeface="Microsoft Sans Serif"/>
                <a:cs typeface="Microsoft Sans Serif"/>
              </a:rPr>
              <a:t> </a:t>
            </a:r>
            <a:r>
              <a:rPr lang="es-ES" sz="2600" spc="-70" dirty="0">
                <a:latin typeface="Microsoft Sans Serif"/>
                <a:cs typeface="Microsoft Sans Serif"/>
              </a:rPr>
              <a:t>.</a:t>
            </a:r>
            <a:r>
              <a:rPr lang="es-ES" sz="2600" spc="-70" dirty="0" err="1">
                <a:latin typeface="Microsoft Sans Serif"/>
                <a:cs typeface="Microsoft Sans Serif"/>
              </a:rPr>
              <a:t>qt</a:t>
            </a:r>
            <a:endParaRPr lang="es-ES" sz="2600" dirty="0">
              <a:latin typeface="Microsoft Sans Serif"/>
              <a:cs typeface="Microsoft Sans Serif"/>
            </a:endParaRPr>
          </a:p>
          <a:p>
            <a:pPr marL="675640" lvl="1" indent="-298450">
              <a:lnSpc>
                <a:spcPct val="100000"/>
              </a:lnSpc>
              <a:spcBef>
                <a:spcPts val="550"/>
              </a:spcBef>
              <a:buClr>
                <a:srgbClr val="94B6D1"/>
              </a:buClr>
              <a:buSzPct val="69230"/>
              <a:buFont typeface="Cambria"/>
              <a:buChar char="□"/>
              <a:tabLst>
                <a:tab pos="675005" algn="l"/>
                <a:tab pos="676275" algn="l"/>
              </a:tabLst>
            </a:pPr>
            <a:r>
              <a:rPr lang="es-ES" sz="2600" spc="-180" dirty="0">
                <a:latin typeface="Microsoft Sans Serif"/>
                <a:cs typeface="Microsoft Sans Serif"/>
              </a:rPr>
              <a:t>Comprimidos</a:t>
            </a:r>
            <a:r>
              <a:rPr lang="es-ES" sz="2600" spc="20" dirty="0">
                <a:latin typeface="Microsoft Sans Serif"/>
                <a:cs typeface="Microsoft Sans Serif"/>
              </a:rPr>
              <a:t> </a:t>
            </a:r>
            <a:r>
              <a:rPr lang="es-ES" sz="2600" spc="-150" dirty="0">
                <a:latin typeface="Microsoft Sans Serif"/>
                <a:cs typeface="Microsoft Sans Serif"/>
              </a:rPr>
              <a:t>o</a:t>
            </a:r>
            <a:r>
              <a:rPr lang="es-ES" sz="2600" spc="25" dirty="0">
                <a:latin typeface="Microsoft Sans Serif"/>
                <a:cs typeface="Microsoft Sans Serif"/>
              </a:rPr>
              <a:t> </a:t>
            </a:r>
            <a:r>
              <a:rPr lang="es-ES" sz="2600" spc="-145" dirty="0">
                <a:latin typeface="Microsoft Sans Serif"/>
                <a:cs typeface="Microsoft Sans Serif"/>
              </a:rPr>
              <a:t>empaquetados:</a:t>
            </a:r>
            <a:r>
              <a:rPr lang="es-ES" sz="2600" spc="25" dirty="0">
                <a:latin typeface="Microsoft Sans Serif"/>
                <a:cs typeface="Microsoft Sans Serif"/>
              </a:rPr>
              <a:t> </a:t>
            </a:r>
            <a:r>
              <a:rPr lang="es-ES" sz="2600" spc="-125" dirty="0">
                <a:latin typeface="Microsoft Sans Serif"/>
                <a:cs typeface="Microsoft Sans Serif"/>
              </a:rPr>
              <a:t>.</a:t>
            </a:r>
            <a:r>
              <a:rPr lang="es-ES" sz="2600" spc="-125" dirty="0" err="1">
                <a:latin typeface="Microsoft Sans Serif"/>
                <a:cs typeface="Microsoft Sans Serif"/>
              </a:rPr>
              <a:t>zip</a:t>
            </a:r>
            <a:r>
              <a:rPr lang="es-ES" sz="2600" spc="-125" dirty="0">
                <a:latin typeface="Microsoft Sans Serif"/>
                <a:cs typeface="Microsoft Sans Serif"/>
              </a:rPr>
              <a:t>,</a:t>
            </a:r>
            <a:r>
              <a:rPr lang="es-ES" sz="2600" spc="20" dirty="0">
                <a:latin typeface="Microsoft Sans Serif"/>
                <a:cs typeface="Microsoft Sans Serif"/>
              </a:rPr>
              <a:t> </a:t>
            </a:r>
            <a:r>
              <a:rPr lang="es-ES" sz="2600" spc="-204" dirty="0">
                <a:latin typeface="Microsoft Sans Serif"/>
                <a:cs typeface="Microsoft Sans Serif"/>
              </a:rPr>
              <a:t>.Z,</a:t>
            </a:r>
            <a:r>
              <a:rPr lang="es-ES" sz="2600" spc="25" dirty="0">
                <a:latin typeface="Microsoft Sans Serif"/>
                <a:cs typeface="Microsoft Sans Serif"/>
              </a:rPr>
              <a:t> </a:t>
            </a:r>
            <a:r>
              <a:rPr lang="es-ES" sz="2600" spc="-125" dirty="0">
                <a:latin typeface="Microsoft Sans Serif"/>
                <a:cs typeface="Microsoft Sans Serif"/>
              </a:rPr>
              <a:t>.</a:t>
            </a:r>
            <a:r>
              <a:rPr lang="es-ES" sz="2600" spc="-125" dirty="0" err="1">
                <a:latin typeface="Microsoft Sans Serif"/>
                <a:cs typeface="Microsoft Sans Serif"/>
              </a:rPr>
              <a:t>gz</a:t>
            </a:r>
            <a:r>
              <a:rPr lang="es-ES" sz="2600" spc="-125" dirty="0">
                <a:latin typeface="Microsoft Sans Serif"/>
                <a:cs typeface="Microsoft Sans Serif"/>
              </a:rPr>
              <a:t>,</a:t>
            </a:r>
            <a:r>
              <a:rPr lang="es-ES" sz="2600" spc="25" dirty="0">
                <a:latin typeface="Microsoft Sans Serif"/>
                <a:cs typeface="Microsoft Sans Serif"/>
              </a:rPr>
              <a:t> </a:t>
            </a:r>
            <a:r>
              <a:rPr lang="es-ES" sz="2600" spc="-110" dirty="0">
                <a:latin typeface="Microsoft Sans Serif"/>
                <a:cs typeface="Microsoft Sans Serif"/>
              </a:rPr>
              <a:t>.</a:t>
            </a:r>
            <a:r>
              <a:rPr lang="es-ES" sz="2600" spc="-110" dirty="0" err="1">
                <a:latin typeface="Microsoft Sans Serif"/>
                <a:cs typeface="Microsoft Sans Serif"/>
              </a:rPr>
              <a:t>tar</a:t>
            </a:r>
            <a:r>
              <a:rPr lang="es-ES" sz="2600" spc="-110" dirty="0">
                <a:latin typeface="Microsoft Sans Serif"/>
                <a:cs typeface="Microsoft Sans Serif"/>
              </a:rPr>
              <a:t>,</a:t>
            </a:r>
            <a:r>
              <a:rPr lang="es-ES" sz="2600" spc="25" dirty="0">
                <a:latin typeface="Microsoft Sans Serif"/>
                <a:cs typeface="Microsoft Sans Serif"/>
              </a:rPr>
              <a:t> </a:t>
            </a:r>
            <a:r>
              <a:rPr lang="es-ES" sz="2600" spc="-170" dirty="0">
                <a:latin typeface="Microsoft Sans Serif"/>
                <a:cs typeface="Microsoft Sans Serif"/>
              </a:rPr>
              <a:t>.</a:t>
            </a:r>
            <a:r>
              <a:rPr lang="es-ES" sz="2600" spc="-170" dirty="0" err="1">
                <a:latin typeface="Microsoft Sans Serif"/>
                <a:cs typeface="Microsoft Sans Serif"/>
              </a:rPr>
              <a:t>lhz</a:t>
            </a:r>
            <a:endParaRPr lang="es-ES" sz="2600" dirty="0">
              <a:latin typeface="Microsoft Sans Serif"/>
              <a:cs typeface="Microsoft Sans Serif"/>
            </a:endParaRPr>
          </a:p>
          <a:p>
            <a:pPr marL="675640" lvl="1" indent="-298450">
              <a:lnSpc>
                <a:spcPct val="100000"/>
              </a:lnSpc>
              <a:spcBef>
                <a:spcPts val="550"/>
              </a:spcBef>
              <a:buClr>
                <a:srgbClr val="94B6D1"/>
              </a:buClr>
              <a:buSzPct val="69230"/>
              <a:buFont typeface="Cambria"/>
              <a:buChar char="□"/>
              <a:tabLst>
                <a:tab pos="675005" algn="l"/>
                <a:tab pos="676275" algn="l"/>
              </a:tabLst>
            </a:pPr>
            <a:r>
              <a:rPr lang="es-ES" sz="2600" spc="-195" dirty="0">
                <a:latin typeface="Microsoft Sans Serif"/>
                <a:cs typeface="Microsoft Sans Serif"/>
              </a:rPr>
              <a:t>Ejecutables</a:t>
            </a:r>
            <a:r>
              <a:rPr lang="es-ES" sz="2600" spc="15" dirty="0">
                <a:latin typeface="Microsoft Sans Serif"/>
                <a:cs typeface="Microsoft Sans Serif"/>
              </a:rPr>
              <a:t> </a:t>
            </a:r>
            <a:r>
              <a:rPr lang="es-ES" sz="2600" spc="-150" dirty="0">
                <a:latin typeface="Microsoft Sans Serif"/>
                <a:cs typeface="Microsoft Sans Serif"/>
              </a:rPr>
              <a:t>o</a:t>
            </a:r>
            <a:r>
              <a:rPr lang="es-ES" sz="2600" spc="20" dirty="0">
                <a:latin typeface="Microsoft Sans Serif"/>
                <a:cs typeface="Microsoft Sans Serif"/>
              </a:rPr>
              <a:t> </a:t>
            </a:r>
            <a:r>
              <a:rPr lang="es-ES" sz="2600" spc="-160" dirty="0">
                <a:latin typeface="Microsoft Sans Serif"/>
                <a:cs typeface="Microsoft Sans Serif"/>
              </a:rPr>
              <a:t>compilados:</a:t>
            </a:r>
            <a:r>
              <a:rPr lang="es-ES" sz="2600" spc="20" dirty="0">
                <a:latin typeface="Microsoft Sans Serif"/>
                <a:cs typeface="Microsoft Sans Serif"/>
              </a:rPr>
              <a:t> </a:t>
            </a:r>
            <a:r>
              <a:rPr lang="es-ES" sz="2600" spc="-170" dirty="0">
                <a:latin typeface="Microsoft Sans Serif"/>
                <a:cs typeface="Microsoft Sans Serif"/>
              </a:rPr>
              <a:t>.</a:t>
            </a:r>
            <a:r>
              <a:rPr lang="es-ES" sz="2600" spc="-170" dirty="0" err="1">
                <a:latin typeface="Microsoft Sans Serif"/>
                <a:cs typeface="Microsoft Sans Serif"/>
              </a:rPr>
              <a:t>exe</a:t>
            </a:r>
            <a:r>
              <a:rPr lang="es-ES" sz="2600" spc="-170" dirty="0">
                <a:latin typeface="Microsoft Sans Serif"/>
                <a:cs typeface="Microsoft Sans Serif"/>
              </a:rPr>
              <a:t>,</a:t>
            </a:r>
            <a:r>
              <a:rPr lang="es-ES" sz="2600" spc="20" dirty="0">
                <a:latin typeface="Microsoft Sans Serif"/>
                <a:cs typeface="Microsoft Sans Serif"/>
              </a:rPr>
              <a:t> </a:t>
            </a:r>
            <a:r>
              <a:rPr lang="es-ES" sz="2600" spc="-245" dirty="0">
                <a:latin typeface="Microsoft Sans Serif"/>
                <a:cs typeface="Microsoft Sans Serif"/>
              </a:rPr>
              <a:t>.</a:t>
            </a:r>
            <a:r>
              <a:rPr lang="es-ES" sz="2600" spc="-245" dirty="0" err="1">
                <a:latin typeface="Microsoft Sans Serif"/>
                <a:cs typeface="Microsoft Sans Serif"/>
              </a:rPr>
              <a:t>com</a:t>
            </a:r>
            <a:r>
              <a:rPr lang="es-ES" sz="2600" spc="-245" dirty="0">
                <a:latin typeface="Microsoft Sans Serif"/>
                <a:cs typeface="Microsoft Sans Serif"/>
              </a:rPr>
              <a:t>,</a:t>
            </a:r>
            <a:r>
              <a:rPr lang="es-ES" sz="2600" spc="20" dirty="0">
                <a:latin typeface="Microsoft Sans Serif"/>
                <a:cs typeface="Microsoft Sans Serif"/>
              </a:rPr>
              <a:t> </a:t>
            </a:r>
            <a:r>
              <a:rPr lang="es-ES" sz="2600" spc="-135" dirty="0">
                <a:latin typeface="Microsoft Sans Serif"/>
                <a:cs typeface="Microsoft Sans Serif"/>
              </a:rPr>
              <a:t>.</a:t>
            </a:r>
            <a:r>
              <a:rPr lang="es-ES" sz="2600" spc="-135" dirty="0" err="1">
                <a:latin typeface="Microsoft Sans Serif"/>
                <a:cs typeface="Microsoft Sans Serif"/>
              </a:rPr>
              <a:t>cgi</a:t>
            </a:r>
            <a:r>
              <a:rPr lang="es-ES" sz="2600" spc="-135" dirty="0">
                <a:latin typeface="Microsoft Sans Serif"/>
                <a:cs typeface="Microsoft Sans Serif"/>
              </a:rPr>
              <a:t>,</a:t>
            </a:r>
            <a:r>
              <a:rPr lang="es-ES" sz="2600" spc="140" dirty="0">
                <a:latin typeface="Microsoft Sans Serif"/>
                <a:cs typeface="Microsoft Sans Serif"/>
              </a:rPr>
              <a:t> </a:t>
            </a:r>
            <a:r>
              <a:rPr lang="es-ES" sz="2600" i="1" spc="-65" dirty="0">
                <a:latin typeface="Arial"/>
                <a:cs typeface="Arial"/>
              </a:rPr>
              <a:t>.0,</a:t>
            </a:r>
            <a:r>
              <a:rPr lang="es-ES" sz="2600" i="1" spc="-10" dirty="0">
                <a:latin typeface="Arial"/>
                <a:cs typeface="Arial"/>
              </a:rPr>
              <a:t> </a:t>
            </a:r>
            <a:r>
              <a:rPr lang="es-ES" sz="2600" i="1" spc="-155" dirty="0">
                <a:latin typeface="Arial"/>
                <a:cs typeface="Arial"/>
              </a:rPr>
              <a:t>.a</a:t>
            </a:r>
            <a:endParaRPr lang="es-ES" sz="2600" dirty="0">
              <a:latin typeface="Arial"/>
              <a:cs typeface="Arial"/>
            </a:endParaRPr>
          </a:p>
          <a:p>
            <a:pPr marL="675640" lvl="1" indent="-298450">
              <a:lnSpc>
                <a:spcPct val="100000"/>
              </a:lnSpc>
              <a:spcBef>
                <a:spcPts val="550"/>
              </a:spcBef>
              <a:buClr>
                <a:srgbClr val="94B6D1"/>
              </a:buClr>
              <a:buSzPct val="69230"/>
              <a:buFont typeface="Cambria"/>
              <a:buChar char="□"/>
              <a:tabLst>
                <a:tab pos="675005" algn="l"/>
                <a:tab pos="676275" algn="l"/>
              </a:tabLst>
            </a:pPr>
            <a:r>
              <a:rPr lang="es-ES" sz="2600" spc="-290" dirty="0">
                <a:latin typeface="Microsoft Sans Serif"/>
                <a:cs typeface="Microsoft Sans Serif"/>
              </a:rPr>
              <a:t>P</a:t>
            </a:r>
            <a:r>
              <a:rPr lang="es-ES" sz="2600" spc="-200" dirty="0">
                <a:latin typeface="Microsoft Sans Serif"/>
                <a:cs typeface="Microsoft Sans Serif"/>
              </a:rPr>
              <a:t>r</a:t>
            </a:r>
            <a:r>
              <a:rPr lang="es-ES" sz="2600" spc="-180" dirty="0">
                <a:latin typeface="Microsoft Sans Serif"/>
                <a:cs typeface="Microsoft Sans Serif"/>
              </a:rPr>
              <a:t>ocesadores</a:t>
            </a:r>
            <a:r>
              <a:rPr lang="es-ES" sz="2600" spc="20" dirty="0">
                <a:latin typeface="Microsoft Sans Serif"/>
                <a:cs typeface="Microsoft Sans Serif"/>
              </a:rPr>
              <a:t> </a:t>
            </a:r>
            <a:r>
              <a:rPr lang="es-ES" sz="2600" spc="-85" dirty="0">
                <a:latin typeface="Microsoft Sans Serif"/>
                <a:cs typeface="Microsoft Sans Serif"/>
              </a:rPr>
              <a:t>d</a:t>
            </a:r>
            <a:r>
              <a:rPr lang="es-ES" sz="2600" spc="-80" dirty="0">
                <a:latin typeface="Microsoft Sans Serif"/>
                <a:cs typeface="Microsoft Sans Serif"/>
              </a:rPr>
              <a:t>e</a:t>
            </a:r>
            <a:r>
              <a:rPr lang="es-ES" sz="2600" spc="20" dirty="0">
                <a:latin typeface="Microsoft Sans Serif"/>
                <a:cs typeface="Microsoft Sans Serif"/>
              </a:rPr>
              <a:t> </a:t>
            </a:r>
            <a:r>
              <a:rPr lang="es-ES" sz="2600" spc="-60" dirty="0">
                <a:latin typeface="Microsoft Sans Serif"/>
                <a:cs typeface="Microsoft Sans Serif"/>
              </a:rPr>
              <a:t>t</a:t>
            </a:r>
            <a:r>
              <a:rPr lang="es-ES" sz="2600" spc="-190" dirty="0">
                <a:latin typeface="Microsoft Sans Serif"/>
                <a:cs typeface="Microsoft Sans Serif"/>
              </a:rPr>
              <a:t>e</a:t>
            </a:r>
            <a:r>
              <a:rPr lang="es-ES" sz="2600" spc="-155" dirty="0">
                <a:latin typeface="Microsoft Sans Serif"/>
                <a:cs typeface="Microsoft Sans Serif"/>
              </a:rPr>
              <a:t>xtos:</a:t>
            </a:r>
            <a:r>
              <a:rPr lang="es-ES" sz="2600" spc="20" dirty="0">
                <a:latin typeface="Microsoft Sans Serif"/>
                <a:cs typeface="Microsoft Sans Serif"/>
              </a:rPr>
              <a:t> </a:t>
            </a:r>
            <a:r>
              <a:rPr lang="es-ES" sz="2600" spc="-145" dirty="0">
                <a:latin typeface="Microsoft Sans Serif"/>
                <a:cs typeface="Microsoft Sans Serif"/>
              </a:rPr>
              <a:t>.</a:t>
            </a:r>
            <a:r>
              <a:rPr lang="es-ES" sz="2600" spc="-145" dirty="0" err="1">
                <a:latin typeface="Microsoft Sans Serif"/>
                <a:cs typeface="Microsoft Sans Serif"/>
              </a:rPr>
              <a:t>docx</a:t>
            </a:r>
            <a:r>
              <a:rPr lang="es-ES" sz="2600" spc="-80" dirty="0">
                <a:latin typeface="Microsoft Sans Serif"/>
                <a:cs typeface="Microsoft Sans Serif"/>
              </a:rPr>
              <a:t>,</a:t>
            </a:r>
            <a:r>
              <a:rPr lang="es-ES" sz="2600" spc="20" dirty="0">
                <a:latin typeface="Microsoft Sans Serif"/>
                <a:cs typeface="Microsoft Sans Serif"/>
              </a:rPr>
              <a:t> </a:t>
            </a:r>
            <a:r>
              <a:rPr lang="es-ES" sz="2600" spc="-90" dirty="0">
                <a:latin typeface="Microsoft Sans Serif"/>
                <a:cs typeface="Microsoft Sans Serif"/>
              </a:rPr>
              <a:t>.</a:t>
            </a:r>
            <a:r>
              <a:rPr lang="es-ES" sz="2600" spc="-90" dirty="0" err="1">
                <a:latin typeface="Microsoft Sans Serif"/>
                <a:cs typeface="Microsoft Sans Serif"/>
              </a:rPr>
              <a:t>odt</a:t>
            </a:r>
            <a:endParaRPr lang="es-ES" sz="2600" dirty="0">
              <a:latin typeface="Microsoft Sans Serif"/>
              <a:cs typeface="Microsoft Sans Serif"/>
            </a:endParaRPr>
          </a:p>
          <a:p>
            <a:endParaRPr lang="es-ES" dirty="0"/>
          </a:p>
        </p:txBody>
      </p:sp>
      <p:sp>
        <p:nvSpPr>
          <p:cNvPr id="5" name="Rectángulo 4"/>
          <p:cNvSpPr/>
          <p:nvPr/>
        </p:nvSpPr>
        <p:spPr>
          <a:xfrm>
            <a:off x="5769032" y="5353396"/>
            <a:ext cx="6176357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690"/>
              </a:spcBef>
              <a:buClr>
                <a:srgbClr val="DD8047"/>
              </a:buClr>
              <a:buSzPct val="58620"/>
              <a:tabLst>
                <a:tab pos="354965" algn="l"/>
                <a:tab pos="356235" algn="l"/>
              </a:tabLst>
            </a:pPr>
            <a:r>
              <a:rPr lang="es-ES" sz="3200" spc="-160" dirty="0">
                <a:latin typeface="Microsoft Sans Serif"/>
                <a:cs typeface="Microsoft Sans Serif"/>
              </a:rPr>
              <a:t>Gene</a:t>
            </a:r>
            <a:r>
              <a:rPr lang="es-ES" sz="3200" spc="-114" dirty="0">
                <a:latin typeface="Microsoft Sans Serif"/>
                <a:cs typeface="Microsoft Sans Serif"/>
              </a:rPr>
              <a:t>r</a:t>
            </a:r>
            <a:r>
              <a:rPr lang="es-ES" sz="3200" spc="-175" dirty="0">
                <a:latin typeface="Microsoft Sans Serif"/>
                <a:cs typeface="Microsoft Sans Serif"/>
              </a:rPr>
              <a:t>alment</a:t>
            </a:r>
            <a:r>
              <a:rPr lang="es-ES" sz="3200" spc="-190" dirty="0">
                <a:latin typeface="Microsoft Sans Serif"/>
                <a:cs typeface="Microsoft Sans Serif"/>
              </a:rPr>
              <a:t>e</a:t>
            </a:r>
            <a:r>
              <a:rPr lang="es-ES" sz="3200" spc="20" dirty="0">
                <a:latin typeface="Microsoft Sans Serif"/>
                <a:cs typeface="Microsoft Sans Serif"/>
              </a:rPr>
              <a:t> </a:t>
            </a:r>
            <a:r>
              <a:rPr lang="es-ES" sz="3200" spc="-215" dirty="0">
                <a:latin typeface="Microsoft Sans Serif"/>
                <a:cs typeface="Microsoft Sans Serif"/>
              </a:rPr>
              <a:t>lo</a:t>
            </a:r>
            <a:r>
              <a:rPr lang="es-ES" sz="3200" spc="-265" dirty="0">
                <a:latin typeface="Microsoft Sans Serif"/>
                <a:cs typeface="Microsoft Sans Serif"/>
              </a:rPr>
              <a:t>s</a:t>
            </a:r>
            <a:r>
              <a:rPr lang="es-ES" sz="3200" spc="25" dirty="0">
                <a:latin typeface="Microsoft Sans Serif"/>
                <a:cs typeface="Microsoft Sans Serif"/>
              </a:rPr>
              <a:t> </a:t>
            </a:r>
            <a:r>
              <a:rPr lang="es-ES" sz="3200" spc="-55" dirty="0">
                <a:latin typeface="Microsoft Sans Serif"/>
                <a:cs typeface="Microsoft Sans Serif"/>
              </a:rPr>
              <a:t>fi</a:t>
            </a:r>
            <a:r>
              <a:rPr lang="es-ES" sz="3200" spc="15" dirty="0">
                <a:latin typeface="Microsoft Sans Serif"/>
                <a:cs typeface="Microsoft Sans Serif"/>
              </a:rPr>
              <a:t>c</a:t>
            </a:r>
            <a:r>
              <a:rPr lang="es-ES" sz="3200" spc="-200" dirty="0">
                <a:latin typeface="Microsoft Sans Serif"/>
                <a:cs typeface="Microsoft Sans Serif"/>
              </a:rPr>
              <a:t>he</a:t>
            </a:r>
            <a:r>
              <a:rPr lang="es-ES" sz="3200" spc="-185" dirty="0">
                <a:latin typeface="Microsoft Sans Serif"/>
                <a:cs typeface="Microsoft Sans Serif"/>
              </a:rPr>
              <a:t>r</a:t>
            </a:r>
            <a:r>
              <a:rPr lang="es-ES" sz="3200" spc="-325" dirty="0">
                <a:latin typeface="Microsoft Sans Serif"/>
                <a:cs typeface="Microsoft Sans Serif"/>
              </a:rPr>
              <a:t>os</a:t>
            </a:r>
            <a:r>
              <a:rPr lang="es-ES" sz="3200" spc="25" dirty="0">
                <a:latin typeface="Microsoft Sans Serif"/>
                <a:cs typeface="Microsoft Sans Serif"/>
              </a:rPr>
              <a:t> </a:t>
            </a:r>
            <a:r>
              <a:rPr lang="es-ES" sz="3200" spc="-95" dirty="0">
                <a:latin typeface="Microsoft Sans Serif"/>
                <a:cs typeface="Microsoft Sans Serif"/>
              </a:rPr>
              <a:t>d</a:t>
            </a:r>
            <a:r>
              <a:rPr lang="es-ES" sz="3200" spc="-90" dirty="0">
                <a:latin typeface="Microsoft Sans Serif"/>
                <a:cs typeface="Microsoft Sans Serif"/>
              </a:rPr>
              <a:t>e</a:t>
            </a:r>
            <a:r>
              <a:rPr lang="es-ES" sz="3200" spc="20" dirty="0">
                <a:latin typeface="Microsoft Sans Serif"/>
                <a:cs typeface="Microsoft Sans Serif"/>
              </a:rPr>
              <a:t> </a:t>
            </a:r>
            <a:r>
              <a:rPr lang="es-ES" sz="3200" spc="-245" dirty="0">
                <a:latin typeface="Microsoft Sans Serif"/>
                <a:cs typeface="Microsoft Sans Serif"/>
              </a:rPr>
              <a:t>un</a:t>
            </a:r>
            <a:r>
              <a:rPr lang="es-ES" sz="3200" spc="-235" dirty="0">
                <a:latin typeface="Microsoft Sans Serif"/>
                <a:cs typeface="Microsoft Sans Serif"/>
              </a:rPr>
              <a:t>a</a:t>
            </a:r>
            <a:r>
              <a:rPr lang="es-ES" sz="3200" spc="20" dirty="0">
                <a:latin typeface="Microsoft Sans Serif"/>
                <a:cs typeface="Microsoft Sans Serif"/>
              </a:rPr>
              <a:t> </a:t>
            </a:r>
            <a:r>
              <a:rPr lang="es-ES" sz="3200" spc="-175" dirty="0">
                <a:latin typeface="Microsoft Sans Serif"/>
                <a:cs typeface="Microsoft Sans Serif"/>
              </a:rPr>
              <a:t>base</a:t>
            </a:r>
            <a:r>
              <a:rPr lang="es-ES" sz="3200" spc="20" dirty="0">
                <a:latin typeface="Microsoft Sans Serif"/>
                <a:cs typeface="Microsoft Sans Serif"/>
              </a:rPr>
              <a:t> </a:t>
            </a:r>
            <a:r>
              <a:rPr lang="es-ES" sz="3200" spc="-95" dirty="0">
                <a:latin typeface="Microsoft Sans Serif"/>
                <a:cs typeface="Microsoft Sans Serif"/>
              </a:rPr>
              <a:t>d</a:t>
            </a:r>
            <a:r>
              <a:rPr lang="es-ES" sz="3200" spc="-90" dirty="0">
                <a:latin typeface="Microsoft Sans Serif"/>
                <a:cs typeface="Microsoft Sans Serif"/>
              </a:rPr>
              <a:t>e</a:t>
            </a:r>
            <a:r>
              <a:rPr lang="es-ES" sz="3200" spc="20" dirty="0">
                <a:latin typeface="Microsoft Sans Serif"/>
                <a:cs typeface="Microsoft Sans Serif"/>
              </a:rPr>
              <a:t> </a:t>
            </a:r>
            <a:r>
              <a:rPr lang="es-ES" sz="3200" spc="-130" dirty="0">
                <a:latin typeface="Microsoft Sans Serif"/>
                <a:cs typeface="Microsoft Sans Serif"/>
              </a:rPr>
              <a:t>datos  </a:t>
            </a:r>
            <a:r>
              <a:rPr lang="es-ES" sz="3200" spc="-330" dirty="0">
                <a:latin typeface="Microsoft Sans Serif"/>
                <a:cs typeface="Microsoft Sans Serif"/>
              </a:rPr>
              <a:t>son</a:t>
            </a:r>
            <a:r>
              <a:rPr lang="es-ES" sz="3200" spc="25" dirty="0">
                <a:latin typeface="Microsoft Sans Serif"/>
                <a:cs typeface="Microsoft Sans Serif"/>
              </a:rPr>
              <a:t> </a:t>
            </a:r>
            <a:r>
              <a:rPr lang="es-ES" sz="3200" spc="-95" dirty="0">
                <a:latin typeface="Microsoft Sans Serif"/>
                <a:cs typeface="Microsoft Sans Serif"/>
              </a:rPr>
              <a:t>d</a:t>
            </a:r>
            <a:r>
              <a:rPr lang="es-ES" sz="3200" spc="-90" dirty="0">
                <a:latin typeface="Microsoft Sans Serif"/>
                <a:cs typeface="Microsoft Sans Serif"/>
              </a:rPr>
              <a:t>e</a:t>
            </a:r>
            <a:r>
              <a:rPr lang="es-ES" sz="3200" spc="20" dirty="0">
                <a:latin typeface="Microsoft Sans Serif"/>
                <a:cs typeface="Microsoft Sans Serif"/>
              </a:rPr>
              <a:t> </a:t>
            </a:r>
            <a:r>
              <a:rPr lang="es-ES" sz="3200" spc="-60" dirty="0">
                <a:latin typeface="Microsoft Sans Serif"/>
                <a:cs typeface="Microsoft Sans Serif"/>
              </a:rPr>
              <a:t>tip</a:t>
            </a:r>
            <a:r>
              <a:rPr lang="es-ES" sz="3200" spc="-80" dirty="0">
                <a:latin typeface="Microsoft Sans Serif"/>
                <a:cs typeface="Microsoft Sans Serif"/>
              </a:rPr>
              <a:t>o</a:t>
            </a:r>
            <a:r>
              <a:rPr lang="es-ES" sz="3200" spc="20" dirty="0">
                <a:latin typeface="Microsoft Sans Serif"/>
                <a:cs typeface="Microsoft Sans Serif"/>
              </a:rPr>
              <a:t> </a:t>
            </a:r>
            <a:r>
              <a:rPr lang="es-ES" sz="3200" spc="-90" dirty="0">
                <a:latin typeface="Microsoft Sans Serif"/>
                <a:cs typeface="Microsoft Sans Serif"/>
              </a:rPr>
              <a:t>binario</a:t>
            </a:r>
            <a:endParaRPr lang="es-ES" sz="32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78718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pc="-185" dirty="0">
                <a:solidFill>
                  <a:prstClr val="black"/>
                </a:solidFill>
                <a:latin typeface="Microsoft Sans Serif"/>
                <a:cs typeface="Microsoft Sans Serif"/>
              </a:rPr>
              <a:t>Secuencial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49" y="1331509"/>
            <a:ext cx="11554340" cy="1902143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548639" y="3955561"/>
            <a:ext cx="85371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/>
              <a:t>Todo ‘’apretujado’’</a:t>
            </a:r>
          </a:p>
          <a:p>
            <a:endParaRPr lang="es-ES" dirty="0"/>
          </a:p>
          <a:p>
            <a:r>
              <a:rPr lang="es-ES" i="1" dirty="0" smtClean="0"/>
              <a:t>¿Que datos pensáis que hay?</a:t>
            </a:r>
          </a:p>
          <a:p>
            <a:r>
              <a:rPr lang="es-ES" i="1" dirty="0" smtClean="0"/>
              <a:t>¿Cual es el separador de información?</a:t>
            </a:r>
            <a:endParaRPr lang="es-ES" i="1" dirty="0"/>
          </a:p>
        </p:txBody>
      </p:sp>
    </p:spTree>
    <p:extLst>
      <p:ext uri="{BB962C8B-B14F-4D97-AF65-F5344CB8AC3E}">
        <p14:creationId xmlns:p14="http://schemas.microsoft.com/office/powerpoint/2010/main" val="136106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pc="-105" dirty="0">
                <a:solidFill>
                  <a:prstClr val="black"/>
                </a:solidFill>
                <a:latin typeface="Microsoft Sans Serif"/>
                <a:cs typeface="Microsoft Sans Serif"/>
              </a:rPr>
              <a:t>Directa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3906981"/>
            <a:ext cx="10515600" cy="1421477"/>
          </a:xfrm>
        </p:spPr>
        <p:txBody>
          <a:bodyPr>
            <a:noAutofit/>
          </a:bodyPr>
          <a:lstStyle/>
          <a:p>
            <a:r>
              <a:rPr lang="es-ES" dirty="0" smtClean="0">
                <a:latin typeface="+mj-lt"/>
              </a:rPr>
              <a:t>Esto esta mejor.</a:t>
            </a:r>
          </a:p>
          <a:p>
            <a:pPr marL="285750" lvl="1"/>
            <a:r>
              <a:rPr lang="es-ES" sz="1800" dirty="0" smtClean="0">
                <a:latin typeface="+mj-lt"/>
              </a:rPr>
              <a:t>Se accede directamente al dato que nos interesa</a:t>
            </a:r>
          </a:p>
          <a:p>
            <a:r>
              <a:rPr lang="es-ES" dirty="0" smtClean="0">
                <a:latin typeface="+mj-lt"/>
              </a:rPr>
              <a:t>Cada usuario ocupa una línea de fichero.</a:t>
            </a:r>
            <a:endParaRPr lang="es-ES" dirty="0">
              <a:latin typeface="+mj-lt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44088"/>
            <a:ext cx="10348205" cy="178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6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pc="-140" dirty="0">
                <a:solidFill>
                  <a:prstClr val="black"/>
                </a:solidFill>
                <a:latin typeface="Microsoft Sans Serif"/>
                <a:cs typeface="Microsoft Sans Serif"/>
              </a:rPr>
              <a:t>Ind</a:t>
            </a:r>
            <a:r>
              <a:rPr lang="es-ES" spc="-240" dirty="0">
                <a:solidFill>
                  <a:prstClr val="black"/>
                </a:solidFill>
                <a:latin typeface="Microsoft Sans Serif"/>
                <a:cs typeface="Microsoft Sans Serif"/>
              </a:rPr>
              <a:t>e</a:t>
            </a:r>
            <a:r>
              <a:rPr lang="es-ES" spc="-10" dirty="0">
                <a:solidFill>
                  <a:prstClr val="black"/>
                </a:solidFill>
                <a:latin typeface="Microsoft Sans Serif"/>
                <a:cs typeface="Microsoft Sans Serif"/>
              </a:rPr>
              <a:t>xada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22950"/>
            <a:ext cx="10696175" cy="206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2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 trabajar | Memes graciosos, Memes, Memes para cha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418" y="866544"/>
            <a:ext cx="9639091" cy="530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/>
          <p:cNvSpPr txBox="1"/>
          <p:nvPr/>
        </p:nvSpPr>
        <p:spPr>
          <a:xfrm>
            <a:off x="955964" y="4281055"/>
            <a:ext cx="10532225" cy="1753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21342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Código ASCII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36568" y="2765782"/>
            <a:ext cx="8598130" cy="3144567"/>
          </a:xfrm>
        </p:spPr>
        <p:txBody>
          <a:bodyPr>
            <a:normAutofit/>
          </a:bodyPr>
          <a:lstStyle/>
          <a:p>
            <a:r>
              <a:rPr lang="es-ES" b="1" dirty="0" smtClean="0"/>
              <a:t>Aprender </a:t>
            </a:r>
            <a:r>
              <a:rPr lang="es-ES" b="1" dirty="0"/>
              <a:t>sobre ASCII:</a:t>
            </a:r>
            <a:r>
              <a:rPr lang="es-ES" dirty="0"/>
              <a:t> </a:t>
            </a:r>
            <a:r>
              <a:rPr lang="es-ES" dirty="0" smtClean="0"/>
              <a:t>Haréis un pequeño resumen de que es el código ASCII y como funciona.</a:t>
            </a:r>
            <a:endParaRPr lang="es-ES" dirty="0"/>
          </a:p>
          <a:p>
            <a:r>
              <a:rPr lang="es-ES" b="1" dirty="0" smtClean="0"/>
              <a:t>Codifica </a:t>
            </a:r>
            <a:r>
              <a:rPr lang="es-ES" b="1" dirty="0"/>
              <a:t>tu mensaje:</a:t>
            </a:r>
            <a:r>
              <a:rPr lang="es-ES" dirty="0"/>
              <a:t> Usando los códigos ASCII, crea un mensaje </a:t>
            </a:r>
            <a:r>
              <a:rPr lang="es-ES" dirty="0" smtClean="0"/>
              <a:t>secreto. (cortito </a:t>
            </a:r>
            <a:r>
              <a:rPr lang="es-ES" dirty="0" err="1" smtClean="0"/>
              <a:t>plis</a:t>
            </a:r>
            <a:r>
              <a:rPr lang="es-ES" dirty="0" smtClean="0"/>
              <a:t>)</a:t>
            </a:r>
          </a:p>
          <a:p>
            <a:r>
              <a:rPr lang="es-ES" b="1" dirty="0" smtClean="0"/>
              <a:t>Preséntalo</a:t>
            </a:r>
            <a:r>
              <a:rPr lang="es-ES" b="1" dirty="0"/>
              <a:t>:</a:t>
            </a:r>
            <a:r>
              <a:rPr lang="es-ES" dirty="0"/>
              <a:t> Muestra tu mensaje secreto a </a:t>
            </a:r>
            <a:r>
              <a:rPr lang="es-ES" dirty="0" smtClean="0"/>
              <a:t>tu compañero y que lo intente descifrar.</a:t>
            </a:r>
            <a:endParaRPr lang="es-ES" dirty="0"/>
          </a:p>
          <a:p>
            <a:r>
              <a:rPr lang="es-ES" b="1" dirty="0" smtClean="0"/>
              <a:t>Discusión</a:t>
            </a:r>
            <a:r>
              <a:rPr lang="es-ES" b="1" dirty="0"/>
              <a:t>:</a:t>
            </a:r>
            <a:r>
              <a:rPr lang="es-ES" dirty="0"/>
              <a:t> Hablemos sobre lo que aprendimos y cómo el código ASCII se usa en la vida real para representar texto en las computadoras.</a:t>
            </a:r>
          </a:p>
          <a:p>
            <a:endParaRPr lang="es-ES" dirty="0"/>
          </a:p>
        </p:txBody>
      </p:sp>
      <p:sp>
        <p:nvSpPr>
          <p:cNvPr id="4" name="Rectángulo 3"/>
          <p:cNvSpPr/>
          <p:nvPr/>
        </p:nvSpPr>
        <p:spPr>
          <a:xfrm>
            <a:off x="936568" y="1635527"/>
            <a:ext cx="87477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1" dirty="0"/>
              <a:t>Objetivo: Entender cómo funciona el código ASCII y cómo se usan los códigos para representar caracteres.</a:t>
            </a:r>
          </a:p>
        </p:txBody>
      </p:sp>
    </p:spTree>
    <p:extLst>
      <p:ext uri="{BB962C8B-B14F-4D97-AF65-F5344CB8AC3E}">
        <p14:creationId xmlns:p14="http://schemas.microsoft.com/office/powerpoint/2010/main" val="174087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78378"/>
          </a:xfrm>
        </p:spPr>
        <p:txBody>
          <a:bodyPr/>
          <a:lstStyle/>
          <a:p>
            <a:r>
              <a:rPr lang="es-ES" dirty="0" smtClean="0"/>
              <a:t>ALMACENAMIENTO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836394"/>
            <a:ext cx="2755822" cy="1073062"/>
          </a:xfrm>
        </p:spPr>
        <p:txBody>
          <a:bodyPr/>
          <a:lstStyle/>
          <a:p>
            <a:r>
              <a:rPr lang="es-ES" dirty="0" smtClean="0"/>
              <a:t>SECUENCIAL</a:t>
            </a:r>
          </a:p>
          <a:p>
            <a:r>
              <a:rPr lang="es-ES" dirty="0" smtClean="0"/>
              <a:t>DIRECCIONABLE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078" y="683029"/>
            <a:ext cx="4043738" cy="2537794"/>
          </a:xfrm>
          <a:prstGeom prst="rect">
            <a:avLst/>
          </a:prstGeom>
        </p:spPr>
      </p:pic>
      <p:pic>
        <p:nvPicPr>
          <p:cNvPr id="1026" name="Picture 2" descr="disco du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947" y="3295649"/>
            <a:ext cx="5715000" cy="3562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98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Bases de datos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10831" y="1686764"/>
            <a:ext cx="9139997" cy="4348276"/>
          </a:xfrm>
        </p:spPr>
        <p:txBody>
          <a:bodyPr>
            <a:normAutofit/>
          </a:bodyPr>
          <a:lstStyle/>
          <a:p>
            <a:r>
              <a:rPr lang="es-ES" dirty="0" smtClean="0"/>
              <a:t>La evolución lógica de los problemas derivados del uso de ficheros fue estandarizar el acceso a la información, de modo que un diseño físico concreto sirviera para todas las aplicaciones de una organización. </a:t>
            </a:r>
            <a:r>
              <a:rPr lang="es-ES" b="1" dirty="0" smtClean="0"/>
              <a:t>Aparecía el concepto de base de datos.</a:t>
            </a:r>
          </a:p>
          <a:p>
            <a:r>
              <a:rPr lang="es-ES" dirty="0"/>
              <a:t>Base de Datos : colección de información perteneciente a  un mismo contexto (o problema) , que está almacenada  de forma organizada en ficheros.</a:t>
            </a:r>
          </a:p>
          <a:p>
            <a:r>
              <a:rPr lang="es-ES" dirty="0"/>
              <a:t>Está organizada mediante tablas, que almacenan  información concerniente a algún objeto o suceso.</a:t>
            </a:r>
          </a:p>
          <a:p>
            <a:r>
              <a:rPr lang="es-ES" dirty="0"/>
              <a:t>Estas tablas se relacionan formando vínculos o relaciones  entre ellas, que ayudan a mantener la información de  los diversos objetos de forma ordenada y coherente (sin  contradicciones).</a:t>
            </a:r>
          </a:p>
          <a:p>
            <a:r>
              <a:rPr lang="es-ES" dirty="0"/>
              <a:t>Cada tabla contiene filas y columnas. De este modo,  cada fila almacena un registro con tantos campos como  columnas tenga la tabla.</a:t>
            </a:r>
          </a:p>
          <a:p>
            <a:endParaRPr lang="es-ES" dirty="0"/>
          </a:p>
        </p:txBody>
      </p:sp>
      <p:pic>
        <p:nvPicPr>
          <p:cNvPr id="4" name="Imagen 3" descr="Wikipedia:Café/Portal/Archivo/Miscelánea/2020/07 - Wikipedia, la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2779" y="4769428"/>
            <a:ext cx="2682240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25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5731779" cy="795251"/>
          </a:xfrm>
        </p:spPr>
        <p:txBody>
          <a:bodyPr/>
          <a:lstStyle/>
          <a:p>
            <a:r>
              <a:rPr lang="es-ES" dirty="0"/>
              <a:t>Tipos de bases de datos</a:t>
            </a:r>
          </a:p>
        </p:txBody>
      </p:sp>
      <p:sp>
        <p:nvSpPr>
          <p:cNvPr id="6" name="Rectángulo 5"/>
          <p:cNvSpPr/>
          <p:nvPr/>
        </p:nvSpPr>
        <p:spPr>
          <a:xfrm>
            <a:off x="677334" y="1718023"/>
            <a:ext cx="7843211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dirty="0" smtClean="0">
                <a:solidFill>
                  <a:srgbClr val="374151"/>
                </a:solidFill>
                <a:latin typeface="Söhne"/>
              </a:rPr>
              <a:t>Según el modelo de datos subyacente:</a:t>
            </a:r>
          </a:p>
          <a:p>
            <a:endParaRPr lang="es-ES" sz="2800" dirty="0" smtClean="0">
              <a:solidFill>
                <a:srgbClr val="374151"/>
              </a:solidFill>
              <a:latin typeface="Söhne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 smtClean="0">
                <a:solidFill>
                  <a:srgbClr val="374151"/>
                </a:solidFill>
                <a:latin typeface="Söhne"/>
              </a:rPr>
              <a:t>Jerárquico.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 smtClean="0">
                <a:solidFill>
                  <a:srgbClr val="374151"/>
                </a:solidFill>
                <a:latin typeface="Söhne"/>
              </a:rPr>
              <a:t>En red.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 smtClean="0">
                <a:solidFill>
                  <a:srgbClr val="374151"/>
                </a:solidFill>
                <a:latin typeface="Söhne"/>
              </a:rPr>
              <a:t>Relacional.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 smtClean="0">
                <a:solidFill>
                  <a:srgbClr val="374151"/>
                </a:solidFill>
                <a:latin typeface="Söhne"/>
              </a:rPr>
              <a:t>Orientado a objetos.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 smtClean="0">
                <a:solidFill>
                  <a:srgbClr val="374151"/>
                </a:solidFill>
                <a:latin typeface="Söhne"/>
              </a:rPr>
              <a:t>Objeto-relacional.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 smtClean="0">
                <a:solidFill>
                  <a:srgbClr val="374151"/>
                </a:solidFill>
                <a:latin typeface="Söhne"/>
              </a:rPr>
              <a:t>Otros.</a:t>
            </a:r>
          </a:p>
          <a:p>
            <a:pPr lvl="1"/>
            <a:endParaRPr lang="es-ES" dirty="0" smtClean="0">
              <a:solidFill>
                <a:srgbClr val="374151"/>
              </a:solidFill>
              <a:latin typeface="Söhne"/>
            </a:endParaRPr>
          </a:p>
          <a:p>
            <a:r>
              <a:rPr lang="es-ES" sz="2800" dirty="0" smtClean="0">
                <a:solidFill>
                  <a:srgbClr val="374151"/>
                </a:solidFill>
                <a:latin typeface="Söhne"/>
              </a:rPr>
              <a:t>Según la ubicación física de la información:</a:t>
            </a:r>
          </a:p>
          <a:p>
            <a:endParaRPr lang="es-ES" sz="2800" dirty="0" smtClean="0">
              <a:solidFill>
                <a:srgbClr val="374151"/>
              </a:solidFill>
              <a:latin typeface="Söhne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 smtClean="0">
                <a:solidFill>
                  <a:srgbClr val="374151"/>
                </a:solidFill>
                <a:latin typeface="Söhne"/>
              </a:rPr>
              <a:t>Centralizadas.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s-ES" dirty="0" smtClean="0">
                <a:solidFill>
                  <a:srgbClr val="374151"/>
                </a:solidFill>
                <a:latin typeface="Söhne"/>
              </a:rPr>
              <a:t>Distribuidas.</a:t>
            </a:r>
            <a:endParaRPr lang="es-E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183631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28996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JERARQUICO</a:t>
            </a:r>
            <a:endParaRPr lang="es-ES" dirty="0"/>
          </a:p>
        </p:txBody>
      </p:sp>
      <p:pic>
        <p:nvPicPr>
          <p:cNvPr id="2050" name="Picture 2" descr="Bases de datos jerárquicas ¿Qué son? Ejemplos | AyudaLey Dat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58" y="1662546"/>
            <a:ext cx="5821678" cy="4366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/>
          <p:cNvSpPr txBox="1"/>
          <p:nvPr/>
        </p:nvSpPr>
        <p:spPr>
          <a:xfrm>
            <a:off x="7544955" y="3374967"/>
            <a:ext cx="1729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IMS, IBM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86492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EN RED</a:t>
            </a:r>
            <a:endParaRPr lang="es-ES" dirty="0"/>
          </a:p>
        </p:txBody>
      </p:sp>
      <p:pic>
        <p:nvPicPr>
          <p:cNvPr id="3074" name="Picture 2" descr="Base de datos de red - Wikipedia, la enciclopedia lib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668" y="1403003"/>
            <a:ext cx="5334000" cy="5334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1271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RELACIONAL</a:t>
            </a:r>
            <a:endParaRPr lang="es-ES" dirty="0"/>
          </a:p>
        </p:txBody>
      </p:sp>
      <p:pic>
        <p:nvPicPr>
          <p:cNvPr id="4098" name="Picture 2" descr="Base de datos relacional: qué es y cómo funcion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161" y="1270000"/>
            <a:ext cx="7650075" cy="4781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/>
          <p:cNvSpPr txBox="1"/>
          <p:nvPr/>
        </p:nvSpPr>
        <p:spPr>
          <a:xfrm>
            <a:off x="7272578" y="946834"/>
            <a:ext cx="1729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 smtClean="0"/>
              <a:t>MySQL</a:t>
            </a:r>
            <a:r>
              <a:rPr lang="es-ES" dirty="0" smtClean="0"/>
              <a:t>, ORACLE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2385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3819851" cy="637309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NO RELACIONAL</a:t>
            </a:r>
            <a:endParaRPr lang="es-ES" dirty="0"/>
          </a:p>
        </p:txBody>
      </p:sp>
      <p:pic>
        <p:nvPicPr>
          <p:cNvPr id="5122" name="Picture 2" descr="Datos no relacionales y NoSQL - Azure Architecture Center | Microsoft Lear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08" y="1616825"/>
            <a:ext cx="30861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Bases de datos relacionales vs. no relacionales: ¿qué es mejor? - Auker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3953" y="1717414"/>
            <a:ext cx="5333048" cy="3233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/>
          <p:cNvSpPr txBox="1"/>
          <p:nvPr/>
        </p:nvSpPr>
        <p:spPr>
          <a:xfrm>
            <a:off x="5585095" y="5793154"/>
            <a:ext cx="1729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MONGO DB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34911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Tipos de bases de datos no relacionales - Consultoria Certia. Formación |  Consultoria | Desarroll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2483" y="753369"/>
            <a:ext cx="8664229" cy="5505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3748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2015990" cy="695498"/>
          </a:xfrm>
        </p:spPr>
        <p:txBody>
          <a:bodyPr/>
          <a:lstStyle/>
          <a:p>
            <a:r>
              <a:rPr lang="es-ES" dirty="0" smtClean="0"/>
              <a:t>USOS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711702"/>
            <a:ext cx="8596668" cy="3880773"/>
          </a:xfrm>
        </p:spPr>
        <p:txBody>
          <a:bodyPr>
            <a:normAutofit fontScale="92500" lnSpcReduction="10000"/>
          </a:bodyPr>
          <a:lstStyle/>
          <a:p>
            <a:r>
              <a:rPr lang="es-ES" sz="2400" dirty="0"/>
              <a:t>BD administrativas</a:t>
            </a:r>
          </a:p>
          <a:p>
            <a:r>
              <a:rPr lang="es-ES" sz="2400" dirty="0"/>
              <a:t>BD contables</a:t>
            </a:r>
          </a:p>
          <a:p>
            <a:r>
              <a:rPr lang="es-ES" sz="2400" dirty="0"/>
              <a:t>BD para motores de búsqueda</a:t>
            </a:r>
          </a:p>
          <a:p>
            <a:r>
              <a:rPr lang="es-ES" sz="2400" dirty="0"/>
              <a:t>BD científicas</a:t>
            </a:r>
          </a:p>
          <a:p>
            <a:r>
              <a:rPr lang="es-ES" sz="2400" dirty="0"/>
              <a:t>BD de configuraciones</a:t>
            </a:r>
          </a:p>
          <a:p>
            <a:r>
              <a:rPr lang="es-ES" sz="2400" dirty="0"/>
              <a:t>BD para bibliotecas</a:t>
            </a:r>
          </a:p>
          <a:p>
            <a:r>
              <a:rPr lang="es-ES" sz="2400" dirty="0"/>
              <a:t>BD para el censo</a:t>
            </a:r>
          </a:p>
          <a:p>
            <a:r>
              <a:rPr lang="es-ES" sz="2400" dirty="0"/>
              <a:t>BD de virus</a:t>
            </a:r>
          </a:p>
          <a:p>
            <a:r>
              <a:rPr lang="es-ES" sz="2400" dirty="0"/>
              <a:t>BD militares, para videojuegos, para deportes, …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66508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Sistemas gestores de bases de </a:t>
            </a:r>
            <a:r>
              <a:rPr lang="es-ES" dirty="0" smtClean="0"/>
              <a:t>datos</a:t>
            </a:r>
            <a:br>
              <a:rPr lang="es-ES" dirty="0" smtClean="0"/>
            </a:br>
            <a:r>
              <a:rPr lang="es-ES" dirty="0" smtClean="0"/>
              <a:t>SGBD</a:t>
            </a:r>
            <a:r>
              <a:rPr lang="es-ES" dirty="0"/>
              <a:t/>
            </a:r>
            <a:br>
              <a:rPr lang="es-ES" dirty="0"/>
            </a:br>
            <a:endParaRPr lang="es-ES" dirty="0"/>
          </a:p>
        </p:txBody>
      </p:sp>
      <p:sp>
        <p:nvSpPr>
          <p:cNvPr id="4" name="Rectángulo 3"/>
          <p:cNvSpPr/>
          <p:nvPr/>
        </p:nvSpPr>
        <p:spPr>
          <a:xfrm>
            <a:off x="820189" y="1782100"/>
            <a:ext cx="858150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 smtClean="0"/>
              <a:t>El </a:t>
            </a:r>
            <a:r>
              <a:rPr lang="es-ES" dirty="0"/>
              <a:t>sistema gestor de bases de datos (SGBD) es el software que el fabricante pone a disposición del usuario para manejar sus bases de datos </a:t>
            </a:r>
            <a:r>
              <a:rPr lang="es-ES" dirty="0" smtClean="0"/>
              <a:t>con herramientas </a:t>
            </a:r>
            <a:r>
              <a:rPr lang="es-ES" dirty="0"/>
              <a:t>que facilitan la consulta, uso y  actualización de una base de datos..</a:t>
            </a:r>
          </a:p>
        </p:txBody>
      </p:sp>
      <p:pic>
        <p:nvPicPr>
          <p:cNvPr id="7170" name="Picture 2" descr="Cliente MySQL: repasamos las mejores interfaces gráficas | Arsy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2926463"/>
            <a:ext cx="4010101" cy="2521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1 Using Java with Oracle Database X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396" y="3844934"/>
            <a:ext cx="4075603" cy="295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4 herramientas gratuitas para gestionar MongoDB - 202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999" y="2727021"/>
            <a:ext cx="3468774" cy="231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644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4634499" cy="703811"/>
          </a:xfrm>
        </p:spPr>
        <p:txBody>
          <a:bodyPr/>
          <a:lstStyle/>
          <a:p>
            <a:r>
              <a:rPr lang="es-ES" dirty="0" smtClean="0"/>
              <a:t>Funciones de SGBD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313411"/>
            <a:ext cx="9788390" cy="5320145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1. Permiten a los usuarios almacenar datos, acceder a ellos y actualizarlos de forma </a:t>
            </a:r>
            <a:r>
              <a:rPr lang="es-ES" dirty="0" smtClean="0"/>
              <a:t>sencilla.</a:t>
            </a:r>
            <a:endParaRPr lang="es-ES" dirty="0"/>
          </a:p>
          <a:p>
            <a:r>
              <a:rPr lang="es-ES" dirty="0"/>
              <a:t>2. Garantizan la integridad de los datos. No permiten operaciones que dejen cierto conjunto de datos incompletos  o incorrectos.</a:t>
            </a:r>
          </a:p>
          <a:p>
            <a:r>
              <a:rPr lang="es-ES" dirty="0"/>
              <a:t>3. Proporcionan un sistema de seguridad que garantiza el acceso a la información exclusivamente a aquellos  usuarios que dispongan de autorización.</a:t>
            </a:r>
          </a:p>
          <a:p>
            <a:r>
              <a:rPr lang="es-ES" dirty="0"/>
              <a:t>4. Proporcionan un diccionario de metadatos </a:t>
            </a:r>
            <a:r>
              <a:rPr lang="es-ES" dirty="0" smtClean="0"/>
              <a:t>accesible.</a:t>
            </a:r>
          </a:p>
          <a:p>
            <a:r>
              <a:rPr lang="es-ES" dirty="0" smtClean="0"/>
              <a:t>5</a:t>
            </a:r>
            <a:r>
              <a:rPr lang="es-ES" dirty="0"/>
              <a:t>. Permiten el uso de transacciones y, en caso de alguna incidencia, deshacen los cambios.</a:t>
            </a:r>
          </a:p>
          <a:p>
            <a:r>
              <a:rPr lang="es-ES" dirty="0"/>
              <a:t>6. Ofrecen estadísticas sobre el uso del gestor, </a:t>
            </a:r>
            <a:r>
              <a:rPr lang="es-ES" dirty="0" smtClean="0"/>
              <a:t>posibilitando de </a:t>
            </a:r>
            <a:r>
              <a:rPr lang="es-ES" dirty="0"/>
              <a:t>este modo, monitorizar el uso de la base de  datos, y permiten analizar hipotéticos malfuncionamientos.</a:t>
            </a:r>
          </a:p>
          <a:p>
            <a:r>
              <a:rPr lang="es-ES" dirty="0"/>
              <a:t>7. Permiten la concurrencia, es decir, varios usuarios trabajando sobre un mismo conjunto de datos. </a:t>
            </a:r>
            <a:endParaRPr lang="es-ES" dirty="0" smtClean="0"/>
          </a:p>
          <a:p>
            <a:r>
              <a:rPr lang="es-ES" dirty="0" smtClean="0"/>
              <a:t>8</a:t>
            </a:r>
            <a:r>
              <a:rPr lang="es-ES" dirty="0"/>
              <a:t>. Independizan los datos de la aplicación o usuario que esté utilizándolos, haciendo más fácil su migración a  otras plataformas.</a:t>
            </a:r>
          </a:p>
          <a:p>
            <a:r>
              <a:rPr lang="es-ES" dirty="0"/>
              <a:t>9. Ofrecen conectividad con el exterior. De esta manera, se puede replicar y distribuir bases de datos.</a:t>
            </a:r>
          </a:p>
          <a:p>
            <a:r>
              <a:rPr lang="es-ES" dirty="0"/>
              <a:t>10. Incorporan herramientas para la restauración de la información en caso de desastre. Además, deben ofrecer  sencillas herramientas para la importación y exportación automática de la información.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1106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5399270" cy="820189"/>
          </a:xfrm>
        </p:spPr>
        <p:txBody>
          <a:bodyPr/>
          <a:lstStyle/>
          <a:p>
            <a:r>
              <a:rPr lang="es-ES" dirty="0"/>
              <a:t>Componentes del </a:t>
            </a:r>
            <a:r>
              <a:rPr lang="es-ES" dirty="0" smtClean="0"/>
              <a:t>SGBD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628574"/>
            <a:ext cx="8596668" cy="2519477"/>
          </a:xfrm>
        </p:spPr>
        <p:txBody>
          <a:bodyPr>
            <a:normAutofit/>
          </a:bodyPr>
          <a:lstStyle/>
          <a:p>
            <a:r>
              <a:rPr lang="es-ES" sz="2800" dirty="0" smtClean="0"/>
              <a:t>Datos</a:t>
            </a:r>
            <a:r>
              <a:rPr lang="es-ES" sz="2800" dirty="0"/>
              <a:t>.</a:t>
            </a:r>
          </a:p>
          <a:p>
            <a:r>
              <a:rPr lang="es-ES" sz="2800" dirty="0"/>
              <a:t>Herramientas de acceso a los datos.</a:t>
            </a:r>
          </a:p>
          <a:p>
            <a:r>
              <a:rPr lang="es-ES" sz="2800" dirty="0"/>
              <a:t>Utilidades.</a:t>
            </a:r>
          </a:p>
          <a:p>
            <a:r>
              <a:rPr lang="es-ES" sz="2800" dirty="0"/>
              <a:t>Entornos gráficos.</a:t>
            </a:r>
          </a:p>
        </p:txBody>
      </p:sp>
      <p:pic>
        <p:nvPicPr>
          <p:cNvPr id="4" name="Picture 2" descr="Cliente MySQL: repasamos las mejores interfaces gráficas | Arsy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081" y="2751513"/>
            <a:ext cx="6309140" cy="3967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7836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305" dirty="0"/>
              <a:t>Conceptos</a:t>
            </a:r>
            <a:r>
              <a:rPr lang="pt-BR" spc="35" dirty="0"/>
              <a:t> </a:t>
            </a:r>
            <a:r>
              <a:rPr lang="pt-BR" spc="-80" dirty="0"/>
              <a:t>relati</a:t>
            </a:r>
            <a:r>
              <a:rPr lang="pt-BR" spc="-185" dirty="0"/>
              <a:t>v</a:t>
            </a:r>
            <a:r>
              <a:rPr lang="pt-BR" spc="-440" dirty="0"/>
              <a:t>os</a:t>
            </a:r>
            <a:r>
              <a:rPr lang="pt-BR" spc="35" dirty="0"/>
              <a:t> </a:t>
            </a:r>
            <a:r>
              <a:rPr lang="pt-BR" spc="-15" dirty="0"/>
              <a:t>a</a:t>
            </a:r>
            <a:r>
              <a:rPr lang="pt-BR" spc="30" dirty="0"/>
              <a:t> </a:t>
            </a:r>
            <a:r>
              <a:rPr lang="pt-BR" spc="-330" dirty="0"/>
              <a:t>base</a:t>
            </a:r>
            <a:r>
              <a:rPr lang="pt-BR" spc="-295" dirty="0"/>
              <a:t>s</a:t>
            </a:r>
            <a:r>
              <a:rPr lang="pt-BR" spc="30" dirty="0"/>
              <a:t> </a:t>
            </a:r>
            <a:r>
              <a:rPr lang="pt-BR" spc="-125" dirty="0"/>
              <a:t>d</a:t>
            </a:r>
            <a:r>
              <a:rPr lang="pt-BR" spc="-114" dirty="0"/>
              <a:t>e</a:t>
            </a:r>
            <a:r>
              <a:rPr lang="pt-BR" spc="30" dirty="0"/>
              <a:t> </a:t>
            </a:r>
            <a:r>
              <a:rPr lang="pt-BR" spc="-190" dirty="0" err="1" smtClean="0"/>
              <a:t>datos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930400"/>
            <a:ext cx="2581255" cy="3880773"/>
          </a:xfrm>
        </p:spPr>
        <p:txBody>
          <a:bodyPr/>
          <a:lstStyle/>
          <a:p>
            <a:r>
              <a:rPr lang="es-ES" dirty="0"/>
              <a:t>Dato</a:t>
            </a:r>
          </a:p>
          <a:p>
            <a:r>
              <a:rPr lang="es-ES" dirty="0"/>
              <a:t>Tipo de dato</a:t>
            </a:r>
          </a:p>
          <a:p>
            <a:r>
              <a:rPr lang="es-ES" dirty="0"/>
              <a:t>Campo</a:t>
            </a:r>
          </a:p>
          <a:p>
            <a:r>
              <a:rPr lang="es-ES" dirty="0"/>
              <a:t>Registro</a:t>
            </a:r>
          </a:p>
          <a:p>
            <a:r>
              <a:rPr lang="es-ES" dirty="0"/>
              <a:t>Campo clave</a:t>
            </a:r>
          </a:p>
          <a:p>
            <a:r>
              <a:rPr lang="es-ES" dirty="0"/>
              <a:t>Tabla</a:t>
            </a:r>
          </a:p>
          <a:p>
            <a:r>
              <a:rPr lang="es-ES" dirty="0"/>
              <a:t>Consulta</a:t>
            </a:r>
          </a:p>
          <a:p>
            <a:endParaRPr lang="es-ES" dirty="0"/>
          </a:p>
        </p:txBody>
      </p:sp>
      <p:sp>
        <p:nvSpPr>
          <p:cNvPr id="5" name="Marcador de contenido 2"/>
          <p:cNvSpPr txBox="1">
            <a:spLocks/>
          </p:cNvSpPr>
          <p:nvPr/>
        </p:nvSpPr>
        <p:spPr>
          <a:xfrm>
            <a:off x="4728404" y="1930399"/>
            <a:ext cx="2581255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Índice</a:t>
            </a:r>
          </a:p>
          <a:p>
            <a:r>
              <a:rPr lang="es-ES" dirty="0"/>
              <a:t>Vista</a:t>
            </a:r>
          </a:p>
          <a:p>
            <a:r>
              <a:rPr lang="es-ES" dirty="0"/>
              <a:t>Informes</a:t>
            </a:r>
          </a:p>
          <a:p>
            <a:r>
              <a:rPr lang="es-ES" dirty="0"/>
              <a:t>Guiones o scripts</a:t>
            </a:r>
          </a:p>
          <a:p>
            <a:r>
              <a:rPr lang="es-ES" dirty="0"/>
              <a:t>Procedimientos</a:t>
            </a:r>
          </a:p>
          <a:p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589" y="4100975"/>
            <a:ext cx="5724525" cy="2752725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7644765" y="791555"/>
            <a:ext cx="1338349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ES" dirty="0" smtClean="0"/>
              <a:t>ACTIVIDAD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96504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2830637" cy="753687"/>
          </a:xfrm>
        </p:spPr>
        <p:txBody>
          <a:bodyPr/>
          <a:lstStyle/>
          <a:p>
            <a:r>
              <a:rPr lang="es-ES" spc="-509" dirty="0"/>
              <a:t>SQL</a:t>
            </a:r>
            <a:r>
              <a:rPr lang="es-ES" spc="40" dirty="0"/>
              <a:t> </a:t>
            </a:r>
            <a:r>
              <a:rPr lang="es-ES" spc="-275" dirty="0" err="1"/>
              <a:t>Langua</a:t>
            </a:r>
            <a:r>
              <a:rPr lang="es-ES" spc="-365" dirty="0" err="1"/>
              <a:t>g</a:t>
            </a:r>
            <a:r>
              <a:rPr lang="es-ES" spc="-250" dirty="0" err="1"/>
              <a:t>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3" y="1462320"/>
            <a:ext cx="9273001" cy="4838727"/>
          </a:xfrm>
        </p:spPr>
        <p:txBody>
          <a:bodyPr/>
          <a:lstStyle/>
          <a:p>
            <a:r>
              <a:rPr lang="es-ES" sz="2400" dirty="0"/>
              <a:t>Standard </a:t>
            </a:r>
            <a:r>
              <a:rPr lang="es-ES" sz="2400" dirty="0" err="1"/>
              <a:t>Query</a:t>
            </a:r>
            <a:r>
              <a:rPr lang="es-ES" sz="2400" dirty="0"/>
              <a:t> </a:t>
            </a:r>
            <a:r>
              <a:rPr lang="es-ES" sz="2400" dirty="0" err="1"/>
              <a:t>Language</a:t>
            </a:r>
            <a:r>
              <a:rPr lang="es-ES" sz="2400" dirty="0"/>
              <a:t>. Es una interfaz con la  que el usuario hace demandas de datos al servidor.</a:t>
            </a:r>
          </a:p>
          <a:p>
            <a:r>
              <a:rPr lang="es-ES" sz="2400" dirty="0"/>
              <a:t>Se divide en 4 </a:t>
            </a:r>
            <a:r>
              <a:rPr lang="es-ES" sz="2400" dirty="0" err="1"/>
              <a:t>sublenguajes</a:t>
            </a:r>
            <a:r>
              <a:rPr lang="es-ES" sz="2400" dirty="0"/>
              <a:t>:</a:t>
            </a:r>
          </a:p>
          <a:p>
            <a:pPr lvl="1"/>
            <a:r>
              <a:rPr lang="es-ES" dirty="0"/>
              <a:t>DML: seleccionar, insertar, modificar o borrar datos.</a:t>
            </a:r>
          </a:p>
          <a:p>
            <a:pPr lvl="1"/>
            <a:r>
              <a:rPr lang="es-ES" dirty="0"/>
              <a:t>DDL: crear o eliminar objetos.</a:t>
            </a:r>
          </a:p>
          <a:p>
            <a:pPr lvl="1"/>
            <a:r>
              <a:rPr lang="es-ES" dirty="0"/>
              <a:t>DCL: gestiona el control de acceso a los datos.</a:t>
            </a:r>
          </a:p>
          <a:p>
            <a:pPr lvl="1"/>
            <a:r>
              <a:rPr lang="es-ES" dirty="0"/>
              <a:t>TCL: controla las transacciones para los accesos  simultáneos.</a:t>
            </a:r>
          </a:p>
          <a:p>
            <a:endParaRPr lang="es-ES" dirty="0"/>
          </a:p>
        </p:txBody>
      </p:sp>
      <p:pic>
        <p:nvPicPr>
          <p:cNvPr id="1026" name="Picture 2" descr="Más Trabajo (@MasTrabajo_cex) / X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866" y="3649286"/>
            <a:ext cx="2455025" cy="245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6821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2290310" cy="637309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RESUMEN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387506"/>
            <a:ext cx="9256376" cy="4938479"/>
          </a:xfrm>
        </p:spPr>
        <p:txBody>
          <a:bodyPr/>
          <a:lstStyle/>
          <a:p>
            <a:r>
              <a:rPr lang="es-ES" b="1" dirty="0"/>
              <a:t>Problema Inicial: </a:t>
            </a:r>
            <a:r>
              <a:rPr lang="es-ES" dirty="0"/>
              <a:t>Inflexibilidad y redundancia en el almacenamiento de datos con ficheros.</a:t>
            </a:r>
          </a:p>
          <a:p>
            <a:r>
              <a:rPr lang="es-ES" b="1" dirty="0"/>
              <a:t>Avance: </a:t>
            </a:r>
            <a:r>
              <a:rPr lang="es-ES" dirty="0"/>
              <a:t>Ficheros de índice mejoran la agilidad pero mantienen la dependencia de la estructura de archivos.</a:t>
            </a:r>
          </a:p>
          <a:p>
            <a:r>
              <a:rPr lang="es-ES" b="1" dirty="0"/>
              <a:t>Solución Estándar: </a:t>
            </a:r>
            <a:r>
              <a:rPr lang="es-ES" dirty="0"/>
              <a:t>Las bases de datos resuelven el problema de manera estandarizada.</a:t>
            </a:r>
          </a:p>
          <a:p>
            <a:r>
              <a:rPr lang="es-ES" b="1" dirty="0"/>
              <a:t>Modelo Predominante: </a:t>
            </a:r>
            <a:r>
              <a:rPr lang="es-ES" dirty="0"/>
              <a:t>El modelo relacional ha sido ampliamente utilizado en la historia de las bases de datos.</a:t>
            </a:r>
          </a:p>
          <a:p>
            <a:r>
              <a:rPr lang="es-ES" b="1" dirty="0"/>
              <a:t>Actualidad: </a:t>
            </a:r>
            <a:r>
              <a:rPr lang="es-ES" dirty="0"/>
              <a:t>Bases de datos objeto-relacionales combinan elementos del modelo relacional y orientado a objetos.</a:t>
            </a:r>
          </a:p>
          <a:p>
            <a:r>
              <a:rPr lang="es-ES" b="1" dirty="0"/>
              <a:t>Gestión de Datos: </a:t>
            </a:r>
            <a:r>
              <a:rPr lang="es-ES" dirty="0"/>
              <a:t>Los sistemas gestores de bases de datos son aplicaciones que permiten manipular la información de manera personalizada.</a:t>
            </a:r>
          </a:p>
        </p:txBody>
      </p:sp>
      <p:pic>
        <p:nvPicPr>
          <p:cNvPr id="2050" name="Picture 2" descr="El resumen del debate de RTVE, a golpe de mem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644" y="4854632"/>
            <a:ext cx="2442111" cy="1709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42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3000895" cy="590204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ACTIVIDADES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714175"/>
            <a:ext cx="10249594" cy="6052385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1. Crear un fichero de </a:t>
            </a:r>
            <a:r>
              <a:rPr lang="es-ES" dirty="0" err="1" smtClean="0"/>
              <a:t>Acces</a:t>
            </a:r>
            <a:r>
              <a:rPr lang="es-ES" dirty="0" smtClean="0"/>
              <a:t> con </a:t>
            </a:r>
            <a:r>
              <a:rPr lang="es-ES" dirty="0"/>
              <a:t>una agenda de </a:t>
            </a:r>
            <a:r>
              <a:rPr lang="es-ES" dirty="0" smtClean="0"/>
              <a:t>clientes. </a:t>
            </a:r>
            <a:r>
              <a:rPr lang="es-ES" dirty="0"/>
              <a:t>Los datos que hay que incluir serán:</a:t>
            </a:r>
          </a:p>
          <a:p>
            <a:pPr lvl="1" algn="just"/>
            <a:r>
              <a:rPr lang="es-ES" dirty="0" smtClean="0"/>
              <a:t>DNI</a:t>
            </a:r>
          </a:p>
          <a:p>
            <a:pPr lvl="1" algn="just"/>
            <a:r>
              <a:rPr lang="es-ES" dirty="0" smtClean="0"/>
              <a:t>Nombre</a:t>
            </a:r>
            <a:endParaRPr lang="es-ES" dirty="0"/>
          </a:p>
          <a:p>
            <a:pPr lvl="1" algn="just"/>
            <a:r>
              <a:rPr lang="es-ES" dirty="0"/>
              <a:t>Apellidos</a:t>
            </a:r>
          </a:p>
          <a:p>
            <a:pPr lvl="1" algn="just"/>
            <a:r>
              <a:rPr lang="es-ES" dirty="0"/>
              <a:t>Dirección</a:t>
            </a:r>
          </a:p>
          <a:p>
            <a:pPr lvl="1" algn="just"/>
            <a:r>
              <a:rPr lang="es-ES" dirty="0"/>
              <a:t>Ciudad</a:t>
            </a:r>
          </a:p>
          <a:p>
            <a:pPr lvl="1" algn="just"/>
            <a:r>
              <a:rPr lang="es-ES" dirty="0"/>
              <a:t>Teléfono</a:t>
            </a:r>
          </a:p>
          <a:p>
            <a:pPr algn="just"/>
            <a:r>
              <a:rPr lang="es-ES" i="1" dirty="0" smtClean="0"/>
              <a:t>Incluir un mínimo de diez contactos de, al menos, cuatro ciudades distintas.</a:t>
            </a:r>
          </a:p>
          <a:p>
            <a:pPr algn="just"/>
            <a:r>
              <a:rPr lang="es-ES" i="1" u="sng" dirty="0" smtClean="0"/>
              <a:t>EXTRA: Haz otra tabla y genera una relación de dependencia entre ellas.</a:t>
            </a:r>
            <a:endParaRPr lang="es-ES" i="1" u="sng" dirty="0" smtClean="0"/>
          </a:p>
          <a:p>
            <a:pPr algn="just"/>
            <a:r>
              <a:rPr lang="es-ES" dirty="0" smtClean="0"/>
              <a:t>2.Se </a:t>
            </a:r>
            <a:r>
              <a:rPr lang="es-ES" dirty="0"/>
              <a:t>debe presentar una justificación del número de caracteres elegidos para cada dato.</a:t>
            </a:r>
          </a:p>
          <a:p>
            <a:pPr algn="just"/>
            <a:r>
              <a:rPr lang="es-ES" dirty="0" smtClean="0"/>
              <a:t>3. </a:t>
            </a:r>
            <a:r>
              <a:rPr lang="es-ES" dirty="0"/>
              <a:t>Consultar en Internet información sobre las prestaciones de los SGBD comerciales y libres más utilizados en la actualidad.</a:t>
            </a:r>
          </a:p>
        </p:txBody>
      </p:sp>
    </p:spTree>
    <p:extLst>
      <p:ext uri="{BB962C8B-B14F-4D97-AF65-F5344CB8AC3E}">
        <p14:creationId xmlns:p14="http://schemas.microsoft.com/office/powerpoint/2010/main" val="57073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455</TotalTime>
  <Words>1526</Words>
  <Application>Microsoft Office PowerPoint</Application>
  <PresentationFormat>Panorámica</PresentationFormat>
  <Paragraphs>179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9" baseType="lpstr">
      <vt:lpstr>Arial</vt:lpstr>
      <vt:lpstr>Cambria</vt:lpstr>
      <vt:lpstr>Google Sans</vt:lpstr>
      <vt:lpstr>Microsoft Sans Serif</vt:lpstr>
      <vt:lpstr>Söhne</vt:lpstr>
      <vt:lpstr>Trebuchet MS</vt:lpstr>
      <vt:lpstr>Wingdings</vt:lpstr>
      <vt:lpstr>Wingdings 3</vt:lpstr>
      <vt:lpstr>Faceta</vt:lpstr>
      <vt:lpstr>BASES DE DATOS DISEÑO Y GESTION</vt:lpstr>
      <vt:lpstr>OBJETIVOS DEL TEMA</vt:lpstr>
      <vt:lpstr>MAPA DEL TEMA</vt:lpstr>
      <vt:lpstr>GLOSARIO BASE DEL TEMA</vt:lpstr>
      <vt:lpstr>Introducción</vt:lpstr>
      <vt:lpstr>FICHEROS</vt:lpstr>
      <vt:lpstr>Presentación de PowerPoint</vt:lpstr>
      <vt:lpstr>FICHERO DE TEXTO </vt:lpstr>
      <vt:lpstr>Ficheros binarios</vt:lpstr>
      <vt:lpstr>Secuencial</vt:lpstr>
      <vt:lpstr>Directa</vt:lpstr>
      <vt:lpstr>Indexada</vt:lpstr>
      <vt:lpstr>Presentación de PowerPoint</vt:lpstr>
      <vt:lpstr>Código ASCII</vt:lpstr>
      <vt:lpstr>ALMACENAMIENTO</vt:lpstr>
      <vt:lpstr>Bases de datos</vt:lpstr>
      <vt:lpstr>Tipos de bases de datos</vt:lpstr>
      <vt:lpstr>JERARQUICO</vt:lpstr>
      <vt:lpstr>EN RED</vt:lpstr>
      <vt:lpstr>RELACIONAL</vt:lpstr>
      <vt:lpstr>NO RELACIONAL</vt:lpstr>
      <vt:lpstr>Presentación de PowerPoint</vt:lpstr>
      <vt:lpstr>USOS</vt:lpstr>
      <vt:lpstr>Sistemas gestores de bases de datos SGBD </vt:lpstr>
      <vt:lpstr>Funciones de SGBD</vt:lpstr>
      <vt:lpstr>Componentes del SGBD</vt:lpstr>
      <vt:lpstr>Conceptos relativos a bases de datos</vt:lpstr>
      <vt:lpstr>SQL Language</vt:lpstr>
      <vt:lpstr>RESUMEN</vt:lpstr>
      <vt:lpstr>ACTIVIDADES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DATOS DISEÑO Y GESTION</dc:title>
  <dc:creator>German</dc:creator>
  <cp:lastModifiedBy>German</cp:lastModifiedBy>
  <cp:revision>26</cp:revision>
  <dcterms:created xsi:type="dcterms:W3CDTF">2023-09-11T12:21:43Z</dcterms:created>
  <dcterms:modified xsi:type="dcterms:W3CDTF">2023-09-19T18:22:41Z</dcterms:modified>
</cp:coreProperties>
</file>