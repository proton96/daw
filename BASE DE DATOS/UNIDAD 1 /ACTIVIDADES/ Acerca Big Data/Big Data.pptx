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ixelion" charset="1" panose="00000000000000000000"/>
      <p:regular r:id="rId14"/>
    </p:embeddedFont>
    <p:embeddedFont>
      <p:font typeface="Megapixel" charset="1" panose="00000000000000000000"/>
      <p:regular r:id="rId15"/>
    </p:embeddedFont>
    <p:embeddedFont>
      <p:font typeface="Nourd" charset="1" panose="00000500000000000000"/>
      <p:regular r:id="rId16"/>
    </p:embeddedFont>
    <p:embeddedFont>
      <p:font typeface="Open Sans Bold" charset="1" panose="020B0806030504020204"/>
      <p:regular r:id="rId17"/>
    </p:embeddedFont>
    <p:embeddedFont>
      <p:font typeface="Retropix" charset="1" panose="00000000000000000000"/>
      <p:regular r:id="rId18"/>
    </p:embeddedFont>
    <p:embeddedFont>
      <p:font typeface="Press Start 2P" charset="1" panose="00000500000000000000"/>
      <p:regular r:id="rId19"/>
    </p:embeddedFont>
    <p:embeddedFont>
      <p:font typeface="Open Sans" charset="1" panose="020B0606030504020204"/>
      <p:regular r:id="rId20"/>
    </p:embeddedFont>
    <p:embeddedFont>
      <p:font typeface="Pixellance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24.jpeg" Type="http://schemas.openxmlformats.org/officeDocument/2006/relationships/image"/><Relationship Id="rId19" Target="../media/image25.jpeg" Type="http://schemas.openxmlformats.org/officeDocument/2006/relationships/image"/><Relationship Id="rId2" Target="../media/image3.png" Type="http://schemas.openxmlformats.org/officeDocument/2006/relationships/image"/><Relationship Id="rId20" Target="../media/image26.jpeg" Type="http://schemas.openxmlformats.org/officeDocument/2006/relationships/image"/><Relationship Id="rId21" Target="../media/image27.jpeg" Type="http://schemas.openxmlformats.org/officeDocument/2006/relationships/image"/><Relationship Id="rId22" Target="../media/image28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18" Target="https://www.sap.com/spain/products/technology-platform/what-is-big-data.html#:~:text=%C2%BFPara%20qu%C3%A9%20se%20usa%20Big,una%20empresa%20y%20su%20mercado." TargetMode="External" Type="http://schemas.openxmlformats.org/officeDocument/2006/relationships/hyperlink"/><Relationship Id="rId19" Target="../media/image29.png" Type="http://schemas.openxmlformats.org/officeDocument/2006/relationships/image"/><Relationship Id="rId2" Target="../media/image1.png" Type="http://schemas.openxmlformats.org/officeDocument/2006/relationships/image"/><Relationship Id="rId20" Target="../media/image30.png" Type="http://schemas.openxmlformats.org/officeDocument/2006/relationships/image"/><Relationship Id="rId21" Target="../media/image3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media/image39.png" Type="http://schemas.openxmlformats.org/officeDocument/2006/relationships/image"/><Relationship Id="rId14" Target="../media/image40.svg" Type="http://schemas.openxmlformats.org/officeDocument/2006/relationships/image"/><Relationship Id="rId15" Target="../media/image9.png" Type="http://schemas.openxmlformats.org/officeDocument/2006/relationships/image"/><Relationship Id="rId16" Target="../media/image10.svg" Type="http://schemas.openxmlformats.org/officeDocument/2006/relationships/image"/><Relationship Id="rId17" Target="../media/image41.png" Type="http://schemas.openxmlformats.org/officeDocument/2006/relationships/image"/><Relationship Id="rId18" Target="../media/image42.svg" Type="http://schemas.openxmlformats.org/officeDocument/2006/relationships/image"/><Relationship Id="rId19" Target="../media/image43.png" Type="http://schemas.openxmlformats.org/officeDocument/2006/relationships/image"/><Relationship Id="rId2" Target="../media/image32.jpeg" Type="http://schemas.openxmlformats.org/officeDocument/2006/relationships/image"/><Relationship Id="rId20" Target="../media/image44.png" Type="http://schemas.openxmlformats.org/officeDocument/2006/relationships/image"/><Relationship Id="rId21" Target="../media/image45.png" Type="http://schemas.openxmlformats.org/officeDocument/2006/relationships/image"/><Relationship Id="rId22" Target="../media/image46.png" Type="http://schemas.openxmlformats.org/officeDocument/2006/relationships/image"/><Relationship Id="rId23" Target="../media/image47.png" Type="http://schemas.openxmlformats.org/officeDocument/2006/relationships/image"/><Relationship Id="rId24" Target="../media/image48.png" Type="http://schemas.openxmlformats.org/officeDocument/2006/relationships/image"/><Relationship Id="rId25" Target="../media/image49.png" Type="http://schemas.openxmlformats.org/officeDocument/2006/relationships/image"/><Relationship Id="rId26" Target="../media/image50.png" Type="http://schemas.openxmlformats.org/officeDocument/2006/relationships/image"/><Relationship Id="rId27" Target="../media/image51.png" Type="http://schemas.openxmlformats.org/officeDocument/2006/relationships/image"/><Relationship Id="rId28" Target="../media/image52.sv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svg" Type="http://schemas.openxmlformats.org/officeDocument/2006/relationships/image"/><Relationship Id="rId11" Target="../media/image53.png" Type="http://schemas.openxmlformats.org/officeDocument/2006/relationships/image"/><Relationship Id="rId12" Target="../media/image54.png" Type="http://schemas.openxmlformats.org/officeDocument/2006/relationships/image"/><Relationship Id="rId13" Target="../media/image55.png" Type="http://schemas.openxmlformats.org/officeDocument/2006/relationships/image"/><Relationship Id="rId14" Target="../media/image56.png" Type="http://schemas.openxmlformats.org/officeDocument/2006/relationships/image"/><Relationship Id="rId15" Target="../media/image57.png" Type="http://schemas.openxmlformats.org/officeDocument/2006/relationships/image"/><Relationship Id="rId16" Target="../media/image58.png" Type="http://schemas.openxmlformats.org/officeDocument/2006/relationships/image"/><Relationship Id="rId2" Target="../media/image3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4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4433" y="8385625"/>
            <a:ext cx="10563195" cy="1901375"/>
          </a:xfrm>
          <a:custGeom>
            <a:avLst/>
            <a:gdLst/>
            <a:ahLst/>
            <a:cxnLst/>
            <a:rect r="r" b="b" t="t" l="l"/>
            <a:pathLst>
              <a:path h="1901375" w="10563195">
                <a:moveTo>
                  <a:pt x="0" y="0"/>
                </a:moveTo>
                <a:lnTo>
                  <a:pt x="10563195" y="0"/>
                </a:lnTo>
                <a:lnTo>
                  <a:pt x="10563195" y="1901375"/>
                </a:lnTo>
                <a:lnTo>
                  <a:pt x="0" y="1901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238" y="8385625"/>
            <a:ext cx="10563195" cy="1901375"/>
          </a:xfrm>
          <a:custGeom>
            <a:avLst/>
            <a:gdLst/>
            <a:ahLst/>
            <a:cxnLst/>
            <a:rect r="r" b="b" t="t" l="l"/>
            <a:pathLst>
              <a:path h="1901375" w="10563195">
                <a:moveTo>
                  <a:pt x="0" y="0"/>
                </a:moveTo>
                <a:lnTo>
                  <a:pt x="10563195" y="0"/>
                </a:lnTo>
                <a:lnTo>
                  <a:pt x="10563195" y="1901375"/>
                </a:lnTo>
                <a:lnTo>
                  <a:pt x="0" y="1901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8346" y="2141892"/>
            <a:ext cx="6966696" cy="6282693"/>
          </a:xfrm>
          <a:custGeom>
            <a:avLst/>
            <a:gdLst/>
            <a:ahLst/>
            <a:cxnLst/>
            <a:rect r="r" b="b" t="t" l="l"/>
            <a:pathLst>
              <a:path h="6282693" w="6966696">
                <a:moveTo>
                  <a:pt x="0" y="0"/>
                </a:moveTo>
                <a:lnTo>
                  <a:pt x="6966696" y="0"/>
                </a:lnTo>
                <a:lnTo>
                  <a:pt x="6966696" y="6282693"/>
                </a:lnTo>
                <a:lnTo>
                  <a:pt x="0" y="6282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14094" y="3049290"/>
            <a:ext cx="2513842" cy="4902884"/>
          </a:xfrm>
          <a:custGeom>
            <a:avLst/>
            <a:gdLst/>
            <a:ahLst/>
            <a:cxnLst/>
            <a:rect r="r" b="b" t="t" l="l"/>
            <a:pathLst>
              <a:path h="4902884" w="2513842">
                <a:moveTo>
                  <a:pt x="0" y="0"/>
                </a:moveTo>
                <a:lnTo>
                  <a:pt x="2513842" y="0"/>
                </a:lnTo>
                <a:lnTo>
                  <a:pt x="2513842" y="4902883"/>
                </a:lnTo>
                <a:lnTo>
                  <a:pt x="0" y="4902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82813" y="7127336"/>
            <a:ext cx="10931576" cy="1649674"/>
          </a:xfrm>
          <a:custGeom>
            <a:avLst/>
            <a:gdLst/>
            <a:ahLst/>
            <a:cxnLst/>
            <a:rect r="r" b="b" t="t" l="l"/>
            <a:pathLst>
              <a:path h="1649674" w="10931576">
                <a:moveTo>
                  <a:pt x="0" y="0"/>
                </a:moveTo>
                <a:lnTo>
                  <a:pt x="10931575" y="0"/>
                </a:lnTo>
                <a:lnTo>
                  <a:pt x="10931575" y="1649674"/>
                </a:lnTo>
                <a:lnTo>
                  <a:pt x="0" y="16496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39238" y="7127336"/>
            <a:ext cx="10931576" cy="1649674"/>
          </a:xfrm>
          <a:custGeom>
            <a:avLst/>
            <a:gdLst/>
            <a:ahLst/>
            <a:cxnLst/>
            <a:rect r="r" b="b" t="t" l="l"/>
            <a:pathLst>
              <a:path h="1649674" w="10931576">
                <a:moveTo>
                  <a:pt x="0" y="0"/>
                </a:moveTo>
                <a:lnTo>
                  <a:pt x="10931575" y="0"/>
                </a:lnTo>
                <a:lnTo>
                  <a:pt x="10931575" y="1649674"/>
                </a:lnTo>
                <a:lnTo>
                  <a:pt x="0" y="16496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04036" y="-1555264"/>
            <a:ext cx="3110528" cy="3110528"/>
          </a:xfrm>
          <a:custGeom>
            <a:avLst/>
            <a:gdLst/>
            <a:ahLst/>
            <a:cxnLst/>
            <a:rect r="r" b="b" t="t" l="l"/>
            <a:pathLst>
              <a:path h="3110528" w="3110528">
                <a:moveTo>
                  <a:pt x="0" y="0"/>
                </a:moveTo>
                <a:lnTo>
                  <a:pt x="3110528" y="0"/>
                </a:lnTo>
                <a:lnTo>
                  <a:pt x="3110528" y="3110528"/>
                </a:lnTo>
                <a:lnTo>
                  <a:pt x="0" y="3110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81547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8" y="0"/>
                </a:lnTo>
                <a:lnTo>
                  <a:pt x="748328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29875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7" y="0"/>
                </a:lnTo>
                <a:lnTo>
                  <a:pt x="748327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95673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7" y="0"/>
                </a:lnTo>
                <a:lnTo>
                  <a:pt x="748327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2607" y="-805090"/>
            <a:ext cx="6761431" cy="2360354"/>
          </a:xfrm>
          <a:custGeom>
            <a:avLst/>
            <a:gdLst/>
            <a:ahLst/>
            <a:cxnLst/>
            <a:rect r="r" b="b" t="t" l="l"/>
            <a:pathLst>
              <a:path h="2360354" w="6761431">
                <a:moveTo>
                  <a:pt x="0" y="0"/>
                </a:moveTo>
                <a:lnTo>
                  <a:pt x="6761431" y="0"/>
                </a:lnTo>
                <a:lnTo>
                  <a:pt x="6761431" y="2360354"/>
                </a:lnTo>
                <a:lnTo>
                  <a:pt x="0" y="23603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903546"/>
            <a:ext cx="7315200" cy="1303436"/>
          </a:xfrm>
          <a:custGeom>
            <a:avLst/>
            <a:gdLst/>
            <a:ahLst/>
            <a:cxnLst/>
            <a:rect r="r" b="b" t="t" l="l"/>
            <a:pathLst>
              <a:path h="1303436" w="7315200">
                <a:moveTo>
                  <a:pt x="0" y="0"/>
                </a:moveTo>
                <a:lnTo>
                  <a:pt x="7315200" y="0"/>
                </a:lnTo>
                <a:lnTo>
                  <a:pt x="7315200" y="1303436"/>
                </a:lnTo>
                <a:lnTo>
                  <a:pt x="0" y="13034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380504" y="1576859"/>
            <a:ext cx="9526992" cy="5075288"/>
          </a:xfrm>
          <a:custGeom>
            <a:avLst/>
            <a:gdLst/>
            <a:ahLst/>
            <a:cxnLst/>
            <a:rect r="r" b="b" t="t" l="l"/>
            <a:pathLst>
              <a:path h="5075288" w="9526992">
                <a:moveTo>
                  <a:pt x="0" y="0"/>
                </a:moveTo>
                <a:lnTo>
                  <a:pt x="9526992" y="0"/>
                </a:lnTo>
                <a:lnTo>
                  <a:pt x="9526992" y="5075289"/>
                </a:lnTo>
                <a:lnTo>
                  <a:pt x="0" y="507528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85181" y="7127336"/>
            <a:ext cx="2517638" cy="1075718"/>
          </a:xfrm>
          <a:custGeom>
            <a:avLst/>
            <a:gdLst/>
            <a:ahLst/>
            <a:cxnLst/>
            <a:rect r="r" b="b" t="t" l="l"/>
            <a:pathLst>
              <a:path h="1075718" w="2517638">
                <a:moveTo>
                  <a:pt x="0" y="0"/>
                </a:moveTo>
                <a:lnTo>
                  <a:pt x="2517638" y="0"/>
                </a:lnTo>
                <a:lnTo>
                  <a:pt x="2517638" y="1075719"/>
                </a:lnTo>
                <a:lnTo>
                  <a:pt x="0" y="107571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906000" y="7748607"/>
            <a:ext cx="603953" cy="1028403"/>
          </a:xfrm>
          <a:custGeom>
            <a:avLst/>
            <a:gdLst/>
            <a:ahLst/>
            <a:cxnLst/>
            <a:rect r="r" b="b" t="t" l="l"/>
            <a:pathLst>
              <a:path h="1028403" w="603953">
                <a:moveTo>
                  <a:pt x="0" y="0"/>
                </a:moveTo>
                <a:lnTo>
                  <a:pt x="603953" y="0"/>
                </a:lnTo>
                <a:lnTo>
                  <a:pt x="603953" y="1028403"/>
                </a:lnTo>
                <a:lnTo>
                  <a:pt x="0" y="102840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688087" y="2773380"/>
            <a:ext cx="6921350" cy="2357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89"/>
              </a:lnSpc>
            </a:pPr>
            <a:r>
              <a:rPr lang="en-US" sz="12999">
                <a:solidFill>
                  <a:srgbClr val="001E35"/>
                </a:solidFill>
                <a:latin typeface="Pixelion"/>
                <a:ea typeface="Pixelion"/>
                <a:cs typeface="Pixelion"/>
                <a:sym typeface="Pixelion"/>
              </a:rPr>
              <a:t>Big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12186" y="5351573"/>
            <a:ext cx="8873153" cy="9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>
                <a:solidFill>
                  <a:srgbClr val="001E35"/>
                </a:solidFill>
                <a:latin typeface="Pixelion"/>
                <a:ea typeface="Pixelion"/>
                <a:cs typeface="Pixelion"/>
                <a:sym typeface="Pixelion"/>
              </a:rPr>
              <a:t>Nico, Javi, Ainara, Carlos, Ángel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4433" y="8385625"/>
            <a:ext cx="10563195" cy="1901375"/>
          </a:xfrm>
          <a:custGeom>
            <a:avLst/>
            <a:gdLst/>
            <a:ahLst/>
            <a:cxnLst/>
            <a:rect r="r" b="b" t="t" l="l"/>
            <a:pathLst>
              <a:path h="1901375" w="10563195">
                <a:moveTo>
                  <a:pt x="0" y="0"/>
                </a:moveTo>
                <a:lnTo>
                  <a:pt x="10563195" y="0"/>
                </a:lnTo>
                <a:lnTo>
                  <a:pt x="10563195" y="1901375"/>
                </a:lnTo>
                <a:lnTo>
                  <a:pt x="0" y="1901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238" y="8385625"/>
            <a:ext cx="10563195" cy="1901375"/>
          </a:xfrm>
          <a:custGeom>
            <a:avLst/>
            <a:gdLst/>
            <a:ahLst/>
            <a:cxnLst/>
            <a:rect r="r" b="b" t="t" l="l"/>
            <a:pathLst>
              <a:path h="1901375" w="10563195">
                <a:moveTo>
                  <a:pt x="0" y="0"/>
                </a:moveTo>
                <a:lnTo>
                  <a:pt x="10563195" y="0"/>
                </a:lnTo>
                <a:lnTo>
                  <a:pt x="10563195" y="1901375"/>
                </a:lnTo>
                <a:lnTo>
                  <a:pt x="0" y="1901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8346" y="2141892"/>
            <a:ext cx="6966696" cy="6282693"/>
          </a:xfrm>
          <a:custGeom>
            <a:avLst/>
            <a:gdLst/>
            <a:ahLst/>
            <a:cxnLst/>
            <a:rect r="r" b="b" t="t" l="l"/>
            <a:pathLst>
              <a:path h="6282693" w="6966696">
                <a:moveTo>
                  <a:pt x="0" y="0"/>
                </a:moveTo>
                <a:lnTo>
                  <a:pt x="6966696" y="0"/>
                </a:lnTo>
                <a:lnTo>
                  <a:pt x="6966696" y="6282693"/>
                </a:lnTo>
                <a:lnTo>
                  <a:pt x="0" y="6282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14094" y="3049290"/>
            <a:ext cx="2513842" cy="4902884"/>
          </a:xfrm>
          <a:custGeom>
            <a:avLst/>
            <a:gdLst/>
            <a:ahLst/>
            <a:cxnLst/>
            <a:rect r="r" b="b" t="t" l="l"/>
            <a:pathLst>
              <a:path h="4902884" w="2513842">
                <a:moveTo>
                  <a:pt x="0" y="0"/>
                </a:moveTo>
                <a:lnTo>
                  <a:pt x="2513842" y="0"/>
                </a:lnTo>
                <a:lnTo>
                  <a:pt x="2513842" y="4902883"/>
                </a:lnTo>
                <a:lnTo>
                  <a:pt x="0" y="4902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82813" y="7127336"/>
            <a:ext cx="10931576" cy="1649674"/>
          </a:xfrm>
          <a:custGeom>
            <a:avLst/>
            <a:gdLst/>
            <a:ahLst/>
            <a:cxnLst/>
            <a:rect r="r" b="b" t="t" l="l"/>
            <a:pathLst>
              <a:path h="1649674" w="10931576">
                <a:moveTo>
                  <a:pt x="0" y="0"/>
                </a:moveTo>
                <a:lnTo>
                  <a:pt x="10931575" y="0"/>
                </a:lnTo>
                <a:lnTo>
                  <a:pt x="10931575" y="1649674"/>
                </a:lnTo>
                <a:lnTo>
                  <a:pt x="0" y="16496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39238" y="7127336"/>
            <a:ext cx="10931576" cy="1649674"/>
          </a:xfrm>
          <a:custGeom>
            <a:avLst/>
            <a:gdLst/>
            <a:ahLst/>
            <a:cxnLst/>
            <a:rect r="r" b="b" t="t" l="l"/>
            <a:pathLst>
              <a:path h="1649674" w="10931576">
                <a:moveTo>
                  <a:pt x="0" y="0"/>
                </a:moveTo>
                <a:lnTo>
                  <a:pt x="10931575" y="0"/>
                </a:lnTo>
                <a:lnTo>
                  <a:pt x="10931575" y="1649674"/>
                </a:lnTo>
                <a:lnTo>
                  <a:pt x="0" y="16496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04036" y="-1555264"/>
            <a:ext cx="3110528" cy="3110528"/>
          </a:xfrm>
          <a:custGeom>
            <a:avLst/>
            <a:gdLst/>
            <a:ahLst/>
            <a:cxnLst/>
            <a:rect r="r" b="b" t="t" l="l"/>
            <a:pathLst>
              <a:path h="3110528" w="3110528">
                <a:moveTo>
                  <a:pt x="0" y="0"/>
                </a:moveTo>
                <a:lnTo>
                  <a:pt x="3110528" y="0"/>
                </a:lnTo>
                <a:lnTo>
                  <a:pt x="3110528" y="3110528"/>
                </a:lnTo>
                <a:lnTo>
                  <a:pt x="0" y="3110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81547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8" y="0"/>
                </a:lnTo>
                <a:lnTo>
                  <a:pt x="748328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29875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7" y="0"/>
                </a:lnTo>
                <a:lnTo>
                  <a:pt x="748327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95673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7" y="0"/>
                </a:lnTo>
                <a:lnTo>
                  <a:pt x="748327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2607" y="-805090"/>
            <a:ext cx="6761431" cy="2360354"/>
          </a:xfrm>
          <a:custGeom>
            <a:avLst/>
            <a:gdLst/>
            <a:ahLst/>
            <a:cxnLst/>
            <a:rect r="r" b="b" t="t" l="l"/>
            <a:pathLst>
              <a:path h="2360354" w="6761431">
                <a:moveTo>
                  <a:pt x="0" y="0"/>
                </a:moveTo>
                <a:lnTo>
                  <a:pt x="6761431" y="0"/>
                </a:lnTo>
                <a:lnTo>
                  <a:pt x="6761431" y="2360354"/>
                </a:lnTo>
                <a:lnTo>
                  <a:pt x="0" y="23603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903546"/>
            <a:ext cx="7315200" cy="1303436"/>
          </a:xfrm>
          <a:custGeom>
            <a:avLst/>
            <a:gdLst/>
            <a:ahLst/>
            <a:cxnLst/>
            <a:rect r="r" b="b" t="t" l="l"/>
            <a:pathLst>
              <a:path h="1303436" w="7315200">
                <a:moveTo>
                  <a:pt x="0" y="0"/>
                </a:moveTo>
                <a:lnTo>
                  <a:pt x="7315200" y="0"/>
                </a:lnTo>
                <a:lnTo>
                  <a:pt x="7315200" y="1303436"/>
                </a:lnTo>
                <a:lnTo>
                  <a:pt x="0" y="13034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C0C0C0">
                <a:alpha val="83922"/>
              </a:srgbClr>
            </a:solidFill>
            <a:ln w="104775" cap="sq">
              <a:solidFill>
                <a:srgbClr val="001E35">
                  <a:alpha val="83922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385610" y="1398144"/>
            <a:ext cx="13516780" cy="1479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43"/>
              </a:lnSpc>
            </a:pPr>
            <a:r>
              <a:rPr lang="en-US" sz="8100">
                <a:solidFill>
                  <a:srgbClr val="001E35"/>
                </a:solidFill>
                <a:latin typeface="Pixelion"/>
                <a:ea typeface="Pixelion"/>
                <a:cs typeface="Pixelion"/>
                <a:sym typeface="Pixelion"/>
              </a:rPr>
              <a:t>¿Que vamos a ver?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23323" y="2741140"/>
            <a:ext cx="8073456" cy="498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1940" indent="-585970" lvl="1">
              <a:lnSpc>
                <a:spcPts val="7599"/>
              </a:lnSpc>
              <a:buFont typeface="Arial"/>
              <a:buChar char="•"/>
            </a:pPr>
            <a:r>
              <a:rPr lang="en-US" sz="5428">
                <a:solidFill>
                  <a:srgbClr val="001E35"/>
                </a:solidFill>
                <a:latin typeface="Megapixel"/>
                <a:ea typeface="Megapixel"/>
                <a:cs typeface="Megapixel"/>
                <a:sym typeface="Megapixel"/>
              </a:rPr>
              <a:t>Definición y contexto</a:t>
            </a:r>
          </a:p>
          <a:p>
            <a:pPr algn="l" marL="1171940" indent="-585970" lvl="1">
              <a:lnSpc>
                <a:spcPts val="7599"/>
              </a:lnSpc>
              <a:buFont typeface="Arial"/>
              <a:buChar char="•"/>
            </a:pPr>
            <a:r>
              <a:rPr lang="en-US" sz="5428">
                <a:solidFill>
                  <a:srgbClr val="001E35"/>
                </a:solidFill>
                <a:latin typeface="Megapixel"/>
                <a:ea typeface="Megapixel"/>
                <a:cs typeface="Megapixel"/>
                <a:sym typeface="Megapixel"/>
              </a:rPr>
              <a:t>Para que lo utilizamos</a:t>
            </a:r>
          </a:p>
          <a:p>
            <a:pPr algn="l" marL="1171940" indent="-585970" lvl="1">
              <a:lnSpc>
                <a:spcPts val="7599"/>
              </a:lnSpc>
              <a:buFont typeface="Arial"/>
              <a:buChar char="•"/>
            </a:pPr>
            <a:r>
              <a:rPr lang="en-US" sz="5428">
                <a:solidFill>
                  <a:srgbClr val="001E35"/>
                </a:solidFill>
                <a:latin typeface="Megapixel"/>
                <a:ea typeface="Megapixel"/>
                <a:cs typeface="Megapixel"/>
                <a:sym typeface="Megapixel"/>
              </a:rPr>
              <a:t>Proyectos reales de BIG DATA</a:t>
            </a:r>
          </a:p>
          <a:p>
            <a:pPr algn="l" marL="1171940" indent="-585970" lvl="1">
              <a:lnSpc>
                <a:spcPts val="7599"/>
              </a:lnSpc>
              <a:buFont typeface="Arial"/>
              <a:buChar char="•"/>
            </a:pPr>
            <a:r>
              <a:rPr lang="en-US" sz="5428">
                <a:solidFill>
                  <a:srgbClr val="001E35"/>
                </a:solidFill>
                <a:latin typeface="Megapixel"/>
                <a:ea typeface="Megapixel"/>
                <a:cs typeface="Megapixel"/>
                <a:sym typeface="Megapixel"/>
              </a:rPr>
              <a:t>Tecnologías utilizadas.</a:t>
            </a:r>
          </a:p>
          <a:p>
            <a:pPr algn="l" marL="1171940" indent="-585970" lvl="1">
              <a:lnSpc>
                <a:spcPts val="7599"/>
              </a:lnSpc>
              <a:buFont typeface="Arial"/>
              <a:buChar char="•"/>
            </a:pPr>
            <a:r>
              <a:rPr lang="en-US" sz="5428">
                <a:solidFill>
                  <a:srgbClr val="001E35"/>
                </a:solidFill>
                <a:latin typeface="Megapixel"/>
                <a:ea typeface="Megapixel"/>
                <a:cs typeface="Megapixel"/>
                <a:sym typeface="Megapixel"/>
              </a:rPr>
              <a:t>Empresas de BIG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4433" y="8385625"/>
            <a:ext cx="10563195" cy="1901375"/>
          </a:xfrm>
          <a:custGeom>
            <a:avLst/>
            <a:gdLst/>
            <a:ahLst/>
            <a:cxnLst/>
            <a:rect r="r" b="b" t="t" l="l"/>
            <a:pathLst>
              <a:path h="1901375" w="10563195">
                <a:moveTo>
                  <a:pt x="0" y="0"/>
                </a:moveTo>
                <a:lnTo>
                  <a:pt x="10563195" y="0"/>
                </a:lnTo>
                <a:lnTo>
                  <a:pt x="10563195" y="1901375"/>
                </a:lnTo>
                <a:lnTo>
                  <a:pt x="0" y="1901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238" y="8385625"/>
            <a:ext cx="10563195" cy="1901375"/>
          </a:xfrm>
          <a:custGeom>
            <a:avLst/>
            <a:gdLst/>
            <a:ahLst/>
            <a:cxnLst/>
            <a:rect r="r" b="b" t="t" l="l"/>
            <a:pathLst>
              <a:path h="1901375" w="10563195">
                <a:moveTo>
                  <a:pt x="0" y="0"/>
                </a:moveTo>
                <a:lnTo>
                  <a:pt x="10563195" y="0"/>
                </a:lnTo>
                <a:lnTo>
                  <a:pt x="10563195" y="1901375"/>
                </a:lnTo>
                <a:lnTo>
                  <a:pt x="0" y="1901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8346" y="2141892"/>
            <a:ext cx="6966696" cy="6282693"/>
          </a:xfrm>
          <a:custGeom>
            <a:avLst/>
            <a:gdLst/>
            <a:ahLst/>
            <a:cxnLst/>
            <a:rect r="r" b="b" t="t" l="l"/>
            <a:pathLst>
              <a:path h="6282693" w="6966696">
                <a:moveTo>
                  <a:pt x="0" y="0"/>
                </a:moveTo>
                <a:lnTo>
                  <a:pt x="6966696" y="0"/>
                </a:lnTo>
                <a:lnTo>
                  <a:pt x="6966696" y="6282693"/>
                </a:lnTo>
                <a:lnTo>
                  <a:pt x="0" y="6282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14094" y="3049290"/>
            <a:ext cx="2513842" cy="4902884"/>
          </a:xfrm>
          <a:custGeom>
            <a:avLst/>
            <a:gdLst/>
            <a:ahLst/>
            <a:cxnLst/>
            <a:rect r="r" b="b" t="t" l="l"/>
            <a:pathLst>
              <a:path h="4902884" w="2513842">
                <a:moveTo>
                  <a:pt x="0" y="0"/>
                </a:moveTo>
                <a:lnTo>
                  <a:pt x="2513842" y="0"/>
                </a:lnTo>
                <a:lnTo>
                  <a:pt x="2513842" y="4902883"/>
                </a:lnTo>
                <a:lnTo>
                  <a:pt x="0" y="4902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82813" y="7127336"/>
            <a:ext cx="10931576" cy="1649674"/>
          </a:xfrm>
          <a:custGeom>
            <a:avLst/>
            <a:gdLst/>
            <a:ahLst/>
            <a:cxnLst/>
            <a:rect r="r" b="b" t="t" l="l"/>
            <a:pathLst>
              <a:path h="1649674" w="10931576">
                <a:moveTo>
                  <a:pt x="0" y="0"/>
                </a:moveTo>
                <a:lnTo>
                  <a:pt x="10931575" y="0"/>
                </a:lnTo>
                <a:lnTo>
                  <a:pt x="10931575" y="1649674"/>
                </a:lnTo>
                <a:lnTo>
                  <a:pt x="0" y="16496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39238" y="7127336"/>
            <a:ext cx="10931576" cy="1649674"/>
          </a:xfrm>
          <a:custGeom>
            <a:avLst/>
            <a:gdLst/>
            <a:ahLst/>
            <a:cxnLst/>
            <a:rect r="r" b="b" t="t" l="l"/>
            <a:pathLst>
              <a:path h="1649674" w="10931576">
                <a:moveTo>
                  <a:pt x="0" y="0"/>
                </a:moveTo>
                <a:lnTo>
                  <a:pt x="10931575" y="0"/>
                </a:lnTo>
                <a:lnTo>
                  <a:pt x="10931575" y="1649674"/>
                </a:lnTo>
                <a:lnTo>
                  <a:pt x="0" y="16496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04036" y="-1555264"/>
            <a:ext cx="3110528" cy="3110528"/>
          </a:xfrm>
          <a:custGeom>
            <a:avLst/>
            <a:gdLst/>
            <a:ahLst/>
            <a:cxnLst/>
            <a:rect r="r" b="b" t="t" l="l"/>
            <a:pathLst>
              <a:path h="3110528" w="3110528">
                <a:moveTo>
                  <a:pt x="0" y="0"/>
                </a:moveTo>
                <a:lnTo>
                  <a:pt x="3110528" y="0"/>
                </a:lnTo>
                <a:lnTo>
                  <a:pt x="3110528" y="3110528"/>
                </a:lnTo>
                <a:lnTo>
                  <a:pt x="0" y="3110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81547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8" y="0"/>
                </a:lnTo>
                <a:lnTo>
                  <a:pt x="748328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29875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7" y="0"/>
                </a:lnTo>
                <a:lnTo>
                  <a:pt x="748327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95673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7" y="0"/>
                </a:lnTo>
                <a:lnTo>
                  <a:pt x="748327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2607" y="-805090"/>
            <a:ext cx="6761431" cy="2360354"/>
          </a:xfrm>
          <a:custGeom>
            <a:avLst/>
            <a:gdLst/>
            <a:ahLst/>
            <a:cxnLst/>
            <a:rect r="r" b="b" t="t" l="l"/>
            <a:pathLst>
              <a:path h="2360354" w="6761431">
                <a:moveTo>
                  <a:pt x="0" y="0"/>
                </a:moveTo>
                <a:lnTo>
                  <a:pt x="6761431" y="0"/>
                </a:lnTo>
                <a:lnTo>
                  <a:pt x="6761431" y="2360354"/>
                </a:lnTo>
                <a:lnTo>
                  <a:pt x="0" y="23603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903546"/>
            <a:ext cx="7315200" cy="1303436"/>
          </a:xfrm>
          <a:custGeom>
            <a:avLst/>
            <a:gdLst/>
            <a:ahLst/>
            <a:cxnLst/>
            <a:rect r="r" b="b" t="t" l="l"/>
            <a:pathLst>
              <a:path h="1303436" w="7315200">
                <a:moveTo>
                  <a:pt x="0" y="0"/>
                </a:moveTo>
                <a:lnTo>
                  <a:pt x="7315200" y="0"/>
                </a:lnTo>
                <a:lnTo>
                  <a:pt x="7315200" y="1303436"/>
                </a:lnTo>
                <a:lnTo>
                  <a:pt x="0" y="13034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C0C0C0">
                <a:alpha val="83922"/>
              </a:srgbClr>
            </a:solidFill>
            <a:ln w="104775" cap="sq">
              <a:solidFill>
                <a:srgbClr val="001E35">
                  <a:alpha val="83922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390372" y="1272324"/>
            <a:ext cx="13516780" cy="149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5"/>
              </a:lnSpc>
            </a:pPr>
            <a:r>
              <a:rPr lang="en-US" sz="8199">
                <a:solidFill>
                  <a:srgbClr val="001E35"/>
                </a:solidFill>
                <a:latin typeface="Pixelion"/>
                <a:ea typeface="Pixelion"/>
                <a:cs typeface="Pixelion"/>
                <a:sym typeface="Pixelion"/>
              </a:rPr>
              <a:t>Definición y concepto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07488" y="2503562"/>
            <a:ext cx="13882549" cy="66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155">
                <a:solidFill>
                  <a:srgbClr val="001E35"/>
                </a:solidFill>
                <a:latin typeface="Nourd"/>
                <a:ea typeface="Nourd"/>
                <a:cs typeface="Nourd"/>
                <a:sym typeface="Nourd"/>
              </a:rPr>
              <a:t>Big data se refiere a un conjunto de técnicas de análisis que manejan conjuntos de datos muy grandes y complejos que con el tiempo crecen exponencialmente y que no pueden ser procesados por herramientas tradicionales.</a:t>
            </a:r>
          </a:p>
          <a:p>
            <a:pPr algn="l">
              <a:lnSpc>
                <a:spcPts val="4417"/>
              </a:lnSpc>
            </a:pPr>
            <a:r>
              <a:rPr lang="en-US" sz="3155">
                <a:solidFill>
                  <a:srgbClr val="001E35"/>
                </a:solidFill>
                <a:latin typeface="Nourd"/>
                <a:ea typeface="Nourd"/>
                <a:cs typeface="Nourd"/>
                <a:sym typeface="Nourd"/>
              </a:rPr>
              <a:t>El concepto de Big Data se define por las “5V”:</a:t>
            </a:r>
          </a:p>
          <a:p>
            <a:pPr algn="l" marL="681290" indent="-340645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001E35"/>
                </a:solidFill>
                <a:latin typeface="Nourd"/>
                <a:ea typeface="Nourd"/>
                <a:cs typeface="Nourd"/>
                <a:sym typeface="Nourd"/>
              </a:rPr>
              <a:t>Volumen: La cantidad de datos a analizar.</a:t>
            </a:r>
          </a:p>
          <a:p>
            <a:pPr algn="l" marL="681290" indent="-340645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001E35"/>
                </a:solidFill>
                <a:latin typeface="Nourd"/>
                <a:ea typeface="Nourd"/>
                <a:cs typeface="Nourd"/>
                <a:sym typeface="Nourd"/>
              </a:rPr>
              <a:t>Velocidad: La velocidad a la que los datos entran en un sistema.</a:t>
            </a:r>
          </a:p>
          <a:p>
            <a:pPr algn="l" marL="681290" indent="-340645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001E35"/>
                </a:solidFill>
                <a:latin typeface="Nourd"/>
                <a:ea typeface="Nourd"/>
                <a:cs typeface="Nourd"/>
                <a:sym typeface="Nourd"/>
              </a:rPr>
              <a:t>Variedad: Se refiere a los diferentes formatos que es capaz de adaptar el Big Data. (Estructurados, no estructurados, texto, json, xml...)</a:t>
            </a:r>
          </a:p>
          <a:p>
            <a:pPr algn="l" marL="681290" indent="-340645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001E35"/>
                </a:solidFill>
                <a:latin typeface="Nourd"/>
                <a:ea typeface="Nourd"/>
                <a:cs typeface="Nourd"/>
                <a:sym typeface="Nourd"/>
              </a:rPr>
              <a:t>Veracidad: Hace referencia a la exactitud y fiabilidad de los datos. </a:t>
            </a:r>
          </a:p>
          <a:p>
            <a:pPr algn="l" marL="681290" indent="-340645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001E35"/>
                </a:solidFill>
                <a:latin typeface="Nourd"/>
                <a:ea typeface="Nourd"/>
                <a:cs typeface="Nourd"/>
                <a:sym typeface="Nourd"/>
              </a:rPr>
              <a:t>Valor: Los beneficios reales que las organizaciones obtienen del big data.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4433" y="8385625"/>
            <a:ext cx="10563195" cy="1901375"/>
          </a:xfrm>
          <a:custGeom>
            <a:avLst/>
            <a:gdLst/>
            <a:ahLst/>
            <a:cxnLst/>
            <a:rect r="r" b="b" t="t" l="l"/>
            <a:pathLst>
              <a:path h="1901375" w="10563195">
                <a:moveTo>
                  <a:pt x="0" y="0"/>
                </a:moveTo>
                <a:lnTo>
                  <a:pt x="10563195" y="0"/>
                </a:lnTo>
                <a:lnTo>
                  <a:pt x="10563195" y="1901375"/>
                </a:lnTo>
                <a:lnTo>
                  <a:pt x="0" y="1901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238" y="8385625"/>
            <a:ext cx="10563195" cy="1901375"/>
          </a:xfrm>
          <a:custGeom>
            <a:avLst/>
            <a:gdLst/>
            <a:ahLst/>
            <a:cxnLst/>
            <a:rect r="r" b="b" t="t" l="l"/>
            <a:pathLst>
              <a:path h="1901375" w="10563195">
                <a:moveTo>
                  <a:pt x="0" y="0"/>
                </a:moveTo>
                <a:lnTo>
                  <a:pt x="10563195" y="0"/>
                </a:lnTo>
                <a:lnTo>
                  <a:pt x="10563195" y="1901375"/>
                </a:lnTo>
                <a:lnTo>
                  <a:pt x="0" y="1901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8346" y="2141892"/>
            <a:ext cx="6966696" cy="6282693"/>
          </a:xfrm>
          <a:custGeom>
            <a:avLst/>
            <a:gdLst/>
            <a:ahLst/>
            <a:cxnLst/>
            <a:rect r="r" b="b" t="t" l="l"/>
            <a:pathLst>
              <a:path h="6282693" w="6966696">
                <a:moveTo>
                  <a:pt x="0" y="0"/>
                </a:moveTo>
                <a:lnTo>
                  <a:pt x="6966696" y="0"/>
                </a:lnTo>
                <a:lnTo>
                  <a:pt x="6966696" y="6282693"/>
                </a:lnTo>
                <a:lnTo>
                  <a:pt x="0" y="6282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14094" y="3049290"/>
            <a:ext cx="2513842" cy="4902884"/>
          </a:xfrm>
          <a:custGeom>
            <a:avLst/>
            <a:gdLst/>
            <a:ahLst/>
            <a:cxnLst/>
            <a:rect r="r" b="b" t="t" l="l"/>
            <a:pathLst>
              <a:path h="4902884" w="2513842">
                <a:moveTo>
                  <a:pt x="0" y="0"/>
                </a:moveTo>
                <a:lnTo>
                  <a:pt x="2513842" y="0"/>
                </a:lnTo>
                <a:lnTo>
                  <a:pt x="2513842" y="4902883"/>
                </a:lnTo>
                <a:lnTo>
                  <a:pt x="0" y="4902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82813" y="7127336"/>
            <a:ext cx="10931576" cy="1649674"/>
          </a:xfrm>
          <a:custGeom>
            <a:avLst/>
            <a:gdLst/>
            <a:ahLst/>
            <a:cxnLst/>
            <a:rect r="r" b="b" t="t" l="l"/>
            <a:pathLst>
              <a:path h="1649674" w="10931576">
                <a:moveTo>
                  <a:pt x="0" y="0"/>
                </a:moveTo>
                <a:lnTo>
                  <a:pt x="10931575" y="0"/>
                </a:lnTo>
                <a:lnTo>
                  <a:pt x="10931575" y="1649674"/>
                </a:lnTo>
                <a:lnTo>
                  <a:pt x="0" y="16496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39238" y="7127336"/>
            <a:ext cx="10931576" cy="1649674"/>
          </a:xfrm>
          <a:custGeom>
            <a:avLst/>
            <a:gdLst/>
            <a:ahLst/>
            <a:cxnLst/>
            <a:rect r="r" b="b" t="t" l="l"/>
            <a:pathLst>
              <a:path h="1649674" w="10931576">
                <a:moveTo>
                  <a:pt x="0" y="0"/>
                </a:moveTo>
                <a:lnTo>
                  <a:pt x="10931575" y="0"/>
                </a:lnTo>
                <a:lnTo>
                  <a:pt x="10931575" y="1649674"/>
                </a:lnTo>
                <a:lnTo>
                  <a:pt x="0" y="16496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04036" y="-1555264"/>
            <a:ext cx="3110528" cy="3110528"/>
          </a:xfrm>
          <a:custGeom>
            <a:avLst/>
            <a:gdLst/>
            <a:ahLst/>
            <a:cxnLst/>
            <a:rect r="r" b="b" t="t" l="l"/>
            <a:pathLst>
              <a:path h="3110528" w="3110528">
                <a:moveTo>
                  <a:pt x="0" y="0"/>
                </a:moveTo>
                <a:lnTo>
                  <a:pt x="3110528" y="0"/>
                </a:lnTo>
                <a:lnTo>
                  <a:pt x="3110528" y="3110528"/>
                </a:lnTo>
                <a:lnTo>
                  <a:pt x="0" y="3110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81547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8" y="0"/>
                </a:lnTo>
                <a:lnTo>
                  <a:pt x="748328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29875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7" y="0"/>
                </a:lnTo>
                <a:lnTo>
                  <a:pt x="748327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95673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7" y="0"/>
                </a:lnTo>
                <a:lnTo>
                  <a:pt x="748327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87331" y="-466112"/>
            <a:ext cx="6761431" cy="2360354"/>
          </a:xfrm>
          <a:custGeom>
            <a:avLst/>
            <a:gdLst/>
            <a:ahLst/>
            <a:cxnLst/>
            <a:rect r="r" b="b" t="t" l="l"/>
            <a:pathLst>
              <a:path h="2360354" w="6761431">
                <a:moveTo>
                  <a:pt x="0" y="0"/>
                </a:moveTo>
                <a:lnTo>
                  <a:pt x="6761431" y="0"/>
                </a:lnTo>
                <a:lnTo>
                  <a:pt x="6761431" y="2360354"/>
                </a:lnTo>
                <a:lnTo>
                  <a:pt x="0" y="23603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73590" y="251828"/>
            <a:ext cx="7315200" cy="1303436"/>
          </a:xfrm>
          <a:custGeom>
            <a:avLst/>
            <a:gdLst/>
            <a:ahLst/>
            <a:cxnLst/>
            <a:rect r="r" b="b" t="t" l="l"/>
            <a:pathLst>
              <a:path h="1303436" w="7315200">
                <a:moveTo>
                  <a:pt x="0" y="0"/>
                </a:moveTo>
                <a:lnTo>
                  <a:pt x="7315200" y="0"/>
                </a:lnTo>
                <a:lnTo>
                  <a:pt x="7315200" y="1303436"/>
                </a:lnTo>
                <a:lnTo>
                  <a:pt x="0" y="13034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702052" y="2521384"/>
            <a:ext cx="8557248" cy="3544519"/>
            <a:chOff x="0" y="0"/>
            <a:chExt cx="2253761" cy="9335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53761" cy="933536"/>
            </a:xfrm>
            <a:custGeom>
              <a:avLst/>
              <a:gdLst/>
              <a:ahLst/>
              <a:cxnLst/>
              <a:rect r="r" b="b" t="t" l="l"/>
              <a:pathLst>
                <a:path h="933536" w="2253761">
                  <a:moveTo>
                    <a:pt x="46141" y="0"/>
                  </a:moveTo>
                  <a:lnTo>
                    <a:pt x="2207620" y="0"/>
                  </a:lnTo>
                  <a:cubicBezTo>
                    <a:pt x="2219857" y="0"/>
                    <a:pt x="2231593" y="4861"/>
                    <a:pt x="2240246" y="13514"/>
                  </a:cubicBezTo>
                  <a:cubicBezTo>
                    <a:pt x="2248899" y="22167"/>
                    <a:pt x="2253761" y="33903"/>
                    <a:pt x="2253761" y="46141"/>
                  </a:cubicBezTo>
                  <a:lnTo>
                    <a:pt x="2253761" y="887395"/>
                  </a:lnTo>
                  <a:cubicBezTo>
                    <a:pt x="2253761" y="912878"/>
                    <a:pt x="2233103" y="933536"/>
                    <a:pt x="2207620" y="933536"/>
                  </a:cubicBezTo>
                  <a:lnTo>
                    <a:pt x="46141" y="933536"/>
                  </a:lnTo>
                  <a:cubicBezTo>
                    <a:pt x="33903" y="933536"/>
                    <a:pt x="22167" y="928675"/>
                    <a:pt x="13514" y="920022"/>
                  </a:cubicBezTo>
                  <a:cubicBezTo>
                    <a:pt x="4861" y="911368"/>
                    <a:pt x="0" y="899632"/>
                    <a:pt x="0" y="887395"/>
                  </a:cubicBezTo>
                  <a:lnTo>
                    <a:pt x="0" y="46141"/>
                  </a:lnTo>
                  <a:cubicBezTo>
                    <a:pt x="0" y="20658"/>
                    <a:pt x="20658" y="0"/>
                    <a:pt x="46141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85725" cap="rnd">
              <a:solidFill>
                <a:srgbClr val="000000">
                  <a:alpha val="89804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53761" cy="971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3779"/>
                </a:lnSpc>
              </a:pPr>
              <a:r>
                <a:rPr lang="en-US" sz="2699" b="true">
                  <a:solidFill>
                    <a:srgbClr val="000000">
                      <a:alpha val="89804"/>
                    </a:srgbClr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 Big Data es utilizado para analizar grandes volúmenes de datos y para extraer la información más relevante ayudando a tomar mejores decisiones: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02052" y="6065903"/>
            <a:ext cx="8557248" cy="3409868"/>
            <a:chOff x="0" y="0"/>
            <a:chExt cx="2253761" cy="898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53761" cy="898072"/>
            </a:xfrm>
            <a:custGeom>
              <a:avLst/>
              <a:gdLst/>
              <a:ahLst/>
              <a:cxnLst/>
              <a:rect r="r" b="b" t="t" l="l"/>
              <a:pathLst>
                <a:path h="898072" w="2253761">
                  <a:moveTo>
                    <a:pt x="46141" y="0"/>
                  </a:moveTo>
                  <a:lnTo>
                    <a:pt x="2207620" y="0"/>
                  </a:lnTo>
                  <a:cubicBezTo>
                    <a:pt x="2219857" y="0"/>
                    <a:pt x="2231593" y="4861"/>
                    <a:pt x="2240246" y="13514"/>
                  </a:cubicBezTo>
                  <a:cubicBezTo>
                    <a:pt x="2248899" y="22167"/>
                    <a:pt x="2253761" y="33903"/>
                    <a:pt x="2253761" y="46141"/>
                  </a:cubicBezTo>
                  <a:lnTo>
                    <a:pt x="2253761" y="851931"/>
                  </a:lnTo>
                  <a:cubicBezTo>
                    <a:pt x="2253761" y="877414"/>
                    <a:pt x="2233103" y="898072"/>
                    <a:pt x="2207620" y="898072"/>
                  </a:cubicBezTo>
                  <a:lnTo>
                    <a:pt x="46141" y="898072"/>
                  </a:lnTo>
                  <a:cubicBezTo>
                    <a:pt x="20658" y="898072"/>
                    <a:pt x="0" y="877414"/>
                    <a:pt x="0" y="851931"/>
                  </a:cubicBezTo>
                  <a:lnTo>
                    <a:pt x="0" y="46141"/>
                  </a:lnTo>
                  <a:cubicBezTo>
                    <a:pt x="0" y="20658"/>
                    <a:pt x="20658" y="0"/>
                    <a:pt x="46141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85725" cap="rnd">
              <a:solidFill>
                <a:srgbClr val="000000">
                  <a:alpha val="89804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53761" cy="936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true">
                  <a:solidFill>
                    <a:srgbClr val="000000">
                      <a:alpha val="89804"/>
                    </a:srgbClr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Por ejemplo para empresas y marketing se utiliza para predecir tendencias y analizar el consumo de mercado, para salud diagnósticos por datos o en deportes para analizar el rendimiento de jugadores, diseñar estrategias de juego.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346930" y="4079189"/>
            <a:ext cx="4235323" cy="6356958"/>
          </a:xfrm>
          <a:custGeom>
            <a:avLst/>
            <a:gdLst/>
            <a:ahLst/>
            <a:cxnLst/>
            <a:rect r="r" b="b" t="t" l="l"/>
            <a:pathLst>
              <a:path h="6356958" w="4235323">
                <a:moveTo>
                  <a:pt x="0" y="0"/>
                </a:moveTo>
                <a:lnTo>
                  <a:pt x="4235323" y="0"/>
                </a:lnTo>
                <a:lnTo>
                  <a:pt x="42353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58953" y="298887"/>
            <a:ext cx="14438498" cy="15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21"/>
              </a:lnSpc>
            </a:pPr>
            <a:r>
              <a:rPr lang="en-US" sz="8759">
                <a:solidFill>
                  <a:srgbClr val="FFFFFF"/>
                </a:solidFill>
                <a:latin typeface="Pixelion"/>
                <a:ea typeface="Pixelion"/>
                <a:cs typeface="Pixelion"/>
                <a:sym typeface="Pixelion"/>
              </a:rPr>
              <a:t>¿Para qué lo utilizamos?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8346" y="2141892"/>
            <a:ext cx="6966696" cy="6282693"/>
          </a:xfrm>
          <a:custGeom>
            <a:avLst/>
            <a:gdLst/>
            <a:ahLst/>
            <a:cxnLst/>
            <a:rect r="r" b="b" t="t" l="l"/>
            <a:pathLst>
              <a:path h="6282693" w="6966696">
                <a:moveTo>
                  <a:pt x="0" y="0"/>
                </a:moveTo>
                <a:lnTo>
                  <a:pt x="6966696" y="0"/>
                </a:lnTo>
                <a:lnTo>
                  <a:pt x="6966696" y="6282693"/>
                </a:lnTo>
                <a:lnTo>
                  <a:pt x="0" y="62826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14433" y="8385625"/>
            <a:ext cx="10563195" cy="1901375"/>
          </a:xfrm>
          <a:custGeom>
            <a:avLst/>
            <a:gdLst/>
            <a:ahLst/>
            <a:cxnLst/>
            <a:rect r="r" b="b" t="t" l="l"/>
            <a:pathLst>
              <a:path h="1901375" w="10563195">
                <a:moveTo>
                  <a:pt x="0" y="0"/>
                </a:moveTo>
                <a:lnTo>
                  <a:pt x="10563195" y="0"/>
                </a:lnTo>
                <a:lnTo>
                  <a:pt x="10563195" y="1901375"/>
                </a:lnTo>
                <a:lnTo>
                  <a:pt x="0" y="190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39238" y="8385625"/>
            <a:ext cx="10563195" cy="1901375"/>
          </a:xfrm>
          <a:custGeom>
            <a:avLst/>
            <a:gdLst/>
            <a:ahLst/>
            <a:cxnLst/>
            <a:rect r="r" b="b" t="t" l="l"/>
            <a:pathLst>
              <a:path h="1901375" w="10563195">
                <a:moveTo>
                  <a:pt x="0" y="0"/>
                </a:moveTo>
                <a:lnTo>
                  <a:pt x="10563195" y="0"/>
                </a:lnTo>
                <a:lnTo>
                  <a:pt x="10563195" y="1901375"/>
                </a:lnTo>
                <a:lnTo>
                  <a:pt x="0" y="190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903546"/>
            <a:ext cx="7315200" cy="1303436"/>
          </a:xfrm>
          <a:custGeom>
            <a:avLst/>
            <a:gdLst/>
            <a:ahLst/>
            <a:cxnLst/>
            <a:rect r="r" b="b" t="t" l="l"/>
            <a:pathLst>
              <a:path h="1303436" w="7315200">
                <a:moveTo>
                  <a:pt x="0" y="0"/>
                </a:moveTo>
                <a:lnTo>
                  <a:pt x="7315200" y="0"/>
                </a:lnTo>
                <a:lnTo>
                  <a:pt x="7315200" y="1303436"/>
                </a:lnTo>
                <a:lnTo>
                  <a:pt x="0" y="13034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607" y="-805090"/>
            <a:ext cx="6761431" cy="2360354"/>
          </a:xfrm>
          <a:custGeom>
            <a:avLst/>
            <a:gdLst/>
            <a:ahLst/>
            <a:cxnLst/>
            <a:rect r="r" b="b" t="t" l="l"/>
            <a:pathLst>
              <a:path h="2360354" w="6761431">
                <a:moveTo>
                  <a:pt x="0" y="0"/>
                </a:moveTo>
                <a:lnTo>
                  <a:pt x="6761431" y="0"/>
                </a:lnTo>
                <a:lnTo>
                  <a:pt x="6761431" y="2360354"/>
                </a:lnTo>
                <a:lnTo>
                  <a:pt x="0" y="23603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556597" y="834141"/>
            <a:ext cx="13147439" cy="1442246"/>
            <a:chOff x="0" y="0"/>
            <a:chExt cx="3462700" cy="3798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62700" cy="379851"/>
            </a:xfrm>
            <a:custGeom>
              <a:avLst/>
              <a:gdLst/>
              <a:ahLst/>
              <a:cxnLst/>
              <a:rect r="r" b="b" t="t" l="l"/>
              <a:pathLst>
                <a:path h="379851" w="3462700">
                  <a:moveTo>
                    <a:pt x="30032" y="0"/>
                  </a:moveTo>
                  <a:lnTo>
                    <a:pt x="3432668" y="0"/>
                  </a:lnTo>
                  <a:cubicBezTo>
                    <a:pt x="3440633" y="0"/>
                    <a:pt x="3448272" y="3164"/>
                    <a:pt x="3453904" y="8796"/>
                  </a:cubicBezTo>
                  <a:cubicBezTo>
                    <a:pt x="3459536" y="14428"/>
                    <a:pt x="3462700" y="22067"/>
                    <a:pt x="3462700" y="30032"/>
                  </a:cubicBezTo>
                  <a:lnTo>
                    <a:pt x="3462700" y="349819"/>
                  </a:lnTo>
                  <a:cubicBezTo>
                    <a:pt x="3462700" y="366405"/>
                    <a:pt x="3449254" y="379851"/>
                    <a:pt x="3432668" y="379851"/>
                  </a:cubicBezTo>
                  <a:lnTo>
                    <a:pt x="30032" y="379851"/>
                  </a:lnTo>
                  <a:cubicBezTo>
                    <a:pt x="22067" y="379851"/>
                    <a:pt x="14428" y="376687"/>
                    <a:pt x="8796" y="371055"/>
                  </a:cubicBezTo>
                  <a:cubicBezTo>
                    <a:pt x="3164" y="365423"/>
                    <a:pt x="0" y="357784"/>
                    <a:pt x="0" y="349819"/>
                  </a:cubicBezTo>
                  <a:lnTo>
                    <a:pt x="0" y="30032"/>
                  </a:lnTo>
                  <a:cubicBezTo>
                    <a:pt x="0" y="13446"/>
                    <a:pt x="13446" y="0"/>
                    <a:pt x="30032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85725" cap="rnd">
              <a:solidFill>
                <a:srgbClr val="000000">
                  <a:alpha val="89804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462700" cy="427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214094" y="3049290"/>
            <a:ext cx="2513842" cy="4902884"/>
          </a:xfrm>
          <a:custGeom>
            <a:avLst/>
            <a:gdLst/>
            <a:ahLst/>
            <a:cxnLst/>
            <a:rect r="r" b="b" t="t" l="l"/>
            <a:pathLst>
              <a:path h="4902884" w="2513842">
                <a:moveTo>
                  <a:pt x="0" y="0"/>
                </a:moveTo>
                <a:lnTo>
                  <a:pt x="2513842" y="0"/>
                </a:lnTo>
                <a:lnTo>
                  <a:pt x="2513842" y="4902883"/>
                </a:lnTo>
                <a:lnTo>
                  <a:pt x="0" y="49028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782813" y="7127336"/>
            <a:ext cx="10931576" cy="1649674"/>
          </a:xfrm>
          <a:custGeom>
            <a:avLst/>
            <a:gdLst/>
            <a:ahLst/>
            <a:cxnLst/>
            <a:rect r="r" b="b" t="t" l="l"/>
            <a:pathLst>
              <a:path h="1649674" w="10931576">
                <a:moveTo>
                  <a:pt x="0" y="0"/>
                </a:moveTo>
                <a:lnTo>
                  <a:pt x="10931575" y="0"/>
                </a:lnTo>
                <a:lnTo>
                  <a:pt x="10931575" y="1649674"/>
                </a:lnTo>
                <a:lnTo>
                  <a:pt x="0" y="16496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39238" y="7127336"/>
            <a:ext cx="10931576" cy="1649674"/>
          </a:xfrm>
          <a:custGeom>
            <a:avLst/>
            <a:gdLst/>
            <a:ahLst/>
            <a:cxnLst/>
            <a:rect r="r" b="b" t="t" l="l"/>
            <a:pathLst>
              <a:path h="1649674" w="10931576">
                <a:moveTo>
                  <a:pt x="0" y="0"/>
                </a:moveTo>
                <a:lnTo>
                  <a:pt x="10931575" y="0"/>
                </a:lnTo>
                <a:lnTo>
                  <a:pt x="10931575" y="1649674"/>
                </a:lnTo>
                <a:lnTo>
                  <a:pt x="0" y="16496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04036" y="-1555264"/>
            <a:ext cx="3110528" cy="3110528"/>
          </a:xfrm>
          <a:custGeom>
            <a:avLst/>
            <a:gdLst/>
            <a:ahLst/>
            <a:cxnLst/>
            <a:rect r="r" b="b" t="t" l="l"/>
            <a:pathLst>
              <a:path h="3110528" w="3110528">
                <a:moveTo>
                  <a:pt x="0" y="0"/>
                </a:moveTo>
                <a:lnTo>
                  <a:pt x="3110528" y="0"/>
                </a:lnTo>
                <a:lnTo>
                  <a:pt x="3110528" y="3110528"/>
                </a:lnTo>
                <a:lnTo>
                  <a:pt x="0" y="31105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881547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8" y="0"/>
                </a:lnTo>
                <a:lnTo>
                  <a:pt x="748328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629875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7" y="0"/>
                </a:lnTo>
                <a:lnTo>
                  <a:pt x="748327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395673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7" y="0"/>
                </a:lnTo>
                <a:lnTo>
                  <a:pt x="748327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318072" y="2722382"/>
            <a:ext cx="6385964" cy="2560857"/>
            <a:chOff x="0" y="0"/>
            <a:chExt cx="1681900" cy="6744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81900" cy="674464"/>
            </a:xfrm>
            <a:custGeom>
              <a:avLst/>
              <a:gdLst/>
              <a:ahLst/>
              <a:cxnLst/>
              <a:rect r="r" b="b" t="t" l="l"/>
              <a:pathLst>
                <a:path h="674464" w="1681900">
                  <a:moveTo>
                    <a:pt x="61829" y="0"/>
                  </a:moveTo>
                  <a:lnTo>
                    <a:pt x="1620071" y="0"/>
                  </a:lnTo>
                  <a:cubicBezTo>
                    <a:pt x="1654218" y="0"/>
                    <a:pt x="1681900" y="27682"/>
                    <a:pt x="1681900" y="61829"/>
                  </a:cubicBezTo>
                  <a:lnTo>
                    <a:pt x="1681900" y="612635"/>
                  </a:lnTo>
                  <a:cubicBezTo>
                    <a:pt x="1681900" y="646783"/>
                    <a:pt x="1654218" y="674464"/>
                    <a:pt x="1620071" y="674464"/>
                  </a:cubicBezTo>
                  <a:lnTo>
                    <a:pt x="61829" y="674464"/>
                  </a:lnTo>
                  <a:cubicBezTo>
                    <a:pt x="27682" y="674464"/>
                    <a:pt x="0" y="646783"/>
                    <a:pt x="0" y="612635"/>
                  </a:cubicBezTo>
                  <a:lnTo>
                    <a:pt x="0" y="61829"/>
                  </a:lnTo>
                  <a:cubicBezTo>
                    <a:pt x="0" y="27682"/>
                    <a:pt x="27682" y="0"/>
                    <a:pt x="61829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85725" cap="rnd">
              <a:solidFill>
                <a:srgbClr val="000000">
                  <a:alpha val="89804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33350"/>
              <a:ext cx="1681900" cy="80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1E35">
                      <a:alpha val="89804"/>
                    </a:srgbClr>
                  </a:solidFill>
                  <a:latin typeface="Retropix"/>
                  <a:ea typeface="Retropix"/>
                  <a:cs typeface="Retropix"/>
                  <a:sym typeface="Retropix"/>
                </a:rPr>
                <a:t>Se empezó con tarjetas perforadas y fue evolucionando hasta llegar a los discos duros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56597" y="2722382"/>
            <a:ext cx="6385964" cy="2560857"/>
            <a:chOff x="0" y="0"/>
            <a:chExt cx="1681900" cy="6744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1900" cy="674464"/>
            </a:xfrm>
            <a:custGeom>
              <a:avLst/>
              <a:gdLst/>
              <a:ahLst/>
              <a:cxnLst/>
              <a:rect r="r" b="b" t="t" l="l"/>
              <a:pathLst>
                <a:path h="674464" w="1681900">
                  <a:moveTo>
                    <a:pt x="61829" y="0"/>
                  </a:moveTo>
                  <a:lnTo>
                    <a:pt x="1620071" y="0"/>
                  </a:lnTo>
                  <a:cubicBezTo>
                    <a:pt x="1654218" y="0"/>
                    <a:pt x="1681900" y="27682"/>
                    <a:pt x="1681900" y="61829"/>
                  </a:cubicBezTo>
                  <a:lnTo>
                    <a:pt x="1681900" y="612635"/>
                  </a:lnTo>
                  <a:cubicBezTo>
                    <a:pt x="1681900" y="646783"/>
                    <a:pt x="1654218" y="674464"/>
                    <a:pt x="1620071" y="674464"/>
                  </a:cubicBezTo>
                  <a:lnTo>
                    <a:pt x="61829" y="674464"/>
                  </a:lnTo>
                  <a:cubicBezTo>
                    <a:pt x="27682" y="674464"/>
                    <a:pt x="0" y="646783"/>
                    <a:pt x="0" y="612635"/>
                  </a:cubicBezTo>
                  <a:lnTo>
                    <a:pt x="0" y="61829"/>
                  </a:lnTo>
                  <a:cubicBezTo>
                    <a:pt x="0" y="27682"/>
                    <a:pt x="27682" y="0"/>
                    <a:pt x="61829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85725" cap="rnd">
              <a:solidFill>
                <a:srgbClr val="000000">
                  <a:alpha val="89804"/>
                </a:srgbClr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23825"/>
              <a:ext cx="1681900" cy="798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1E35">
                      <a:alpha val="89804"/>
                    </a:srgbClr>
                  </a:solidFill>
                  <a:latin typeface="Retropix"/>
                  <a:ea typeface="Retropix"/>
                  <a:cs typeface="Retropix"/>
                  <a:sym typeface="Retropix"/>
                </a:rPr>
                <a:t>Se remonta en 1880 cuando EEUU empezó a crecer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390372" y="685695"/>
            <a:ext cx="13516780" cy="149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5"/>
              </a:lnSpc>
            </a:pPr>
            <a:r>
              <a:rPr lang="en-US" sz="8199">
                <a:solidFill>
                  <a:srgbClr val="001E35"/>
                </a:solidFill>
                <a:latin typeface="Pixelion"/>
                <a:ea typeface="Pixelion"/>
                <a:cs typeface="Pixelion"/>
                <a:sym typeface="Pixelion"/>
              </a:rPr>
              <a:t>Proyectos reales de BIG DATA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8700" y="5500732"/>
            <a:ext cx="16386257" cy="4078046"/>
            <a:chOff x="0" y="0"/>
            <a:chExt cx="3947571" cy="9824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47571" cy="982432"/>
            </a:xfrm>
            <a:custGeom>
              <a:avLst/>
              <a:gdLst/>
              <a:ahLst/>
              <a:cxnLst/>
              <a:rect r="r" b="b" t="t" l="l"/>
              <a:pathLst>
                <a:path h="982432" w="3947571">
                  <a:moveTo>
                    <a:pt x="24096" y="0"/>
                  </a:moveTo>
                  <a:lnTo>
                    <a:pt x="3923475" y="0"/>
                  </a:lnTo>
                  <a:cubicBezTo>
                    <a:pt x="3936783" y="0"/>
                    <a:pt x="3947571" y="10788"/>
                    <a:pt x="3947571" y="24096"/>
                  </a:cubicBezTo>
                  <a:lnTo>
                    <a:pt x="3947571" y="958336"/>
                  </a:lnTo>
                  <a:cubicBezTo>
                    <a:pt x="3947571" y="964727"/>
                    <a:pt x="3945032" y="970855"/>
                    <a:pt x="3940514" y="975374"/>
                  </a:cubicBezTo>
                  <a:cubicBezTo>
                    <a:pt x="3935995" y="979893"/>
                    <a:pt x="3929866" y="982432"/>
                    <a:pt x="3923475" y="982432"/>
                  </a:cubicBezTo>
                  <a:lnTo>
                    <a:pt x="24096" y="982432"/>
                  </a:lnTo>
                  <a:cubicBezTo>
                    <a:pt x="17705" y="982432"/>
                    <a:pt x="11576" y="979893"/>
                    <a:pt x="7057" y="975374"/>
                  </a:cubicBezTo>
                  <a:cubicBezTo>
                    <a:pt x="2539" y="970855"/>
                    <a:pt x="0" y="964727"/>
                    <a:pt x="0" y="958336"/>
                  </a:cubicBezTo>
                  <a:lnTo>
                    <a:pt x="0" y="24096"/>
                  </a:lnTo>
                  <a:cubicBezTo>
                    <a:pt x="0" y="10788"/>
                    <a:pt x="10788" y="0"/>
                    <a:pt x="24096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85725" cap="rnd">
              <a:solidFill>
                <a:srgbClr val="000000">
                  <a:alpha val="89804"/>
                </a:srgbClr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3947571" cy="1039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281908" y="6096653"/>
            <a:ext cx="2530410" cy="2535471"/>
          </a:xfrm>
          <a:custGeom>
            <a:avLst/>
            <a:gdLst/>
            <a:ahLst/>
            <a:cxnLst/>
            <a:rect r="r" b="b" t="t" l="l"/>
            <a:pathLst>
              <a:path h="2535471" w="2530410">
                <a:moveTo>
                  <a:pt x="0" y="0"/>
                </a:moveTo>
                <a:lnTo>
                  <a:pt x="2530410" y="0"/>
                </a:lnTo>
                <a:lnTo>
                  <a:pt x="2530410" y="2535471"/>
                </a:lnTo>
                <a:lnTo>
                  <a:pt x="0" y="253547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330061" y="6096653"/>
            <a:ext cx="2793644" cy="2499395"/>
          </a:xfrm>
          <a:custGeom>
            <a:avLst/>
            <a:gdLst/>
            <a:ahLst/>
            <a:cxnLst/>
            <a:rect r="r" b="b" t="t" l="l"/>
            <a:pathLst>
              <a:path h="2499395" w="2793644">
                <a:moveTo>
                  <a:pt x="0" y="0"/>
                </a:moveTo>
                <a:lnTo>
                  <a:pt x="2793644" y="0"/>
                </a:lnTo>
                <a:lnTo>
                  <a:pt x="2793644" y="2499394"/>
                </a:lnTo>
                <a:lnTo>
                  <a:pt x="0" y="249939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-93898" b="-21848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641448" y="6108300"/>
            <a:ext cx="2854231" cy="2476101"/>
          </a:xfrm>
          <a:custGeom>
            <a:avLst/>
            <a:gdLst/>
            <a:ahLst/>
            <a:cxnLst/>
            <a:rect r="r" b="b" t="t" l="l"/>
            <a:pathLst>
              <a:path h="2476101" w="2854231">
                <a:moveTo>
                  <a:pt x="0" y="0"/>
                </a:moveTo>
                <a:lnTo>
                  <a:pt x="2854232" y="0"/>
                </a:lnTo>
                <a:lnTo>
                  <a:pt x="2854232" y="2476101"/>
                </a:lnTo>
                <a:lnTo>
                  <a:pt x="0" y="2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12262" t="0" r="-12785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895220" y="6108300"/>
            <a:ext cx="3289207" cy="2476101"/>
          </a:xfrm>
          <a:custGeom>
            <a:avLst/>
            <a:gdLst/>
            <a:ahLst/>
            <a:cxnLst/>
            <a:rect r="r" b="b" t="t" l="l"/>
            <a:pathLst>
              <a:path h="2476101" w="3289207">
                <a:moveTo>
                  <a:pt x="0" y="0"/>
                </a:moveTo>
                <a:lnTo>
                  <a:pt x="3289206" y="0"/>
                </a:lnTo>
                <a:lnTo>
                  <a:pt x="3289206" y="2476101"/>
                </a:lnTo>
                <a:lnTo>
                  <a:pt x="0" y="2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-50626" b="-544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325015" y="6307075"/>
            <a:ext cx="2758043" cy="2277325"/>
          </a:xfrm>
          <a:custGeom>
            <a:avLst/>
            <a:gdLst/>
            <a:ahLst/>
            <a:cxnLst/>
            <a:rect r="r" b="b" t="t" l="l"/>
            <a:pathLst>
              <a:path h="2277325" w="2758043">
                <a:moveTo>
                  <a:pt x="0" y="0"/>
                </a:moveTo>
                <a:lnTo>
                  <a:pt x="2758042" y="0"/>
                </a:lnTo>
                <a:lnTo>
                  <a:pt x="2758042" y="2277326"/>
                </a:lnTo>
                <a:lnTo>
                  <a:pt x="0" y="227732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9490" t="0" r="-14442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91392" y="8841674"/>
            <a:ext cx="253041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4800">
                <a:solidFill>
                  <a:srgbClr val="1D1D1D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1937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484374" y="8813099"/>
            <a:ext cx="253041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4800">
                <a:solidFill>
                  <a:srgbClr val="21406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1965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03359" y="8813099"/>
            <a:ext cx="253041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4800">
                <a:solidFill>
                  <a:srgbClr val="01043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1989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74618" y="8813099"/>
            <a:ext cx="253041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4800">
                <a:solidFill>
                  <a:srgbClr val="4D73B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2003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471778" y="8765376"/>
            <a:ext cx="253041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4800">
                <a:solidFill>
                  <a:srgbClr val="E82127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2010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4433" y="8385625"/>
            <a:ext cx="10563195" cy="1901375"/>
          </a:xfrm>
          <a:custGeom>
            <a:avLst/>
            <a:gdLst/>
            <a:ahLst/>
            <a:cxnLst/>
            <a:rect r="r" b="b" t="t" l="l"/>
            <a:pathLst>
              <a:path h="1901375" w="10563195">
                <a:moveTo>
                  <a:pt x="0" y="0"/>
                </a:moveTo>
                <a:lnTo>
                  <a:pt x="10563195" y="0"/>
                </a:lnTo>
                <a:lnTo>
                  <a:pt x="10563195" y="1901375"/>
                </a:lnTo>
                <a:lnTo>
                  <a:pt x="0" y="1901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238" y="8385625"/>
            <a:ext cx="10563195" cy="1901375"/>
          </a:xfrm>
          <a:custGeom>
            <a:avLst/>
            <a:gdLst/>
            <a:ahLst/>
            <a:cxnLst/>
            <a:rect r="r" b="b" t="t" l="l"/>
            <a:pathLst>
              <a:path h="1901375" w="10563195">
                <a:moveTo>
                  <a:pt x="0" y="0"/>
                </a:moveTo>
                <a:lnTo>
                  <a:pt x="10563195" y="0"/>
                </a:lnTo>
                <a:lnTo>
                  <a:pt x="10563195" y="1901375"/>
                </a:lnTo>
                <a:lnTo>
                  <a:pt x="0" y="1901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8346" y="2141892"/>
            <a:ext cx="6966696" cy="6282693"/>
          </a:xfrm>
          <a:custGeom>
            <a:avLst/>
            <a:gdLst/>
            <a:ahLst/>
            <a:cxnLst/>
            <a:rect r="r" b="b" t="t" l="l"/>
            <a:pathLst>
              <a:path h="6282693" w="6966696">
                <a:moveTo>
                  <a:pt x="0" y="0"/>
                </a:moveTo>
                <a:lnTo>
                  <a:pt x="6966696" y="0"/>
                </a:lnTo>
                <a:lnTo>
                  <a:pt x="6966696" y="6282693"/>
                </a:lnTo>
                <a:lnTo>
                  <a:pt x="0" y="6282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14094" y="3049290"/>
            <a:ext cx="2513842" cy="4902884"/>
          </a:xfrm>
          <a:custGeom>
            <a:avLst/>
            <a:gdLst/>
            <a:ahLst/>
            <a:cxnLst/>
            <a:rect r="r" b="b" t="t" l="l"/>
            <a:pathLst>
              <a:path h="4902884" w="2513842">
                <a:moveTo>
                  <a:pt x="0" y="0"/>
                </a:moveTo>
                <a:lnTo>
                  <a:pt x="2513842" y="0"/>
                </a:lnTo>
                <a:lnTo>
                  <a:pt x="2513842" y="4902883"/>
                </a:lnTo>
                <a:lnTo>
                  <a:pt x="0" y="4902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82813" y="7127336"/>
            <a:ext cx="10931576" cy="1649674"/>
          </a:xfrm>
          <a:custGeom>
            <a:avLst/>
            <a:gdLst/>
            <a:ahLst/>
            <a:cxnLst/>
            <a:rect r="r" b="b" t="t" l="l"/>
            <a:pathLst>
              <a:path h="1649674" w="10931576">
                <a:moveTo>
                  <a:pt x="0" y="0"/>
                </a:moveTo>
                <a:lnTo>
                  <a:pt x="10931575" y="0"/>
                </a:lnTo>
                <a:lnTo>
                  <a:pt x="10931575" y="1649674"/>
                </a:lnTo>
                <a:lnTo>
                  <a:pt x="0" y="16496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39238" y="7127336"/>
            <a:ext cx="10931576" cy="1649674"/>
          </a:xfrm>
          <a:custGeom>
            <a:avLst/>
            <a:gdLst/>
            <a:ahLst/>
            <a:cxnLst/>
            <a:rect r="r" b="b" t="t" l="l"/>
            <a:pathLst>
              <a:path h="1649674" w="10931576">
                <a:moveTo>
                  <a:pt x="0" y="0"/>
                </a:moveTo>
                <a:lnTo>
                  <a:pt x="10931575" y="0"/>
                </a:lnTo>
                <a:lnTo>
                  <a:pt x="10931575" y="1649674"/>
                </a:lnTo>
                <a:lnTo>
                  <a:pt x="0" y="16496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04036" y="-1555264"/>
            <a:ext cx="3110528" cy="3110528"/>
          </a:xfrm>
          <a:custGeom>
            <a:avLst/>
            <a:gdLst/>
            <a:ahLst/>
            <a:cxnLst/>
            <a:rect r="r" b="b" t="t" l="l"/>
            <a:pathLst>
              <a:path h="3110528" w="3110528">
                <a:moveTo>
                  <a:pt x="0" y="0"/>
                </a:moveTo>
                <a:lnTo>
                  <a:pt x="3110528" y="0"/>
                </a:lnTo>
                <a:lnTo>
                  <a:pt x="3110528" y="3110528"/>
                </a:lnTo>
                <a:lnTo>
                  <a:pt x="0" y="3110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81547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8" y="0"/>
                </a:lnTo>
                <a:lnTo>
                  <a:pt x="748328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29875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7" y="0"/>
                </a:lnTo>
                <a:lnTo>
                  <a:pt x="748327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95673" y="6652148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7" y="0"/>
                </a:lnTo>
                <a:lnTo>
                  <a:pt x="748327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903546"/>
            <a:ext cx="7315200" cy="1303436"/>
          </a:xfrm>
          <a:custGeom>
            <a:avLst/>
            <a:gdLst/>
            <a:ahLst/>
            <a:cxnLst/>
            <a:rect r="r" b="b" t="t" l="l"/>
            <a:pathLst>
              <a:path h="1303436" w="7315200">
                <a:moveTo>
                  <a:pt x="0" y="0"/>
                </a:moveTo>
                <a:lnTo>
                  <a:pt x="7315200" y="0"/>
                </a:lnTo>
                <a:lnTo>
                  <a:pt x="7315200" y="1303436"/>
                </a:lnTo>
                <a:lnTo>
                  <a:pt x="0" y="13034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42607" y="-805090"/>
            <a:ext cx="6761431" cy="2360354"/>
          </a:xfrm>
          <a:custGeom>
            <a:avLst/>
            <a:gdLst/>
            <a:ahLst/>
            <a:cxnLst/>
            <a:rect r="r" b="b" t="t" l="l"/>
            <a:pathLst>
              <a:path h="2360354" w="6761431">
                <a:moveTo>
                  <a:pt x="0" y="0"/>
                </a:moveTo>
                <a:lnTo>
                  <a:pt x="6761431" y="0"/>
                </a:lnTo>
                <a:lnTo>
                  <a:pt x="6761431" y="2360354"/>
                </a:lnTo>
                <a:lnTo>
                  <a:pt x="0" y="236035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15" id="15">
              <a:hlinkClick r:id="rId18" tooltip="https://www.sap.com/spain/products/technology-platform/what-is-big-data.html#:~:text=%C2%BFPara%20qu%C3%A9%20se%20usa%20Big,una%20empresa%20y%20su%20mercado."/>
            </p:cNvPr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C0C0C0">
                <a:alpha val="83922"/>
              </a:srgbClr>
            </a:solidFill>
            <a:ln w="104775" cap="sq">
              <a:solidFill>
                <a:srgbClr val="001E35">
                  <a:alpha val="83922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42607" y="-805090"/>
            <a:ext cx="6761431" cy="2360354"/>
          </a:xfrm>
          <a:custGeom>
            <a:avLst/>
            <a:gdLst/>
            <a:ahLst/>
            <a:cxnLst/>
            <a:rect r="r" b="b" t="t" l="l"/>
            <a:pathLst>
              <a:path h="2360354" w="6761431">
                <a:moveTo>
                  <a:pt x="0" y="0"/>
                </a:moveTo>
                <a:lnTo>
                  <a:pt x="6761431" y="0"/>
                </a:lnTo>
                <a:lnTo>
                  <a:pt x="6761431" y="2360354"/>
                </a:lnTo>
                <a:lnTo>
                  <a:pt x="0" y="236035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56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472974" y="878030"/>
            <a:ext cx="13516780" cy="255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5"/>
              </a:lnSpc>
            </a:pPr>
            <a:r>
              <a:rPr lang="en-US" sz="8199">
                <a:solidFill>
                  <a:srgbClr val="001E35"/>
                </a:solidFill>
                <a:latin typeface="Pixelion"/>
                <a:ea typeface="Pixelion"/>
                <a:cs typeface="Pixelion"/>
                <a:sym typeface="Pixelion"/>
              </a:rPr>
              <a:t>Empresas</a:t>
            </a:r>
          </a:p>
          <a:p>
            <a:pPr algn="ctr">
              <a:lnSpc>
                <a:spcPts val="8445"/>
              </a:lnSpc>
            </a:pPr>
            <a:r>
              <a:rPr lang="en-US" sz="8199">
                <a:solidFill>
                  <a:srgbClr val="001E35"/>
                </a:solidFill>
                <a:latin typeface="Pixelion"/>
                <a:ea typeface="Pixelion"/>
                <a:cs typeface="Pixelion"/>
                <a:sym typeface="Pixelion"/>
              </a:rPr>
              <a:t>Españolas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25437" y="1342107"/>
            <a:ext cx="5032914" cy="3414365"/>
            <a:chOff x="0" y="0"/>
            <a:chExt cx="1325541" cy="8992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25541" cy="899257"/>
            </a:xfrm>
            <a:custGeom>
              <a:avLst/>
              <a:gdLst/>
              <a:ahLst/>
              <a:cxnLst/>
              <a:rect r="r" b="b" t="t" l="l"/>
              <a:pathLst>
                <a:path h="899257" w="1325541">
                  <a:moveTo>
                    <a:pt x="78451" y="0"/>
                  </a:moveTo>
                  <a:lnTo>
                    <a:pt x="1247090" y="0"/>
                  </a:lnTo>
                  <a:cubicBezTo>
                    <a:pt x="1290417" y="0"/>
                    <a:pt x="1325541" y="35124"/>
                    <a:pt x="1325541" y="78451"/>
                  </a:cubicBezTo>
                  <a:lnTo>
                    <a:pt x="1325541" y="820806"/>
                  </a:lnTo>
                  <a:cubicBezTo>
                    <a:pt x="1325541" y="841612"/>
                    <a:pt x="1317276" y="861566"/>
                    <a:pt x="1302563" y="876279"/>
                  </a:cubicBezTo>
                  <a:cubicBezTo>
                    <a:pt x="1287851" y="890991"/>
                    <a:pt x="1267896" y="899257"/>
                    <a:pt x="1247090" y="899257"/>
                  </a:cubicBezTo>
                  <a:lnTo>
                    <a:pt x="78451" y="899257"/>
                  </a:lnTo>
                  <a:cubicBezTo>
                    <a:pt x="57645" y="899257"/>
                    <a:pt x="37690" y="890991"/>
                    <a:pt x="22978" y="876279"/>
                  </a:cubicBezTo>
                  <a:cubicBezTo>
                    <a:pt x="8265" y="861566"/>
                    <a:pt x="0" y="841612"/>
                    <a:pt x="0" y="820806"/>
                  </a:cubicBezTo>
                  <a:lnTo>
                    <a:pt x="0" y="78451"/>
                  </a:lnTo>
                  <a:cubicBezTo>
                    <a:pt x="0" y="57645"/>
                    <a:pt x="8265" y="37690"/>
                    <a:pt x="22978" y="22978"/>
                  </a:cubicBezTo>
                  <a:cubicBezTo>
                    <a:pt x="37690" y="8265"/>
                    <a:pt x="57645" y="0"/>
                    <a:pt x="78451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85725" cap="rnd">
              <a:solidFill>
                <a:srgbClr val="000000">
                  <a:alpha val="89804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25541" cy="937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 u="sng">
                  <a:solidFill>
                    <a:srgbClr val="000000">
                      <a:alpha val="89804"/>
                    </a:srgbClr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Localización inteligente y análisis geoepecial.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Carto, Geoblink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904378" y="5500732"/>
            <a:ext cx="5032914" cy="3414365"/>
            <a:chOff x="0" y="0"/>
            <a:chExt cx="1325541" cy="8992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25541" cy="899257"/>
            </a:xfrm>
            <a:custGeom>
              <a:avLst/>
              <a:gdLst/>
              <a:ahLst/>
              <a:cxnLst/>
              <a:rect r="r" b="b" t="t" l="l"/>
              <a:pathLst>
                <a:path h="899257" w="1325541">
                  <a:moveTo>
                    <a:pt x="78451" y="0"/>
                  </a:moveTo>
                  <a:lnTo>
                    <a:pt x="1247090" y="0"/>
                  </a:lnTo>
                  <a:cubicBezTo>
                    <a:pt x="1290417" y="0"/>
                    <a:pt x="1325541" y="35124"/>
                    <a:pt x="1325541" y="78451"/>
                  </a:cubicBezTo>
                  <a:lnTo>
                    <a:pt x="1325541" y="820806"/>
                  </a:lnTo>
                  <a:cubicBezTo>
                    <a:pt x="1325541" y="841612"/>
                    <a:pt x="1317276" y="861566"/>
                    <a:pt x="1302563" y="876279"/>
                  </a:cubicBezTo>
                  <a:cubicBezTo>
                    <a:pt x="1287851" y="890991"/>
                    <a:pt x="1267896" y="899257"/>
                    <a:pt x="1247090" y="899257"/>
                  </a:cubicBezTo>
                  <a:lnTo>
                    <a:pt x="78451" y="899257"/>
                  </a:lnTo>
                  <a:cubicBezTo>
                    <a:pt x="57645" y="899257"/>
                    <a:pt x="37690" y="890991"/>
                    <a:pt x="22978" y="876279"/>
                  </a:cubicBezTo>
                  <a:cubicBezTo>
                    <a:pt x="8265" y="861566"/>
                    <a:pt x="0" y="841612"/>
                    <a:pt x="0" y="820806"/>
                  </a:cubicBezTo>
                  <a:lnTo>
                    <a:pt x="0" y="78451"/>
                  </a:lnTo>
                  <a:cubicBezTo>
                    <a:pt x="0" y="57645"/>
                    <a:pt x="8265" y="37690"/>
                    <a:pt x="22978" y="22978"/>
                  </a:cubicBezTo>
                  <a:cubicBezTo>
                    <a:pt x="37690" y="8265"/>
                    <a:pt x="57645" y="0"/>
                    <a:pt x="78451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85725" cap="rnd">
              <a:solidFill>
                <a:srgbClr val="000000">
                  <a:alpha val="89804"/>
                </a:srgbClr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25541" cy="937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 u="sng">
                  <a:solidFill>
                    <a:srgbClr val="000000">
                      <a:alpha val="89804"/>
                    </a:srgbClr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Imágenes Médicas y Neurociencia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Qmenta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358760" y="7022846"/>
            <a:ext cx="2874776" cy="3000241"/>
          </a:xfrm>
          <a:custGeom>
            <a:avLst/>
            <a:gdLst/>
            <a:ahLst/>
            <a:cxnLst/>
            <a:rect r="r" b="b" t="t" l="l"/>
            <a:pathLst>
              <a:path h="3000241" w="2874776">
                <a:moveTo>
                  <a:pt x="0" y="0"/>
                </a:moveTo>
                <a:lnTo>
                  <a:pt x="2874776" y="0"/>
                </a:lnTo>
                <a:lnTo>
                  <a:pt x="2874776" y="3000240"/>
                </a:lnTo>
                <a:lnTo>
                  <a:pt x="0" y="300024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525437" y="5500732"/>
            <a:ext cx="5032914" cy="3414365"/>
            <a:chOff x="0" y="0"/>
            <a:chExt cx="1325541" cy="8992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25541" cy="899257"/>
            </a:xfrm>
            <a:custGeom>
              <a:avLst/>
              <a:gdLst/>
              <a:ahLst/>
              <a:cxnLst/>
              <a:rect r="r" b="b" t="t" l="l"/>
              <a:pathLst>
                <a:path h="899257" w="1325541">
                  <a:moveTo>
                    <a:pt x="78451" y="0"/>
                  </a:moveTo>
                  <a:lnTo>
                    <a:pt x="1247090" y="0"/>
                  </a:lnTo>
                  <a:cubicBezTo>
                    <a:pt x="1290417" y="0"/>
                    <a:pt x="1325541" y="35124"/>
                    <a:pt x="1325541" y="78451"/>
                  </a:cubicBezTo>
                  <a:lnTo>
                    <a:pt x="1325541" y="820806"/>
                  </a:lnTo>
                  <a:cubicBezTo>
                    <a:pt x="1325541" y="841612"/>
                    <a:pt x="1317276" y="861566"/>
                    <a:pt x="1302563" y="876279"/>
                  </a:cubicBezTo>
                  <a:cubicBezTo>
                    <a:pt x="1287851" y="890991"/>
                    <a:pt x="1267896" y="899257"/>
                    <a:pt x="1247090" y="899257"/>
                  </a:cubicBezTo>
                  <a:lnTo>
                    <a:pt x="78451" y="899257"/>
                  </a:lnTo>
                  <a:cubicBezTo>
                    <a:pt x="57645" y="899257"/>
                    <a:pt x="37690" y="890991"/>
                    <a:pt x="22978" y="876279"/>
                  </a:cubicBezTo>
                  <a:cubicBezTo>
                    <a:pt x="8265" y="861566"/>
                    <a:pt x="0" y="841612"/>
                    <a:pt x="0" y="820806"/>
                  </a:cubicBezTo>
                  <a:lnTo>
                    <a:pt x="0" y="78451"/>
                  </a:lnTo>
                  <a:cubicBezTo>
                    <a:pt x="0" y="57645"/>
                    <a:pt x="8265" y="37690"/>
                    <a:pt x="22978" y="22978"/>
                  </a:cubicBezTo>
                  <a:cubicBezTo>
                    <a:pt x="37690" y="8265"/>
                    <a:pt x="57645" y="0"/>
                    <a:pt x="78451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85725" cap="rnd">
              <a:solidFill>
                <a:srgbClr val="000000">
                  <a:alpha val="89804"/>
                </a:srgbClr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25541" cy="937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 u="sng">
                  <a:solidFill>
                    <a:srgbClr val="000000">
                      <a:alpha val="89804"/>
                    </a:srgbClr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Inteligencia artificial y análisis predictivo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Inbenta, Stratio Treeolgic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14907" y="3436317"/>
            <a:ext cx="5032914" cy="3414365"/>
            <a:chOff x="0" y="0"/>
            <a:chExt cx="1325541" cy="8992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25541" cy="899257"/>
            </a:xfrm>
            <a:custGeom>
              <a:avLst/>
              <a:gdLst/>
              <a:ahLst/>
              <a:cxnLst/>
              <a:rect r="r" b="b" t="t" l="l"/>
              <a:pathLst>
                <a:path h="899257" w="1325541">
                  <a:moveTo>
                    <a:pt x="78451" y="0"/>
                  </a:moveTo>
                  <a:lnTo>
                    <a:pt x="1247090" y="0"/>
                  </a:lnTo>
                  <a:cubicBezTo>
                    <a:pt x="1290417" y="0"/>
                    <a:pt x="1325541" y="35124"/>
                    <a:pt x="1325541" y="78451"/>
                  </a:cubicBezTo>
                  <a:lnTo>
                    <a:pt x="1325541" y="820806"/>
                  </a:lnTo>
                  <a:cubicBezTo>
                    <a:pt x="1325541" y="841612"/>
                    <a:pt x="1317276" y="861566"/>
                    <a:pt x="1302563" y="876279"/>
                  </a:cubicBezTo>
                  <a:cubicBezTo>
                    <a:pt x="1287851" y="890991"/>
                    <a:pt x="1267896" y="899257"/>
                    <a:pt x="1247090" y="899257"/>
                  </a:cubicBezTo>
                  <a:lnTo>
                    <a:pt x="78451" y="899257"/>
                  </a:lnTo>
                  <a:cubicBezTo>
                    <a:pt x="57645" y="899257"/>
                    <a:pt x="37690" y="890991"/>
                    <a:pt x="22978" y="876279"/>
                  </a:cubicBezTo>
                  <a:cubicBezTo>
                    <a:pt x="8265" y="861566"/>
                    <a:pt x="0" y="841612"/>
                    <a:pt x="0" y="820806"/>
                  </a:cubicBezTo>
                  <a:lnTo>
                    <a:pt x="0" y="78451"/>
                  </a:lnTo>
                  <a:cubicBezTo>
                    <a:pt x="0" y="57645"/>
                    <a:pt x="8265" y="37690"/>
                    <a:pt x="22978" y="22978"/>
                  </a:cubicBezTo>
                  <a:cubicBezTo>
                    <a:pt x="37690" y="8265"/>
                    <a:pt x="57645" y="0"/>
                    <a:pt x="78451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85725" cap="rnd">
              <a:solidFill>
                <a:srgbClr val="000000">
                  <a:alpha val="89804"/>
                </a:srgbClr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325541" cy="937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b="true" sz="1899" u="sng">
                  <a:solidFill>
                    <a:srgbClr val="000000">
                      <a:alpha val="89804"/>
                    </a:srgbClr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Analisis de Datos y Visualización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Datary, DatMean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904378" y="1342107"/>
            <a:ext cx="5032914" cy="3414365"/>
            <a:chOff x="0" y="0"/>
            <a:chExt cx="1325541" cy="8992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25541" cy="899257"/>
            </a:xfrm>
            <a:custGeom>
              <a:avLst/>
              <a:gdLst/>
              <a:ahLst/>
              <a:cxnLst/>
              <a:rect r="r" b="b" t="t" l="l"/>
              <a:pathLst>
                <a:path h="899257" w="1325541">
                  <a:moveTo>
                    <a:pt x="78451" y="0"/>
                  </a:moveTo>
                  <a:lnTo>
                    <a:pt x="1247090" y="0"/>
                  </a:lnTo>
                  <a:cubicBezTo>
                    <a:pt x="1290417" y="0"/>
                    <a:pt x="1325541" y="35124"/>
                    <a:pt x="1325541" y="78451"/>
                  </a:cubicBezTo>
                  <a:lnTo>
                    <a:pt x="1325541" y="820806"/>
                  </a:lnTo>
                  <a:cubicBezTo>
                    <a:pt x="1325541" y="841612"/>
                    <a:pt x="1317276" y="861566"/>
                    <a:pt x="1302563" y="876279"/>
                  </a:cubicBezTo>
                  <a:cubicBezTo>
                    <a:pt x="1287851" y="890991"/>
                    <a:pt x="1267896" y="899257"/>
                    <a:pt x="1247090" y="899257"/>
                  </a:cubicBezTo>
                  <a:lnTo>
                    <a:pt x="78451" y="899257"/>
                  </a:lnTo>
                  <a:cubicBezTo>
                    <a:pt x="57645" y="899257"/>
                    <a:pt x="37690" y="890991"/>
                    <a:pt x="22978" y="876279"/>
                  </a:cubicBezTo>
                  <a:cubicBezTo>
                    <a:pt x="8265" y="861566"/>
                    <a:pt x="0" y="841612"/>
                    <a:pt x="0" y="820806"/>
                  </a:cubicBezTo>
                  <a:lnTo>
                    <a:pt x="0" y="78451"/>
                  </a:lnTo>
                  <a:cubicBezTo>
                    <a:pt x="0" y="57645"/>
                    <a:pt x="8265" y="37690"/>
                    <a:pt x="22978" y="22978"/>
                  </a:cubicBezTo>
                  <a:cubicBezTo>
                    <a:pt x="37690" y="8265"/>
                    <a:pt x="57645" y="0"/>
                    <a:pt x="78451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85725" cap="rnd">
              <a:solidFill>
                <a:srgbClr val="000000">
                  <a:alpha val="89804"/>
                </a:srgbClr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25541" cy="937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b="true" sz="1899" u="sng">
                  <a:solidFill>
                    <a:srgbClr val="000000">
                      <a:alpha val="89804"/>
                    </a:srgbClr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Automatización y marketing digital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>
                      <a:alpha val="89804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Epinium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724647" y="7016764"/>
            <a:ext cx="748327" cy="1870818"/>
          </a:xfrm>
          <a:custGeom>
            <a:avLst/>
            <a:gdLst/>
            <a:ahLst/>
            <a:cxnLst/>
            <a:rect r="r" b="b" t="t" l="l"/>
            <a:pathLst>
              <a:path h="1870818" w="748327">
                <a:moveTo>
                  <a:pt x="0" y="0"/>
                </a:moveTo>
                <a:lnTo>
                  <a:pt x="748327" y="0"/>
                </a:lnTo>
                <a:lnTo>
                  <a:pt x="748327" y="1870818"/>
                </a:lnTo>
                <a:lnTo>
                  <a:pt x="0" y="1870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296400" y="1055946"/>
            <a:ext cx="7315200" cy="1303436"/>
          </a:xfrm>
          <a:custGeom>
            <a:avLst/>
            <a:gdLst/>
            <a:ahLst/>
            <a:cxnLst/>
            <a:rect r="r" b="b" t="t" l="l"/>
            <a:pathLst>
              <a:path h="1303436" w="7315200">
                <a:moveTo>
                  <a:pt x="0" y="0"/>
                </a:moveTo>
                <a:lnTo>
                  <a:pt x="7315200" y="0"/>
                </a:lnTo>
                <a:lnTo>
                  <a:pt x="7315200" y="1303436"/>
                </a:lnTo>
                <a:lnTo>
                  <a:pt x="0" y="13034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21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260655" y="3697286"/>
            <a:ext cx="1350945" cy="1803446"/>
          </a:xfrm>
          <a:custGeom>
            <a:avLst/>
            <a:gdLst/>
            <a:ahLst/>
            <a:cxnLst/>
            <a:rect r="r" b="b" t="t" l="l"/>
            <a:pathLst>
              <a:path h="1803446" w="1350945">
                <a:moveTo>
                  <a:pt x="0" y="0"/>
                </a:moveTo>
                <a:lnTo>
                  <a:pt x="1350945" y="0"/>
                </a:lnTo>
                <a:lnTo>
                  <a:pt x="1350945" y="1803446"/>
                </a:lnTo>
                <a:lnTo>
                  <a:pt x="0" y="180344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164258" y="5887333"/>
            <a:ext cx="2264284" cy="963350"/>
          </a:xfrm>
          <a:custGeom>
            <a:avLst/>
            <a:gdLst/>
            <a:ahLst/>
            <a:cxnLst/>
            <a:rect r="r" b="b" t="t" l="l"/>
            <a:pathLst>
              <a:path h="963350" w="2264284">
                <a:moveTo>
                  <a:pt x="0" y="0"/>
                </a:moveTo>
                <a:lnTo>
                  <a:pt x="2264284" y="0"/>
                </a:lnTo>
                <a:lnTo>
                  <a:pt x="2264284" y="963350"/>
                </a:lnTo>
                <a:lnTo>
                  <a:pt x="0" y="9633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88" r="0" b="-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3072" y="3334564"/>
            <a:ext cx="18571072" cy="6145337"/>
          </a:xfrm>
          <a:custGeom>
            <a:avLst/>
            <a:gdLst/>
            <a:ahLst/>
            <a:cxnLst/>
            <a:rect r="r" b="b" t="t" l="l"/>
            <a:pathLst>
              <a:path h="6145337" w="18571072">
                <a:moveTo>
                  <a:pt x="0" y="0"/>
                </a:moveTo>
                <a:lnTo>
                  <a:pt x="18571072" y="0"/>
                </a:lnTo>
                <a:lnTo>
                  <a:pt x="18571072" y="6145336"/>
                </a:lnTo>
                <a:lnTo>
                  <a:pt x="0" y="61453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69466" y="3800245"/>
            <a:ext cx="3881476" cy="5084733"/>
          </a:xfrm>
          <a:custGeom>
            <a:avLst/>
            <a:gdLst/>
            <a:ahLst/>
            <a:cxnLst/>
            <a:rect r="r" b="b" t="t" l="l"/>
            <a:pathLst>
              <a:path h="5084733" w="3881476">
                <a:moveTo>
                  <a:pt x="0" y="0"/>
                </a:moveTo>
                <a:lnTo>
                  <a:pt x="3881476" y="0"/>
                </a:lnTo>
                <a:lnTo>
                  <a:pt x="3881476" y="5084734"/>
                </a:lnTo>
                <a:lnTo>
                  <a:pt x="0" y="50847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219628" y="8722316"/>
            <a:ext cx="20727257" cy="1564684"/>
            <a:chOff x="0" y="0"/>
            <a:chExt cx="27636342" cy="20862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24521" cy="2086246"/>
            </a:xfrm>
            <a:custGeom>
              <a:avLst/>
              <a:gdLst/>
              <a:ahLst/>
              <a:cxnLst/>
              <a:rect r="r" b="b" t="t" l="l"/>
              <a:pathLst>
                <a:path h="2086246" w="13824521">
                  <a:moveTo>
                    <a:pt x="0" y="0"/>
                  </a:moveTo>
                  <a:lnTo>
                    <a:pt x="13824521" y="0"/>
                  </a:lnTo>
                  <a:lnTo>
                    <a:pt x="13824521" y="2086246"/>
                  </a:lnTo>
                  <a:lnTo>
                    <a:pt x="0" y="2086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811821" y="0"/>
              <a:ext cx="13824521" cy="2086246"/>
            </a:xfrm>
            <a:custGeom>
              <a:avLst/>
              <a:gdLst/>
              <a:ahLst/>
              <a:cxnLst/>
              <a:rect r="r" b="b" t="t" l="l"/>
              <a:pathLst>
                <a:path h="2086246" w="13824521">
                  <a:moveTo>
                    <a:pt x="0" y="0"/>
                  </a:moveTo>
                  <a:lnTo>
                    <a:pt x="13824521" y="0"/>
                  </a:lnTo>
                  <a:lnTo>
                    <a:pt x="13824521" y="2086246"/>
                  </a:lnTo>
                  <a:lnTo>
                    <a:pt x="0" y="2086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225566" y="2379221"/>
            <a:ext cx="7601956" cy="8056023"/>
          </a:xfrm>
          <a:custGeom>
            <a:avLst/>
            <a:gdLst/>
            <a:ahLst/>
            <a:cxnLst/>
            <a:rect r="r" b="b" t="t" l="l"/>
            <a:pathLst>
              <a:path h="8056023" w="7601956">
                <a:moveTo>
                  <a:pt x="0" y="0"/>
                </a:moveTo>
                <a:lnTo>
                  <a:pt x="7601956" y="0"/>
                </a:lnTo>
                <a:lnTo>
                  <a:pt x="7601956" y="8056023"/>
                </a:lnTo>
                <a:lnTo>
                  <a:pt x="0" y="80560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07937" y="5143500"/>
            <a:ext cx="2637213" cy="5143500"/>
          </a:xfrm>
          <a:custGeom>
            <a:avLst/>
            <a:gdLst/>
            <a:ahLst/>
            <a:cxnLst/>
            <a:rect r="r" b="b" t="t" l="l"/>
            <a:pathLst>
              <a:path h="5143500" w="2637213">
                <a:moveTo>
                  <a:pt x="0" y="0"/>
                </a:moveTo>
                <a:lnTo>
                  <a:pt x="2637213" y="0"/>
                </a:lnTo>
                <a:lnTo>
                  <a:pt x="263721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07937" y="-877552"/>
            <a:ext cx="9289436" cy="2263244"/>
          </a:xfrm>
          <a:custGeom>
            <a:avLst/>
            <a:gdLst/>
            <a:ahLst/>
            <a:cxnLst/>
            <a:rect r="r" b="b" t="t" l="l"/>
            <a:pathLst>
              <a:path h="2263244" w="9289436">
                <a:moveTo>
                  <a:pt x="0" y="0"/>
                </a:moveTo>
                <a:lnTo>
                  <a:pt x="9289436" y="0"/>
                </a:lnTo>
                <a:lnTo>
                  <a:pt x="9289436" y="2263244"/>
                </a:lnTo>
                <a:lnTo>
                  <a:pt x="0" y="22632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32065" y="-293495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032065" y="-1624284"/>
            <a:ext cx="6121531" cy="2771384"/>
          </a:xfrm>
          <a:custGeom>
            <a:avLst/>
            <a:gdLst/>
            <a:ahLst/>
            <a:cxnLst/>
            <a:rect r="r" b="b" t="t" l="l"/>
            <a:pathLst>
              <a:path h="2771384" w="6121531">
                <a:moveTo>
                  <a:pt x="0" y="0"/>
                </a:moveTo>
                <a:lnTo>
                  <a:pt x="6121530" y="0"/>
                </a:lnTo>
                <a:lnTo>
                  <a:pt x="6121530" y="2771384"/>
                </a:lnTo>
                <a:lnTo>
                  <a:pt x="0" y="277138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191778" y="1028700"/>
            <a:ext cx="5118165" cy="6582013"/>
            <a:chOff x="0" y="0"/>
            <a:chExt cx="1347994" cy="17335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7994" cy="1733534"/>
            </a:xfrm>
            <a:custGeom>
              <a:avLst/>
              <a:gdLst/>
              <a:ahLst/>
              <a:cxnLst/>
              <a:rect r="r" b="b" t="t" l="l"/>
              <a:pathLst>
                <a:path h="1733534" w="1347994">
                  <a:moveTo>
                    <a:pt x="77144" y="0"/>
                  </a:moveTo>
                  <a:lnTo>
                    <a:pt x="1270850" y="0"/>
                  </a:lnTo>
                  <a:cubicBezTo>
                    <a:pt x="1291310" y="0"/>
                    <a:pt x="1310932" y="8128"/>
                    <a:pt x="1325399" y="22595"/>
                  </a:cubicBezTo>
                  <a:cubicBezTo>
                    <a:pt x="1339866" y="37062"/>
                    <a:pt x="1347994" y="56684"/>
                    <a:pt x="1347994" y="77144"/>
                  </a:cubicBezTo>
                  <a:lnTo>
                    <a:pt x="1347994" y="1656390"/>
                  </a:lnTo>
                  <a:cubicBezTo>
                    <a:pt x="1347994" y="1676850"/>
                    <a:pt x="1339866" y="1696472"/>
                    <a:pt x="1325399" y="1710939"/>
                  </a:cubicBezTo>
                  <a:cubicBezTo>
                    <a:pt x="1310932" y="1725407"/>
                    <a:pt x="1291310" y="1733534"/>
                    <a:pt x="1270850" y="1733534"/>
                  </a:cubicBezTo>
                  <a:lnTo>
                    <a:pt x="77144" y="1733534"/>
                  </a:lnTo>
                  <a:cubicBezTo>
                    <a:pt x="56684" y="1733534"/>
                    <a:pt x="37062" y="1725407"/>
                    <a:pt x="22595" y="1710939"/>
                  </a:cubicBezTo>
                  <a:cubicBezTo>
                    <a:pt x="8128" y="1696472"/>
                    <a:pt x="0" y="1676850"/>
                    <a:pt x="0" y="1656390"/>
                  </a:cubicBezTo>
                  <a:lnTo>
                    <a:pt x="0" y="77144"/>
                  </a:lnTo>
                  <a:cubicBezTo>
                    <a:pt x="0" y="56684"/>
                    <a:pt x="8128" y="37062"/>
                    <a:pt x="22595" y="22595"/>
                  </a:cubicBezTo>
                  <a:cubicBezTo>
                    <a:pt x="37062" y="8128"/>
                    <a:pt x="56684" y="0"/>
                    <a:pt x="77144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85725" cap="rnd">
              <a:solidFill>
                <a:srgbClr val="000000">
                  <a:alpha val="89804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47994" cy="1771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508692" y="5143500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092991" y="8018804"/>
            <a:ext cx="2261895" cy="571511"/>
          </a:xfrm>
          <a:custGeom>
            <a:avLst/>
            <a:gdLst/>
            <a:ahLst/>
            <a:cxnLst/>
            <a:rect r="r" b="b" t="t" l="l"/>
            <a:pathLst>
              <a:path h="571511" w="2261895">
                <a:moveTo>
                  <a:pt x="0" y="0"/>
                </a:moveTo>
                <a:lnTo>
                  <a:pt x="2261895" y="0"/>
                </a:lnTo>
                <a:lnTo>
                  <a:pt x="2261895" y="571511"/>
                </a:lnTo>
                <a:lnTo>
                  <a:pt x="0" y="5715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443757" y="4545740"/>
            <a:ext cx="2177575" cy="1306545"/>
          </a:xfrm>
          <a:custGeom>
            <a:avLst/>
            <a:gdLst/>
            <a:ahLst/>
            <a:cxnLst/>
            <a:rect r="r" b="b" t="t" l="l"/>
            <a:pathLst>
              <a:path h="1306545" w="2177575">
                <a:moveTo>
                  <a:pt x="0" y="0"/>
                </a:moveTo>
                <a:lnTo>
                  <a:pt x="2177576" y="0"/>
                </a:lnTo>
                <a:lnTo>
                  <a:pt x="2177576" y="1306545"/>
                </a:lnTo>
                <a:lnTo>
                  <a:pt x="0" y="130654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003004" y="5118346"/>
            <a:ext cx="2251366" cy="1288886"/>
          </a:xfrm>
          <a:custGeom>
            <a:avLst/>
            <a:gdLst/>
            <a:ahLst/>
            <a:cxnLst/>
            <a:rect r="r" b="b" t="t" l="l"/>
            <a:pathLst>
              <a:path h="1288886" w="2251366">
                <a:moveTo>
                  <a:pt x="0" y="0"/>
                </a:moveTo>
                <a:lnTo>
                  <a:pt x="2251366" y="0"/>
                </a:lnTo>
                <a:lnTo>
                  <a:pt x="2251366" y="1288886"/>
                </a:lnTo>
                <a:lnTo>
                  <a:pt x="0" y="128888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396277" y="6941266"/>
            <a:ext cx="1747713" cy="1077538"/>
          </a:xfrm>
          <a:custGeom>
            <a:avLst/>
            <a:gdLst/>
            <a:ahLst/>
            <a:cxnLst/>
            <a:rect r="r" b="b" t="t" l="l"/>
            <a:pathLst>
              <a:path h="1077538" w="1747713">
                <a:moveTo>
                  <a:pt x="0" y="0"/>
                </a:moveTo>
                <a:lnTo>
                  <a:pt x="1747714" y="0"/>
                </a:lnTo>
                <a:lnTo>
                  <a:pt x="1747714" y="1077538"/>
                </a:lnTo>
                <a:lnTo>
                  <a:pt x="0" y="107753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710204" y="6118926"/>
            <a:ext cx="1644681" cy="1644681"/>
          </a:xfrm>
          <a:custGeom>
            <a:avLst/>
            <a:gdLst/>
            <a:ahLst/>
            <a:cxnLst/>
            <a:rect r="r" b="b" t="t" l="l"/>
            <a:pathLst>
              <a:path h="1644681" w="1644681">
                <a:moveTo>
                  <a:pt x="0" y="0"/>
                </a:moveTo>
                <a:lnTo>
                  <a:pt x="1644682" y="0"/>
                </a:lnTo>
                <a:lnTo>
                  <a:pt x="1644682" y="1644681"/>
                </a:lnTo>
                <a:lnTo>
                  <a:pt x="0" y="164468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365583" y="4902291"/>
            <a:ext cx="704781" cy="704781"/>
          </a:xfrm>
          <a:custGeom>
            <a:avLst/>
            <a:gdLst/>
            <a:ahLst/>
            <a:cxnLst/>
            <a:rect r="r" b="b" t="t" l="l"/>
            <a:pathLst>
              <a:path h="704781" w="704781">
                <a:moveTo>
                  <a:pt x="0" y="0"/>
                </a:moveTo>
                <a:lnTo>
                  <a:pt x="704781" y="0"/>
                </a:lnTo>
                <a:lnTo>
                  <a:pt x="704781" y="704781"/>
                </a:lnTo>
                <a:lnTo>
                  <a:pt x="0" y="70478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926130" y="5447482"/>
            <a:ext cx="1583688" cy="1583688"/>
          </a:xfrm>
          <a:custGeom>
            <a:avLst/>
            <a:gdLst/>
            <a:ahLst/>
            <a:cxnLst/>
            <a:rect r="r" b="b" t="t" l="l"/>
            <a:pathLst>
              <a:path h="1583688" w="1583688">
                <a:moveTo>
                  <a:pt x="0" y="0"/>
                </a:moveTo>
                <a:lnTo>
                  <a:pt x="1583688" y="0"/>
                </a:lnTo>
                <a:lnTo>
                  <a:pt x="1583688" y="1583688"/>
                </a:lnTo>
                <a:lnTo>
                  <a:pt x="0" y="1583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52604" y="136272"/>
            <a:ext cx="7315200" cy="2021655"/>
          </a:xfrm>
          <a:custGeom>
            <a:avLst/>
            <a:gdLst/>
            <a:ahLst/>
            <a:cxnLst/>
            <a:rect r="r" b="b" t="t" l="l"/>
            <a:pathLst>
              <a:path h="2021655" w="7315200">
                <a:moveTo>
                  <a:pt x="0" y="0"/>
                </a:moveTo>
                <a:lnTo>
                  <a:pt x="7315200" y="0"/>
                </a:lnTo>
                <a:lnTo>
                  <a:pt x="7315200" y="2021656"/>
                </a:lnTo>
                <a:lnTo>
                  <a:pt x="0" y="202165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38829" y="277240"/>
            <a:ext cx="8542751" cy="142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2"/>
              </a:lnSpc>
            </a:pPr>
            <a:r>
              <a:rPr lang="en-US" sz="4108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Tecnologias utilizadas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49738" y="1513460"/>
            <a:ext cx="4602246" cy="4998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000000"/>
                </a:solidFill>
                <a:latin typeface="Megapixel"/>
                <a:ea typeface="Megapixel"/>
                <a:cs typeface="Megapixel"/>
                <a:sym typeface="Megapixel"/>
              </a:rPr>
              <a:t>Las tecnologías utilizadas en Big Data permiten procesar, analizar y visualizar grandes volúmenes de datos de forma eficiente y escalable. Se emplean por su capacidad de manejar datos a gran velocidad, en diferentes formatos y en entornos distribuidos, transformando los datos en conocimiento accionable para empresas y organizaciones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40593" y="975650"/>
            <a:ext cx="3620534" cy="84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2"/>
              </a:lnSpc>
            </a:pPr>
            <a:r>
              <a:rPr lang="en-US" sz="441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Basicamente..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13678" y="3917725"/>
            <a:ext cx="2215009" cy="628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Ejemplos: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88" r="0" b="-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19628" y="8722316"/>
            <a:ext cx="20727257" cy="1564684"/>
            <a:chOff x="0" y="0"/>
            <a:chExt cx="27636342" cy="20862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24521" cy="2086246"/>
            </a:xfrm>
            <a:custGeom>
              <a:avLst/>
              <a:gdLst/>
              <a:ahLst/>
              <a:cxnLst/>
              <a:rect r="r" b="b" t="t" l="l"/>
              <a:pathLst>
                <a:path h="2086246" w="13824521">
                  <a:moveTo>
                    <a:pt x="0" y="0"/>
                  </a:moveTo>
                  <a:lnTo>
                    <a:pt x="13824521" y="0"/>
                  </a:lnTo>
                  <a:lnTo>
                    <a:pt x="13824521" y="2086246"/>
                  </a:lnTo>
                  <a:lnTo>
                    <a:pt x="0" y="2086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11821" y="0"/>
              <a:ext cx="13824521" cy="2086246"/>
            </a:xfrm>
            <a:custGeom>
              <a:avLst/>
              <a:gdLst/>
              <a:ahLst/>
              <a:cxnLst/>
              <a:rect r="r" b="b" t="t" l="l"/>
              <a:pathLst>
                <a:path h="2086246" w="13824521">
                  <a:moveTo>
                    <a:pt x="0" y="0"/>
                  </a:moveTo>
                  <a:lnTo>
                    <a:pt x="13824521" y="0"/>
                  </a:lnTo>
                  <a:lnTo>
                    <a:pt x="13824521" y="2086246"/>
                  </a:lnTo>
                  <a:lnTo>
                    <a:pt x="0" y="2086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707937" y="-877552"/>
            <a:ext cx="9289436" cy="2263244"/>
          </a:xfrm>
          <a:custGeom>
            <a:avLst/>
            <a:gdLst/>
            <a:ahLst/>
            <a:cxnLst/>
            <a:rect r="r" b="b" t="t" l="l"/>
            <a:pathLst>
              <a:path h="2263244" w="9289436">
                <a:moveTo>
                  <a:pt x="0" y="0"/>
                </a:moveTo>
                <a:lnTo>
                  <a:pt x="9289436" y="0"/>
                </a:lnTo>
                <a:lnTo>
                  <a:pt x="9289436" y="2263244"/>
                </a:lnTo>
                <a:lnTo>
                  <a:pt x="0" y="22632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32065" y="-293495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032065" y="-1624284"/>
            <a:ext cx="6121531" cy="2771384"/>
          </a:xfrm>
          <a:custGeom>
            <a:avLst/>
            <a:gdLst/>
            <a:ahLst/>
            <a:cxnLst/>
            <a:rect r="r" b="b" t="t" l="l"/>
            <a:pathLst>
              <a:path h="2771384" w="6121531">
                <a:moveTo>
                  <a:pt x="0" y="0"/>
                </a:moveTo>
                <a:lnTo>
                  <a:pt x="6121530" y="0"/>
                </a:lnTo>
                <a:lnTo>
                  <a:pt x="6121530" y="2771384"/>
                </a:lnTo>
                <a:lnTo>
                  <a:pt x="0" y="27713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4013" y="1664490"/>
            <a:ext cx="3550458" cy="2535027"/>
          </a:xfrm>
          <a:custGeom>
            <a:avLst/>
            <a:gdLst/>
            <a:ahLst/>
            <a:cxnLst/>
            <a:rect r="r" b="b" t="t" l="l"/>
            <a:pathLst>
              <a:path h="2535027" w="3550458">
                <a:moveTo>
                  <a:pt x="0" y="0"/>
                </a:moveTo>
                <a:lnTo>
                  <a:pt x="3550457" y="0"/>
                </a:lnTo>
                <a:lnTo>
                  <a:pt x="3550457" y="2535027"/>
                </a:lnTo>
                <a:lnTo>
                  <a:pt x="0" y="25350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78694" y="4713867"/>
            <a:ext cx="4041094" cy="4041094"/>
          </a:xfrm>
          <a:custGeom>
            <a:avLst/>
            <a:gdLst/>
            <a:ahLst/>
            <a:cxnLst/>
            <a:rect r="r" b="b" t="t" l="l"/>
            <a:pathLst>
              <a:path h="4041094" w="4041094">
                <a:moveTo>
                  <a:pt x="0" y="0"/>
                </a:moveTo>
                <a:lnTo>
                  <a:pt x="4041095" y="0"/>
                </a:lnTo>
                <a:lnTo>
                  <a:pt x="4041095" y="4041094"/>
                </a:lnTo>
                <a:lnTo>
                  <a:pt x="0" y="40410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22185" y="1884738"/>
            <a:ext cx="2437471" cy="2437471"/>
          </a:xfrm>
          <a:custGeom>
            <a:avLst/>
            <a:gdLst/>
            <a:ahLst/>
            <a:cxnLst/>
            <a:rect r="r" b="b" t="t" l="l"/>
            <a:pathLst>
              <a:path h="2437471" w="2437471">
                <a:moveTo>
                  <a:pt x="0" y="0"/>
                </a:moveTo>
                <a:lnTo>
                  <a:pt x="2437472" y="0"/>
                </a:lnTo>
                <a:lnTo>
                  <a:pt x="2437472" y="2437472"/>
                </a:lnTo>
                <a:lnTo>
                  <a:pt x="0" y="24374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333475" y="5458410"/>
            <a:ext cx="2946406" cy="2946406"/>
          </a:xfrm>
          <a:custGeom>
            <a:avLst/>
            <a:gdLst/>
            <a:ahLst/>
            <a:cxnLst/>
            <a:rect r="r" b="b" t="t" l="l"/>
            <a:pathLst>
              <a:path h="2946406" w="2946406">
                <a:moveTo>
                  <a:pt x="0" y="0"/>
                </a:moveTo>
                <a:lnTo>
                  <a:pt x="2946405" y="0"/>
                </a:lnTo>
                <a:lnTo>
                  <a:pt x="2946405" y="2946406"/>
                </a:lnTo>
                <a:lnTo>
                  <a:pt x="0" y="29464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964482" y="3103474"/>
            <a:ext cx="3396278" cy="3396278"/>
          </a:xfrm>
          <a:custGeom>
            <a:avLst/>
            <a:gdLst/>
            <a:ahLst/>
            <a:cxnLst/>
            <a:rect r="r" b="b" t="t" l="l"/>
            <a:pathLst>
              <a:path h="3396278" w="3396278">
                <a:moveTo>
                  <a:pt x="0" y="0"/>
                </a:moveTo>
                <a:lnTo>
                  <a:pt x="3396277" y="0"/>
                </a:lnTo>
                <a:lnTo>
                  <a:pt x="3396277" y="3396278"/>
                </a:lnTo>
                <a:lnTo>
                  <a:pt x="0" y="339627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537392" y="4423741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DAGzdkjQMhI</dc:identifier>
  <dcterms:modified xsi:type="dcterms:W3CDTF">2011-08-01T06:04:30Z</dcterms:modified>
  <cp:revision>1</cp:revision>
  <dc:title>Big Data</dc:title>
</cp:coreProperties>
</file>