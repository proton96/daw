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8" r:id="rId1"/>
  </p:sldMasterIdLst>
  <p:sldIdLst>
    <p:sldId id="259" r:id="rId2"/>
    <p:sldId id="256" r:id="rId3"/>
    <p:sldId id="260" r:id="rId4"/>
    <p:sldId id="385" r:id="rId5"/>
    <p:sldId id="274" r:id="rId6"/>
    <p:sldId id="264" r:id="rId7"/>
    <p:sldId id="317" r:id="rId8"/>
    <p:sldId id="278" r:id="rId9"/>
    <p:sldId id="279" r:id="rId10"/>
    <p:sldId id="280" r:id="rId11"/>
    <p:sldId id="281" r:id="rId12"/>
    <p:sldId id="327" r:id="rId13"/>
    <p:sldId id="284" r:id="rId14"/>
    <p:sldId id="285" r:id="rId15"/>
    <p:sldId id="362" r:id="rId16"/>
    <p:sldId id="363" r:id="rId17"/>
    <p:sldId id="364" r:id="rId18"/>
    <p:sldId id="367" r:id="rId19"/>
    <p:sldId id="372" r:id="rId20"/>
    <p:sldId id="373" r:id="rId21"/>
    <p:sldId id="266" r:id="rId22"/>
    <p:sldId id="265" r:id="rId23"/>
    <p:sldId id="286" r:id="rId24"/>
    <p:sldId id="288" r:id="rId25"/>
    <p:sldId id="318" r:id="rId26"/>
    <p:sldId id="289" r:id="rId27"/>
    <p:sldId id="291" r:id="rId28"/>
    <p:sldId id="294" r:id="rId29"/>
    <p:sldId id="295" r:id="rId30"/>
    <p:sldId id="296" r:id="rId31"/>
    <p:sldId id="369" r:id="rId32"/>
    <p:sldId id="370" r:id="rId33"/>
    <p:sldId id="292" r:id="rId34"/>
    <p:sldId id="293" r:id="rId35"/>
    <p:sldId id="368" r:id="rId36"/>
    <p:sldId id="297" r:id="rId37"/>
    <p:sldId id="371" r:id="rId38"/>
    <p:sldId id="377" r:id="rId39"/>
    <p:sldId id="319" r:id="rId40"/>
    <p:sldId id="299" r:id="rId41"/>
    <p:sldId id="375" r:id="rId42"/>
    <p:sldId id="361" r:id="rId43"/>
    <p:sldId id="378" r:id="rId44"/>
    <p:sldId id="267" r:id="rId45"/>
    <p:sldId id="359" r:id="rId46"/>
    <p:sldId id="358" r:id="rId47"/>
    <p:sldId id="302" r:id="rId48"/>
    <p:sldId id="360" r:id="rId49"/>
    <p:sldId id="380" r:id="rId50"/>
    <p:sldId id="365" r:id="rId51"/>
    <p:sldId id="381" r:id="rId52"/>
    <p:sldId id="382" r:id="rId53"/>
    <p:sldId id="383" r:id="rId54"/>
    <p:sldId id="384" r:id="rId55"/>
    <p:sldId id="349" r:id="rId56"/>
    <p:sldId id="350" r:id="rId57"/>
    <p:sldId id="351" r:id="rId58"/>
    <p:sldId id="352" r:id="rId59"/>
    <p:sldId id="353" r:id="rId60"/>
    <p:sldId id="354" r:id="rId61"/>
    <p:sldId id="355" r:id="rId62"/>
    <p:sldId id="304" r:id="rId63"/>
    <p:sldId id="303" r:id="rId64"/>
    <p:sldId id="344" r:id="rId65"/>
    <p:sldId id="261" r:id="rId6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13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2409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7607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4614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211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123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449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80541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5313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96867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72696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94004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551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816047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43549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25739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C1C62-08A4-443F-AC64-685D79752C98}" type="datetimeFigureOut">
              <a:rPr lang="es-ES" smtClean="0"/>
              <a:t>17/09/2024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3BC024F-BE96-48C6-B9E9-93B12A4B59C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079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9" r:id="rId1"/>
    <p:sldLayoutId id="2147484200" r:id="rId2"/>
    <p:sldLayoutId id="2147484201" r:id="rId3"/>
    <p:sldLayoutId id="2147484202" r:id="rId4"/>
    <p:sldLayoutId id="2147484203" r:id="rId5"/>
    <p:sldLayoutId id="2147484204" r:id="rId6"/>
    <p:sldLayoutId id="2147484205" r:id="rId7"/>
    <p:sldLayoutId id="2147484206" r:id="rId8"/>
    <p:sldLayoutId id="2147484207" r:id="rId9"/>
    <p:sldLayoutId id="2147484208" r:id="rId10"/>
    <p:sldLayoutId id="2147484209" r:id="rId11"/>
    <p:sldLayoutId id="2147484210" r:id="rId12"/>
    <p:sldLayoutId id="2147484211" r:id="rId13"/>
    <p:sldLayoutId id="2147484212" r:id="rId14"/>
    <p:sldLayoutId id="2147484213" r:id="rId15"/>
    <p:sldLayoutId id="214748421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89212" y="4141004"/>
            <a:ext cx="8915399" cy="1929688"/>
          </a:xfrm>
        </p:spPr>
        <p:txBody>
          <a:bodyPr>
            <a:normAutofit fontScale="90000"/>
          </a:bodyPr>
          <a:lstStyle/>
          <a:p>
            <a:pPr algn="ctr"/>
            <a:br>
              <a:rPr lang="es-ES" dirty="0">
                <a:latin typeface="Helvetica LT Std Light" panose="020B0403020202020204" pitchFamily="34" charset="0"/>
              </a:rPr>
            </a:br>
            <a:br>
              <a:rPr lang="es-ES" dirty="0">
                <a:latin typeface="Helvetica LT Std Light" panose="020B0403020202020204" pitchFamily="34" charset="0"/>
              </a:rPr>
            </a:br>
            <a:br>
              <a:rPr lang="es-ES" dirty="0">
                <a:latin typeface="Helvetica LT Std Light" panose="020B0403020202020204" pitchFamily="34" charset="0"/>
              </a:rPr>
            </a:br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dirty="0">
                <a:latin typeface="Helvetica LT Std Light" panose="020B0403020202020204" pitchFamily="34" charset="0"/>
              </a:rPr>
              <a:t>Desarrollo de Aplicaciones Web y Multiplataforma:</a:t>
            </a:r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b="1" dirty="0">
                <a:latin typeface="Helvetica LT Std Light" panose="020B0403020202020204" pitchFamily="34" charset="0"/>
              </a:rPr>
              <a:t>Programación</a:t>
            </a:r>
            <a:br>
              <a:rPr lang="es-ES" dirty="0">
                <a:latin typeface="Helvetica LT Std Light" panose="020B0403020202020204" pitchFamily="34" charset="0"/>
              </a:rPr>
            </a:br>
            <a:endParaRPr lang="es-ES" dirty="0">
              <a:latin typeface="Helvetica LT Std Light" panose="020B040302020202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589213" y="5927000"/>
            <a:ext cx="8915399" cy="1126283"/>
          </a:xfrm>
        </p:spPr>
        <p:txBody>
          <a:bodyPr/>
          <a:lstStyle/>
          <a:p>
            <a:r>
              <a:rPr lang="es-ES" b="1" dirty="0"/>
              <a:t>DOCENTE: Daniel López Lozano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447" y="204029"/>
            <a:ext cx="3400425" cy="266700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6926" y="5458288"/>
            <a:ext cx="1402946" cy="9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3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387506" y="4136699"/>
            <a:ext cx="8915399" cy="2262781"/>
          </a:xfrm>
        </p:spPr>
        <p:txBody>
          <a:bodyPr>
            <a:normAutofit fontScale="90000"/>
          </a:bodyPr>
          <a:lstStyle/>
          <a:p>
            <a:br>
              <a:rPr lang="es-ES" dirty="0">
                <a:latin typeface="Helvetica LT Std Light" panose="020B0403020202020204" pitchFamily="34" charset="0"/>
              </a:rPr>
            </a:br>
            <a:r>
              <a:rPr lang="es-ES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Tema 1.</a:t>
            </a:r>
            <a:r>
              <a:rPr lang="es-ES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br>
              <a:rPr lang="es-ES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Introducción a la Programación </a:t>
            </a:r>
          </a:p>
        </p:txBody>
      </p:sp>
      <p:pic>
        <p:nvPicPr>
          <p:cNvPr id="3" name="Picture 4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581" y="665567"/>
            <a:ext cx="3905250" cy="2571751"/>
          </a:xfrm>
          <a:prstGeom prst="rect">
            <a:avLst/>
          </a:prstGeom>
          <a:ln w="3175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02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7375" y="118314"/>
            <a:ext cx="9929030" cy="794549"/>
          </a:xfrm>
        </p:spPr>
        <p:txBody>
          <a:bodyPr wrap="none">
            <a:normAutofit/>
          </a:bodyPr>
          <a:lstStyle/>
          <a:p>
            <a:pPr algn="ctr"/>
            <a:r>
              <a:rPr lang="es-ES" sz="4400" b="1" dirty="0">
                <a:latin typeface="Helvetica LT Std Light" panose="020B0403020202020204" pitchFamily="34" charset="0"/>
              </a:rPr>
              <a:t>Índice de contenidos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8564" y="1317811"/>
            <a:ext cx="10932459" cy="5540189"/>
          </a:xfrm>
        </p:spPr>
        <p:txBody>
          <a:bodyPr wrap="none">
            <a:normAutofit/>
          </a:bodyPr>
          <a:lstStyle/>
          <a:p>
            <a:pPr indent="-540000"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Mi primer programa en Java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Instalar y crear un proyecto Java con </a:t>
            </a:r>
            <a:r>
              <a:rPr lang="es-ES" sz="28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IntelliJ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IDEA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Partes de un programa en Java</a:t>
            </a:r>
          </a:p>
          <a:p>
            <a:pPr indent="-540000"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Introducción a la programación en Java.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Expresiones</a:t>
            </a:r>
          </a:p>
          <a:p>
            <a:pPr lvl="2" indent="-540000"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</a:t>
            </a:r>
          </a:p>
          <a:p>
            <a:pPr indent="-540000"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Introducción a la entrada y salida de datos.</a:t>
            </a: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267057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6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Instalar y crear un proyecto Java con </a:t>
            </a:r>
            <a:r>
              <a:rPr lang="es-ES" sz="36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IntelliJ</a:t>
            </a:r>
            <a:r>
              <a:rPr lang="es-ES" sz="36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IDEA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216" y="990114"/>
            <a:ext cx="3072748" cy="5758340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1124071" y="1846273"/>
            <a:ext cx="2277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latin typeface="Helvetica LT Std Light" panose="020B0403020202020204" pitchFamily="34" charset="0"/>
              </a:rPr>
              <a:t>Tutorial disponible en el campus de la escuela</a:t>
            </a:r>
            <a:endParaRPr lang="es-ES" dirty="0"/>
          </a:p>
        </p:txBody>
      </p:sp>
      <p:sp>
        <p:nvSpPr>
          <p:cNvPr id="8" name="Flecha derecha 7"/>
          <p:cNvSpPr/>
          <p:nvPr/>
        </p:nvSpPr>
        <p:spPr>
          <a:xfrm>
            <a:off x="3564413" y="2026823"/>
            <a:ext cx="867806" cy="5241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643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6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Crear, compilar y ejecutar un programa Java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6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6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Cuidado con las mayúsculas y las minúsculas¡¡¡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640" y="1282584"/>
            <a:ext cx="9867900" cy="40767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6023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Partes de un programa en Java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Java es un lenguaje de programación orientado a objetos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(POO)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Nuestros programas en realidad son clases, una clase se indica mediante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palabra reservada class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código fuente se guarda en archivos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 el mismo nombre que la clase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contienen y con extensión “.java”</a:t>
            </a:r>
          </a:p>
        </p:txBody>
      </p:sp>
    </p:spTree>
    <p:extLst>
      <p:ext uri="{BB962C8B-B14F-4D97-AF65-F5344CB8AC3E}">
        <p14:creationId xmlns:p14="http://schemas.microsoft.com/office/powerpoint/2010/main" val="109151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compilador genera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 archivo intermedio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clase (“.class”) por cada una de las clases definidas en el archivo fuente.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clases que se ejecutan de forma autónoma deben contener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forzosamente el método main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Vamos a analizar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cada uno de los elementos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que componen el siguiente código antes de seguir avanzando: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948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Librerías y/o programas importados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Comentarios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Bloques de código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Sentencias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Metacaracteres</a:t>
            </a:r>
            <a:endParaRPr lang="es-ES" sz="2800" b="1" dirty="0"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Variables, constantes, identificadores y expresiones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92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librería es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conjunto de recursos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Si queremos utilizar estos recursos en nuestras aplicaciones,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 necesario importar la librería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Java en la que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encuentran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esto se utiliza 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palabra reservada import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seguido del nombre de la librería a importar.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Cuando importamos una librería podemos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importar sólo una parte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ella indicando que recurso concreto queremos importar, o podemos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importarla entera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indicándolo con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 *</a:t>
            </a:r>
          </a:p>
        </p:txBody>
      </p:sp>
    </p:spTree>
    <p:extLst>
      <p:ext uri="{BB962C8B-B14F-4D97-AF65-F5344CB8AC3E}">
        <p14:creationId xmlns:p14="http://schemas.microsoft.com/office/powerpoint/2010/main" val="7598449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Más adelante veremos como importar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nuestros propios programas para reutilizarlos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  <a:endParaRPr lang="es-ES" sz="2800" dirty="0"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comentarios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son líneas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texto insertadas en el programa para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documentarlo, facilitar su lectura y comprensión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por parte del programador.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comentarios en Java se indican de 2 formas:</a:t>
            </a:r>
          </a:p>
          <a:p>
            <a:pPr marL="1340100" lvl="2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Comentarios de una sola línea: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</a:p>
          <a:p>
            <a:pPr marL="800100" lvl="2" indent="0" algn="just">
              <a:spcBef>
                <a:spcPts val="0"/>
              </a:spcBef>
              <a:buSzPct val="68000"/>
              <a:buNone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  		//comienzan por 2 barras inclinadas</a:t>
            </a:r>
          </a:p>
          <a:p>
            <a:pPr marL="1340100" lvl="2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varias líneas: </a:t>
            </a:r>
          </a:p>
          <a:p>
            <a:pPr marL="800100" lvl="2" indent="0" algn="just">
              <a:spcBef>
                <a:spcPts val="0"/>
              </a:spcBef>
              <a:buSzPct val="68000"/>
              <a:buNone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			 /* La primera línea comienza por una barra inclinada y   			un asterisco y la última termina al revés */</a:t>
            </a:r>
            <a:endParaRPr lang="es-ES" sz="24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484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bloques de código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la unidad básica 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agrupación de instrucciones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en un programa. Se forman delimitando por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llave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apertura y una de cierre: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{}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mejorar la legibilidad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un código son imprescindibles el uso 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comentarios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y de 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tabulaciones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instrucciones dentro de un bloque están tabuladas.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tabulaciones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ayudan a entender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partes del código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pertenecen a un bloque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405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Bloques de código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090" y="1977823"/>
            <a:ext cx="9525000" cy="27527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23353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sentencias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las distintas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ordenes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debe ejecutar el programa y terminan siempre con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punto y coma “;”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podemos distinguir las siguientes: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E/S: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Piden o muestran algún dato por un dispositivo de entrada / salida.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Asignaciones y Expresiones: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Las expresiones y sentencias de asignación guardan un valor o el resultado de una operación en un atributo o variable.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Condicionales: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Expresan una condición para definir el flujo del programa. if, if- else y switch.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Bucles: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Sentencias que se encargan de repetir una o varias sentencias un número determinado de veces. for, while, do-while.</a:t>
            </a:r>
          </a:p>
        </p:txBody>
      </p:sp>
    </p:spTree>
    <p:extLst>
      <p:ext uri="{BB962C8B-B14F-4D97-AF65-F5344CB8AC3E}">
        <p14:creationId xmlns:p14="http://schemas.microsoft.com/office/powerpoint/2010/main" val="2627805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Metacaracteres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una serie de caracteres especiales, que sirven para el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control y la significación puntual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en las sentencias y los bloques de código: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800" spc="21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( ) [ ] { } \ ^ $ ? ; .</a:t>
            </a:r>
            <a:endParaRPr lang="es-ES" sz="4400" spc="21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9502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34158" y="0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Entrada-Salida básica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poder realizar una salida de datos por la pantalla es necesario usar 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clase System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Esta clase tiene el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atributo out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que hace referencia a la salida estándar (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pantalla o monitor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).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Por tanto para mostrar un mensaje por pantalla en primer lugar es necesario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importar la librería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que contiene a la clase System mediante: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import java.lang.*;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8699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Después cuando se desee mostrar un mensaje por pantalla bastará con escribir la siguiente instrucción: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System.out.print( mensaje_a_mostrar );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Donde el mensaje a mostrar puede ser una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 o una cadena de caracteres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Si se trata de una cadena debe ir entre comillas dobles “ ”</a:t>
            </a: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966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caracteres de escape son pequeñas constantes de gran utilizad para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formatear las salidas de datos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047" y="2296750"/>
            <a:ext cx="9259086" cy="2706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8160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Escribe una programa que muestre tu nombre por pantalla.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Modifica el programa anterior para que además se muestre tu dirección y tu número de teléfono. Asegúrate de que los datos se muestran en líneas separadas.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Modifica el programa anterior para que además muestre por pantalla 3 palabras en inglés junto a su correspondiente traducción al castellano. Las palabras deben estar distribuidas en dos columnas y alineadas a la izquierda (usa el carácter \t).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Modifica el programa anterior para que además pinte por pantalla una pirámide rellena a base de asteriscos. La base de la pirámide debe estar formada por 9 asteriscos.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Modifica el programa anterior para que además pinte la pirámide hueca (se debe ver únicamente el contorno hecho con asteriscos).</a:t>
            </a:r>
          </a:p>
        </p:txBody>
      </p:sp>
    </p:spTree>
    <p:extLst>
      <p:ext uri="{BB962C8B-B14F-4D97-AF65-F5344CB8AC3E}">
        <p14:creationId xmlns:p14="http://schemas.microsoft.com/office/powerpoint/2010/main" val="4784415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Mostrar siempre texto blanco sobre fondo negro puede resultar muy aburrido.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texto que se muestra por pantalla se puede colorear siendo necesario para ello insertar unas secuencias de caracteres.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Dichas secuencias indican el color con el que se quiere escribir, justo antes del propio texto.</a:t>
            </a:r>
          </a:p>
          <a:p>
            <a:pPr marL="0" indent="0" algn="just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556187"/>
              </p:ext>
            </p:extLst>
          </p:nvPr>
        </p:nvGraphicFramePr>
        <p:xfrm>
          <a:off x="1775981" y="5015132"/>
          <a:ext cx="8533217" cy="731520"/>
        </p:xfrm>
        <a:graphic>
          <a:graphicData uri="http://schemas.openxmlformats.org/drawingml/2006/table">
            <a:tbl>
              <a:tblPr/>
              <a:tblGrid>
                <a:gridCol w="1066652">
                  <a:extLst>
                    <a:ext uri="{9D8B030D-6E8A-4147-A177-3AD203B41FA5}">
                      <a16:colId xmlns:a16="http://schemas.microsoft.com/office/drawing/2014/main" val="2159169021"/>
                    </a:ext>
                  </a:extLst>
                </a:gridCol>
                <a:gridCol w="1066652">
                  <a:extLst>
                    <a:ext uri="{9D8B030D-6E8A-4147-A177-3AD203B41FA5}">
                      <a16:colId xmlns:a16="http://schemas.microsoft.com/office/drawing/2014/main" val="2194314895"/>
                    </a:ext>
                  </a:extLst>
                </a:gridCol>
                <a:gridCol w="1066652">
                  <a:extLst>
                    <a:ext uri="{9D8B030D-6E8A-4147-A177-3AD203B41FA5}">
                      <a16:colId xmlns:a16="http://schemas.microsoft.com/office/drawing/2014/main" val="2618089791"/>
                    </a:ext>
                  </a:extLst>
                </a:gridCol>
                <a:gridCol w="1190692">
                  <a:extLst>
                    <a:ext uri="{9D8B030D-6E8A-4147-A177-3AD203B41FA5}">
                      <a16:colId xmlns:a16="http://schemas.microsoft.com/office/drawing/2014/main" val="3154380543"/>
                    </a:ext>
                  </a:extLst>
                </a:gridCol>
                <a:gridCol w="942613">
                  <a:extLst>
                    <a:ext uri="{9D8B030D-6E8A-4147-A177-3AD203B41FA5}">
                      <a16:colId xmlns:a16="http://schemas.microsoft.com/office/drawing/2014/main" val="1334679834"/>
                    </a:ext>
                  </a:extLst>
                </a:gridCol>
                <a:gridCol w="1456235">
                  <a:extLst>
                    <a:ext uri="{9D8B030D-6E8A-4147-A177-3AD203B41FA5}">
                      <a16:colId xmlns:a16="http://schemas.microsoft.com/office/drawing/2014/main" val="4184562570"/>
                    </a:ext>
                  </a:extLst>
                </a:gridCol>
                <a:gridCol w="737881">
                  <a:extLst>
                    <a:ext uri="{9D8B030D-6E8A-4147-A177-3AD203B41FA5}">
                      <a16:colId xmlns:a16="http://schemas.microsoft.com/office/drawing/2014/main" val="1873432659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048602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0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effectLst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>
                          <a:effectLst/>
                        </a:rPr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5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6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>
                          <a:effectLst/>
                        </a:rPr>
                        <a:t>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3418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FFFFFF"/>
                          </a:solidFill>
                          <a:effectLst/>
                        </a:rPr>
                        <a:t>Negro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000000"/>
                          </a:solidFill>
                          <a:effectLst/>
                        </a:rPr>
                        <a:t>Rojo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000000"/>
                          </a:solidFill>
                          <a:effectLst/>
                        </a:rPr>
                        <a:t>Verde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000000"/>
                          </a:solidFill>
                          <a:effectLst/>
                        </a:rPr>
                        <a:t>Amarillo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FFFFFF"/>
                          </a:solidFill>
                          <a:effectLst/>
                        </a:rPr>
                        <a:t>Azul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000000"/>
                          </a:solidFill>
                          <a:effectLst/>
                        </a:rPr>
                        <a:t>Magenta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>
                          <a:solidFill>
                            <a:srgbClr val="000000"/>
                          </a:solidFill>
                          <a:effectLst/>
                        </a:rPr>
                        <a:t>Cian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000000"/>
                          </a:solidFill>
                          <a:effectLst/>
                        </a:rPr>
                        <a:t>Blanco</a:t>
                      </a: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73016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31" y="6071398"/>
            <a:ext cx="11649075" cy="40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01008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tablas completas de colores son:</a:t>
            </a:r>
          </a:p>
          <a:p>
            <a:pPr marL="0" indent="0" algn="just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175" y="1544826"/>
            <a:ext cx="8030829" cy="42018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6474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Java surge como una evolución,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intento de simplificar y mejorar C/C++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con lo cual estos lenguajes coinciden en muchos aspectos básicos:</a:t>
            </a:r>
          </a:p>
          <a:p>
            <a:pPr marL="1340100" lvl="2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Variables.</a:t>
            </a:r>
          </a:p>
          <a:p>
            <a:pPr marL="1340100" lvl="2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Expresiones.</a:t>
            </a:r>
          </a:p>
          <a:p>
            <a:pPr marL="1340100" lvl="2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Operadores.</a:t>
            </a:r>
          </a:p>
          <a:p>
            <a:pPr marL="1340100" lvl="2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Constantes.</a:t>
            </a: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2404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 = Entrada + Proceso + Salida</a:t>
            </a: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508" y="1454876"/>
            <a:ext cx="5756164" cy="45614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39848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just">
              <a:spcBef>
                <a:spcPts val="0"/>
              </a:spcBef>
              <a:buSzPct val="68000"/>
              <a:buNone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6975" y="408198"/>
            <a:ext cx="6491227" cy="34176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571" b="11238"/>
          <a:stretch/>
        </p:blipFill>
        <p:spPr>
          <a:xfrm>
            <a:off x="3144812" y="4294597"/>
            <a:ext cx="5795554" cy="1920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239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es una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zona de la memoria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del computador donde se puede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almacenar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un valor que se reserva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 lo largo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un programa informático.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Algunas de las características de una variable son las siguientes: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Poseen un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identificador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para poder referirse y acceder a ellas.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Su valor puede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cambiarse o modificarse a lo largo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 un programa cuantas veces sea necesario.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Son de un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tipo determinado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debe indicarse al comenzar a trabajar con ella.</a:t>
            </a:r>
            <a:endParaRPr lang="es-ES" sz="24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06555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Conceptualmente las variables podemos pensarlas como cajas de distintos tamaños.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686" y="1701300"/>
            <a:ext cx="3025807" cy="45427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92599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Según el tipo de dato que pueden almacenar, podemos distinguir 2 tipos principales de variables: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endParaRPr lang="es-ES" sz="24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940050" lvl="1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 de tipos primitivos: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Poseen un valor único y pueden ser entero, decimal, carácter, lógico…</a:t>
            </a:r>
          </a:p>
          <a:p>
            <a:pPr marL="940050" lvl="1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940050" lvl="1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 de tipo objeto: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Se usan para hacer referencia a objetos que tienen que ser de una determinada clase.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2371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 referencias vs básicas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1026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7" t="19985" r="6410" b="15157"/>
          <a:stretch/>
        </p:blipFill>
        <p:spPr bwMode="auto">
          <a:xfrm>
            <a:off x="2935816" y="1776549"/>
            <a:ext cx="6213547" cy="34485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0505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15550" y="11502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Tipos primitivos: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aquellas variables sencillas que contienen tipos de información más habituales: booleanos, caracteres, enteros y reales. </a:t>
            </a:r>
          </a:p>
          <a:p>
            <a:pPr marL="1340100" lvl="2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Enteros: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byte(8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valores entre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-128 y 127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short(16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valores entre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-32768 y 32767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int (32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valores entre 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-2147483648 y 2147483647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2254500" lvl="4" indent="-540000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long (64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valores entre </a:t>
            </a:r>
            <a:b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-9223372036854775808 y 9223372036854775807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1340100" lvl="2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Reales: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float (32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hasta 7 cifras decimales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double(64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hasta 15 cifras decimales</a:t>
            </a:r>
          </a:p>
          <a:p>
            <a:pPr marL="1340100" lvl="2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Booleanos: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boolean (1 bit)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true o false</a:t>
            </a:r>
            <a:endParaRPr lang="es-ES" sz="2000" dirty="0">
              <a:latin typeface="Helvetica LT Std Light" panose="020B0403020202020204" pitchFamily="34" charset="0"/>
            </a:endParaRPr>
          </a:p>
          <a:p>
            <a:pPr marL="1340100" lvl="2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Caracteres: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</a:p>
          <a:p>
            <a:pPr marL="2254500" lvl="4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char (16 bits)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(entre comillas simples ‘a’)</a:t>
            </a:r>
          </a:p>
          <a:p>
            <a:pPr marL="1257300" lvl="3" indent="0" algn="just">
              <a:spcBef>
                <a:spcPts val="0"/>
              </a:spcBef>
              <a:buSzPct val="68000"/>
              <a:buNone/>
            </a:pPr>
            <a:endParaRPr lang="es-ES" sz="26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859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Cadenas de Texto: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Las cadenas de texto no son tipos primitivos, en realidad son objetos.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Debido a su amplio uso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Java nos permite trabajar con ellas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como si fueran tipos primitivos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: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diferenciarlas de los caracteres simples van entre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comillas dobles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“a”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es una cadena de texto,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‘a’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es un carácter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Ejemplos: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“hola”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“Esto es una cadena”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“123”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 ”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“”</a:t>
            </a:r>
          </a:p>
        </p:txBody>
      </p:sp>
    </p:spTree>
    <p:extLst>
      <p:ext uri="{BB962C8B-B14F-4D97-AF65-F5344CB8AC3E}">
        <p14:creationId xmlns:p14="http://schemas.microsoft.com/office/powerpoint/2010/main" val="3690778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¿Cuál sería el tipo de dato más correcto para los siguientes casos?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Edad de una persona.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Sueldo en euros.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Número de teléfono.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Respuesta a una pregunta con Sí </a:t>
            </a:r>
            <a:r>
              <a:rPr lang="es-ES" sz="30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ó</a:t>
            </a: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No.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valor de PI.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3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Si una persona está casada o soltera.</a:t>
            </a:r>
          </a:p>
          <a:p>
            <a:pPr marL="940050" lvl="1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Fecha completa de nacimiento.</a:t>
            </a:r>
          </a:p>
        </p:txBody>
      </p:sp>
    </p:spTree>
    <p:extLst>
      <p:ext uri="{BB962C8B-B14F-4D97-AF65-F5344CB8AC3E}">
        <p14:creationId xmlns:p14="http://schemas.microsoft.com/office/powerpoint/2010/main" val="767204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identificadores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los nombres que se asigna a 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clases, métodos, atributos, objetos, variables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etc, para referirse a ellos dentro del programa.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Deben respetar las siguientes normas: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No pueden contener ni espacios ni caracteres especiales salvo “_”.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No pueden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empezar por un número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Java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distingue mayúsculas de minúsculas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por lo que “Nombre” y “nombre” son identificadores diferentes.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debe evitar el uso de acentos y la letra ñ.</a:t>
            </a:r>
          </a:p>
        </p:txBody>
      </p:sp>
    </p:spTree>
    <p:extLst>
      <p:ext uri="{BB962C8B-B14F-4D97-AF65-F5344CB8AC3E}">
        <p14:creationId xmlns:p14="http://schemas.microsoft.com/office/powerpoint/2010/main" val="42491085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Además de las normas anteriores, suelen respetarse 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siguientes convenciones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para asignar identificadores: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nombre de una clase siempre empieza por mayúscula: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Programa1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nombre de un método, variable, atributo etc siempre empieza por minúscula: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main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Si el identificador está formado por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más de un vocablo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a partir del segundo las iniciales deberán ser mayúsculas o guion bajo _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nombres de las clases deberán ser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sustantivos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los de los métodos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verbos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1340100" lvl="2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nombres de las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variables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y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atributos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deben expresar con </a:t>
            </a: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claridad su contenido</a:t>
            </a:r>
            <a:r>
              <a:rPr lang="es-ES" sz="28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  <a:endParaRPr lang="es-ES" sz="24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849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nombre de una variable es su identificador, y como tal cumple con las reglas de los identificadores.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Además en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Java existe una serie de palabras reservadas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tienen un significado específico dentro de un programa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Por lo tanto no se pueden utilizar como nombres de variables. Dichas palabras son: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8673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Palabras reservadas en Java</a:t>
            </a: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2052" name="Picture 4" descr="Resultado de imagen de tag cloud jav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6" t="7639" r="2024" b="16642"/>
          <a:stretch/>
        </p:blipFill>
        <p:spPr bwMode="auto">
          <a:xfrm>
            <a:off x="2093683" y="1750423"/>
            <a:ext cx="7897814" cy="36314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72234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just">
              <a:spcBef>
                <a:spcPts val="0"/>
              </a:spcBef>
              <a:buSzPct val="68000"/>
              <a:buNone/>
            </a:pPr>
            <a:r>
              <a:rPr lang="pt-BR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¿</a:t>
            </a:r>
            <a:r>
              <a:rPr lang="pt-BR" sz="32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Cúales</a:t>
            </a:r>
            <a:r>
              <a:rPr lang="pt-BR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pt-BR" sz="32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son</a:t>
            </a:r>
            <a:r>
              <a:rPr lang="pt-BR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identificadores válidos </a:t>
            </a:r>
            <a:r>
              <a:rPr lang="pt-BR" sz="3200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en</a:t>
            </a:r>
            <a:r>
              <a:rPr lang="pt-BR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Java?</a:t>
            </a: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num80</a:t>
            </a: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80num</a:t>
            </a: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num_2</a:t>
            </a: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_num</a:t>
            </a: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$</a:t>
            </a:r>
            <a:r>
              <a:rPr lang="pt-BR" sz="32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pred</a:t>
            </a:r>
            <a:r>
              <a:rPr lang="pt-BR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$</a:t>
            </a: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Dinero_de_la_caja_fuerte</a:t>
            </a:r>
            <a:endParaRPr lang="pt-BR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if</a:t>
            </a:r>
            <a:endParaRPr lang="pt-BR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lnSpc>
                <a:spcPct val="150000"/>
              </a:lnSpc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pt-BR" sz="3200" b="1" dirty="0" err="1">
                <a:solidFill>
                  <a:schemeClr val="tx1"/>
                </a:solidFill>
                <a:latin typeface="Helvetica LT Std Light" panose="020B0403020202020204" pitchFamily="34" charset="0"/>
              </a:rPr>
              <a:t>años</a:t>
            </a:r>
            <a:endParaRPr lang="es-ES" sz="32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157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latin typeface="Helvetica LT Std Light" panose="020B0403020202020204" pitchFamily="34" charset="0"/>
              </a:rPr>
              <a:t>Ejemplo de declaración de variables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5434" y="1264648"/>
            <a:ext cx="4554311" cy="47199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317003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latin typeface="Helvetica LT Std Light" panose="020B0403020202020204" pitchFamily="34" charset="0"/>
              </a:rPr>
              <a:t>EJERCICIO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latin typeface="Helvetica LT Std Light" panose="020B0403020202020204" pitchFamily="34" charset="0"/>
              </a:rPr>
              <a:t>Crear un programa que muestre por pantalla las variables declaradas en la diapositiva anterior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8939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Ejemplo completo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042" y="1408214"/>
            <a:ext cx="7655095" cy="46079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10409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constantes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un tipo especial de variable, poseen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valor fijo que no se puede cambiar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en el transcurso de la ejecución de un programa. 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Estas se declaran mediante el modificador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final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0" indent="0" algn="ctr">
              <a:spcBef>
                <a:spcPts val="120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final double PI = 3.1416159265;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i="1" dirty="0" err="1">
                <a:solidFill>
                  <a:srgbClr val="FF0000"/>
                </a:solidFill>
                <a:latin typeface="Helvetica LT Std Light" panose="020B0403020202020204" pitchFamily="34" charset="0"/>
              </a:rPr>
              <a:t>ó</a:t>
            </a:r>
            <a:r>
              <a:rPr lang="es-ES" sz="3200" b="1" dirty="0">
                <a:solidFill>
                  <a:srgbClr val="FF0000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i="1" dirty="0">
                <a:solidFill>
                  <a:srgbClr val="FF0000"/>
                </a:solidFill>
                <a:latin typeface="Helvetica LT Std Light" panose="020B0403020202020204" pitchFamily="34" charset="0"/>
              </a:rPr>
              <a:t>también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final doublé PI;</a:t>
            </a:r>
          </a:p>
          <a:p>
            <a:pPr marL="0" indent="0" algn="ctr">
              <a:spcBef>
                <a:spcPts val="120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PI= 3.1416159265;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Como regla adicional,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identificadores de las constantes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suelen declararse en mayúsculas para indicar que lo son.</a:t>
            </a:r>
          </a:p>
        </p:txBody>
      </p:sp>
      <p:sp>
        <p:nvSpPr>
          <p:cNvPr id="2" name="Rectángulo 1"/>
          <p:cNvSpPr/>
          <p:nvPr/>
        </p:nvSpPr>
        <p:spPr>
          <a:xfrm>
            <a:off x="2734491" y="2368731"/>
            <a:ext cx="6627223" cy="2325189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2345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2487" y="101960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variables deben utilizarse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guardar información que se ha obtenido en el programa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y que puede ser necesario en otro momento.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valor constante se refiere a durante la ejecución del programa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como contraposición a las variables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que si cambian a lo largo del mismo.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Por ejemplo,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aforo máximo </a:t>
            </a:r>
            <a:b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un cine y 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asistencia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b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 un sesión de cine.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3074" name="Picture 2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73" t="13384" r="5875" b="11170"/>
          <a:stretch/>
        </p:blipFill>
        <p:spPr bwMode="auto">
          <a:xfrm>
            <a:off x="6615836" y="3905122"/>
            <a:ext cx="4489228" cy="25378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0442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2487" y="101960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 ejemplo claro de uso de constantes en lugar de variables puede ser para los colores del terminal.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Son códigos complejos difíciles de recordar, pero que no cambian.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07" y="3231178"/>
            <a:ext cx="11169818" cy="28449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83612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2487" y="101960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Declarando una constante le damos a un valor complicado un nombre fácil de recordar.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Esto funcionaria con las definiciones de la  diapositiva anterior.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Esto también hace que sea más eficiente que una variable del mismo tipo.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28" y="1636044"/>
            <a:ext cx="9629775" cy="4095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7552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expresiones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son fragmentos de código formadas por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2 o más miembros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separados entre si por operadores que los evalúan y los relacionan.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Ejemplo: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x = 3 + 2;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spcAft>
                <a:spcPts val="1200"/>
              </a:spcAft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orden es importante, ya que el resultado de una expresión se guarda en la parte izquierda.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3 + 2 = x; //Esto es un error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Una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expresión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puede incluir cualquier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tipo de operador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 los que veremos más adelante.</a:t>
            </a:r>
          </a:p>
          <a:p>
            <a:pPr marL="0" indent="0" algn="just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084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128085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operadores aritméticos son operadores binarios (requieren siempre 2 operandos) y corresponden a las operaciones aritméticas habituales:</a:t>
            </a:r>
          </a:p>
          <a:p>
            <a:pPr marL="1340100" lvl="2" indent="-540000" algn="just">
              <a:spcBef>
                <a:spcPts val="6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Suma +</a:t>
            </a:r>
          </a:p>
          <a:p>
            <a:pPr marL="1340100" lvl="2" indent="-540000" algn="just">
              <a:spcBef>
                <a:spcPts val="6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Resta –</a:t>
            </a:r>
          </a:p>
          <a:p>
            <a:pPr marL="1340100" lvl="2" indent="-540000" algn="just">
              <a:spcBef>
                <a:spcPts val="6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Multiplicación *</a:t>
            </a:r>
          </a:p>
          <a:p>
            <a:pPr marL="1340100" lvl="2" indent="-540000" algn="just">
              <a:spcBef>
                <a:spcPts val="6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División /</a:t>
            </a:r>
          </a:p>
          <a:p>
            <a:pPr marL="1340100" lvl="2" indent="-540000" algn="just">
              <a:spcBef>
                <a:spcPts val="6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Resto de la división %</a:t>
            </a:r>
          </a:p>
          <a:p>
            <a:pPr marL="540000" indent="-540000" algn="just">
              <a:spcBef>
                <a:spcPts val="120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operadores de asignación permiten asignar un valor a una variable:</a:t>
            </a:r>
          </a:p>
          <a:p>
            <a:pPr marL="1340100" lvl="2" indent="-540000" algn="just">
              <a:spcBef>
                <a:spcPts val="600"/>
              </a:spcBef>
              <a:buSzPct val="68000"/>
              <a:buFont typeface="Wingdings" panose="05000000000000000000" pitchFamily="2" charset="2"/>
              <a:buChar char="ü"/>
            </a:pPr>
            <a:r>
              <a:rPr lang="es-ES" sz="28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variable = expresión;</a:t>
            </a: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953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59" y="150192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 el caso de que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no usemos paréntesis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 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siguiente tabla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se puede observar cual es la precedencia de operadores en Java.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Teniendo siempre más prioridad 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arriba a abajo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y 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izquierda a derecha.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0885" y="3408837"/>
            <a:ext cx="4383405" cy="306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5840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orden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en que se realizan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las operaciones es fundamental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para determinar el resultado de una operación.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Por ejemplo, el resultado 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operación 3+2*5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dependerá de que operación se realice primero.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mejor método es indicar en que orden queremos que se realicen las operaciones. Para esto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Java utiliza los paréntesis ()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 una expresión siempre se evaluará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primero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los operadores que estén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dentro del paréntesis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81345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Ejemplos de variables y operadores</a:t>
            </a:r>
            <a:endParaRPr lang="es-ES" sz="4400" b="1" dirty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595" y="1056765"/>
            <a:ext cx="5701493" cy="18886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340" y="3296689"/>
            <a:ext cx="4762500" cy="3124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2570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Construye expresiones de las siguientes formulas</a:t>
            </a:r>
            <a:endParaRPr lang="es-ES" sz="4400" b="1" dirty="0">
              <a:latin typeface="Helvetica LT Std Light" panose="020B0403020202020204" pitchFamily="34" charset="0"/>
            </a:endParaRPr>
          </a:p>
        </p:txBody>
      </p:sp>
      <p:pic>
        <p:nvPicPr>
          <p:cNvPr id="6" name="Imagen 5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9" t="8274" r="74690" b="60234"/>
          <a:stretch/>
        </p:blipFill>
        <p:spPr bwMode="auto">
          <a:xfrm>
            <a:off x="3598048" y="2170400"/>
            <a:ext cx="1511362" cy="12969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08" r="8224"/>
          <a:stretch/>
        </p:blipFill>
        <p:spPr bwMode="auto">
          <a:xfrm>
            <a:off x="3357416" y="3986383"/>
            <a:ext cx="1751994" cy="16342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4238" y="1856504"/>
            <a:ext cx="1704224" cy="1924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1801" y="4243631"/>
            <a:ext cx="2870248" cy="118768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70334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latin typeface="Helvetica LT Std Light" panose="020B0403020202020204" pitchFamily="34" charset="0"/>
              </a:rPr>
              <a:t>Ejemplo de declaración de variables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4400" b="1" dirty="0"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¿Con que versión os quedáis?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02" y="1237024"/>
            <a:ext cx="4676775" cy="4105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98401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 de concatenación y aritméticos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2"/>
          <a:srcRect b="41669"/>
          <a:stretch/>
        </p:blipFill>
        <p:spPr>
          <a:xfrm>
            <a:off x="1653506" y="1966302"/>
            <a:ext cx="8778167" cy="2489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370859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 algunos casos suele ser necesario convertir un tipo de dato a otro. Este proceso se conoce como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conversión de tipos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debe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tener en cuenta el tipo de dato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se va a convertir, ya que si se convierte un dato a otro que tenga una cantidad menor de bits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puede haber perdida de información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ejemplo más claro de esto es si se quiere guardar un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número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real en una variable entera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Con lo cual se producirá la perdida de los números decimales.</a:t>
            </a:r>
          </a:p>
        </p:txBody>
      </p:sp>
    </p:spTree>
    <p:extLst>
      <p:ext uri="{BB962C8B-B14F-4D97-AF65-F5344CB8AC3E}">
        <p14:creationId xmlns:p14="http://schemas.microsoft.com/office/powerpoint/2010/main" val="26009525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Si la conversión se realiza a un tipo de dato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 mayor número de bits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la conversión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no supone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ningún tipo 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conflicto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y se realiza automáticamente.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Este tipo de conversión se llama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conversión implícita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Por el contrario si la conversión es a un tipo de dato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 menor número de bits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el original, se puede producir perdida de información y hay que indicárselo explícitamente a Java.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la conoce a esto ultimo como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conversión explícita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187596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realizar una conversión explícita se tiene que poner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tipo de dato 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al que se desea convertir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entre paréntesis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y luego el dato en cuestión: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579" y="2454183"/>
            <a:ext cx="9194021" cy="3175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80655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6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Conversiones más especiales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3188" y="1447800"/>
            <a:ext cx="5638800" cy="2362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957" y="4780045"/>
            <a:ext cx="8129262" cy="8026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0744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lectura de datos de teclado en un programa en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Java no es una operación trivial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esto son necesarios ciertos conocimientos de programación orientada a objetos que permitan configurar la comunicación con el teclado.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simplificar esta tarea utilizaremos una de las utilidades propias de Java. 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trata de 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clase Scanner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 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9354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Esta clase se encuentra dentro del paquete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“util” de Java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por lo que será necesario importarlo en todos nuestros programas que necesiten usar el teclado: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import java.util.Scanner;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poder trabajar con esta utilidad es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necesario inicializarla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antes de realizar cualquier lectura de la siguiente forma: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Scanner sc = new Scanner(System.in);</a:t>
            </a:r>
          </a:p>
          <a:p>
            <a:pPr marL="0" indent="0" algn="just">
              <a:spcBef>
                <a:spcPts val="0"/>
              </a:spcBef>
              <a:buSzPct val="68000"/>
              <a:buNone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681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Donde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System.in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indica que estamos leyendo del teclado.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sc es el nombre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que le queremos dar a la conexión que hemos abierto con el teclado.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Podemos darle cualquier nombre: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sc, lector, teclado…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Esta operación sólo hay que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realizarla una vez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independientemente de cuantas lecturas queramos hacer.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6971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clase Scanner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dispone de los siguientes métodos para poder leer datos: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Los datos se cogen desde el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buffer de teclado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154" y="1653467"/>
            <a:ext cx="10631836" cy="18353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3154" y="4316813"/>
            <a:ext cx="10374291" cy="13716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460543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95807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1200"/>
              </a:spcBef>
              <a:spcAft>
                <a:spcPts val="600"/>
              </a:spcAft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Al introducir un dato numérico de cualquier tipo, se introduce dicho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número más el carácter de intro (‘\n’)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540000" algn="just">
              <a:spcBef>
                <a:spcPts val="1200"/>
              </a:spcBef>
              <a:spcAft>
                <a:spcPts val="600"/>
              </a:spcAft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Al realizar la lectura, solamente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se lee el número y el salto de línea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permanece en el buffer de lectura.</a:t>
            </a:r>
          </a:p>
          <a:p>
            <a:pPr marL="540000" indent="-540000" algn="just">
              <a:spcBef>
                <a:spcPts val="1200"/>
              </a:spcBef>
              <a:spcAft>
                <a:spcPts val="600"/>
              </a:spcAft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Esto puede ser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problemático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si después de leer un número, se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lee una cadena de caracteres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, ya que esta tomará ese ultimo salto de línea del teclado en lugar de realizar una lectura. </a:t>
            </a:r>
          </a:p>
          <a:p>
            <a:pPr marL="540000" indent="-540000" algn="just">
              <a:spcBef>
                <a:spcPts val="1200"/>
              </a:spcBef>
              <a:spcAft>
                <a:spcPts val="600"/>
              </a:spcAft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evitar este problema, basta con realizar una </a:t>
            </a: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lectura extra</a:t>
            </a: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 para eliminar dicho salto de línea.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69853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Ejemplo de vaciado del buffer de teclado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35" y="2067219"/>
            <a:ext cx="11068709" cy="3496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65548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 completo con E/S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>
              <a:buSzPct val="68000"/>
              <a:buFont typeface="Wingdings" panose="05000000000000000000" pitchFamily="2" charset="2"/>
              <a:buChar char="q"/>
            </a:pP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253" y="1344124"/>
            <a:ext cx="8652674" cy="47471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42488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Operadores incrementales al mismo estilo que los anteriores son incremento (++) y decremento (--) modifican en una unidad la variable a la que se aplica.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x++   equivale a     x = x + 1</a:t>
            </a:r>
          </a:p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32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x--     equivale a     x = x - 1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El operador + se utiliza también para unir cadenas de caracteres.</a:t>
            </a: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3200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Para entender mejor observemos los siguientes ejemplos.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21322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540000" indent="-540000" algn="just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32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Otros operadores de asignación que incluyen operandos.</a:t>
            </a:r>
            <a:endParaRPr lang="es-ES" sz="2800" dirty="0">
              <a:latin typeface="Helvetica LT Std Light" panose="020B0403020202020204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658" y="1908265"/>
            <a:ext cx="7737864" cy="287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8665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6361" y="206463"/>
            <a:ext cx="10932459" cy="5540189"/>
          </a:xfrm>
        </p:spPr>
        <p:txBody>
          <a:bodyPr wrap="square">
            <a:noAutofit/>
          </a:bodyPr>
          <a:lstStyle/>
          <a:p>
            <a:pPr marL="0" indent="0" algn="ctr">
              <a:spcBef>
                <a:spcPts val="0"/>
              </a:spcBef>
              <a:buSzPct val="68000"/>
              <a:buNone/>
            </a:pPr>
            <a:r>
              <a:rPr lang="es-ES" sz="40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Ejemplos de operadores abreviados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t="8687"/>
          <a:stretch/>
        </p:blipFill>
        <p:spPr>
          <a:xfrm>
            <a:off x="1783444" y="1461852"/>
            <a:ext cx="2416750" cy="40180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485" y="2335877"/>
            <a:ext cx="3358098" cy="17501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414990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197375" y="118314"/>
            <a:ext cx="9929030" cy="794549"/>
          </a:xfrm>
        </p:spPr>
        <p:txBody>
          <a:bodyPr wrap="none">
            <a:normAutofit/>
          </a:bodyPr>
          <a:lstStyle/>
          <a:p>
            <a:pPr algn="ctr"/>
            <a:r>
              <a:rPr lang="es-ES" sz="4400" b="1" dirty="0">
                <a:solidFill>
                  <a:schemeClr val="tx1"/>
                </a:solidFill>
                <a:latin typeface="Helvetica LT Std Light" panose="020B0403020202020204" pitchFamily="34" charset="0"/>
                <a:cs typeface="Helvetica" panose="020B0604020202020204" pitchFamily="34" charset="0"/>
              </a:rPr>
              <a:t>Bibliografía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85369" y="912863"/>
            <a:ext cx="11353042" cy="5670817"/>
          </a:xfrm>
        </p:spPr>
        <p:txBody>
          <a:bodyPr wrap="square" numCol="2">
            <a:noAutofit/>
          </a:bodyPr>
          <a:lstStyle/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García de Jalón, j.: “Aprende Java como si estuvieras en primero”.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TECNUN. 2000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Holzner, S.: “La biblia de JAVA 2”. </a:t>
            </a: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Anaya Multimedia 2000.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Moreno Pérez, J.C.: “C.F.G.S Programación” 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Editorial RA-MA. 2012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Wikipedia, la enciclopedia libre. http://es.wikipedia.org/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visita: Octubre 2018.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López, J.C.: “Curso de JAVA http://www.cursodejava.com.mx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visita: Octubre 2018</a:t>
            </a: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Documentación oficial Java JSE 8  http://docs.oracle.com/javase/8/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dirty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visita: Octubre 2015.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b="1" dirty="0">
              <a:solidFill>
                <a:schemeClr val="tx1"/>
              </a:solidFill>
              <a:latin typeface="Helvetica LT Std Light" panose="020B0403020202020204" pitchFamily="34" charset="0"/>
            </a:endParaRP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Programación en castellano: Java.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http://www.programacion.net/java</a:t>
            </a:r>
            <a:b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</a:br>
            <a:r>
              <a:rPr lang="es-ES" sz="2400" b="1" dirty="0">
                <a:solidFill>
                  <a:schemeClr val="tx1"/>
                </a:solidFill>
                <a:latin typeface="Helvetica LT Std Light" panose="020B0403020202020204" pitchFamily="34" charset="0"/>
              </a:rPr>
              <a:t>Última visita: Octubre 2015.</a:t>
            </a:r>
          </a:p>
          <a:p>
            <a:pPr marL="540000" indent="-396000">
              <a:spcBef>
                <a:spcPts val="0"/>
              </a:spcBef>
              <a:buSzPct val="68000"/>
              <a:buFont typeface="Wingdings" panose="05000000000000000000" pitchFamily="2" charset="2"/>
              <a:buChar char="q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480114324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2289</TotalTime>
  <Words>2919</Words>
  <Application>Microsoft Office PowerPoint</Application>
  <PresentationFormat>Panorámica</PresentationFormat>
  <Paragraphs>374</Paragraphs>
  <Slides>65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65</vt:i4>
      </vt:variant>
    </vt:vector>
  </HeadingPairs>
  <TitlesOfParts>
    <vt:vector size="71" baseType="lpstr">
      <vt:lpstr>Arial</vt:lpstr>
      <vt:lpstr>Century Gothic</vt:lpstr>
      <vt:lpstr>Helvetica LT Std Light</vt:lpstr>
      <vt:lpstr>Wingdings</vt:lpstr>
      <vt:lpstr>Wingdings 3</vt:lpstr>
      <vt:lpstr>Espiral</vt:lpstr>
      <vt:lpstr>    Desarrollo de Aplicaciones Web y Multiplataforma: Programación </vt:lpstr>
      <vt:lpstr> Tema 1.  Introducción a la Programación </vt:lpstr>
      <vt:lpstr>Índice de contenidos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Desarrollo de Aplicaciones Web y Multiplataforma: Programación</dc:title>
  <dc:creator>Usuario de Windows</dc:creator>
  <cp:lastModifiedBy>genericoRS</cp:lastModifiedBy>
  <cp:revision>315</cp:revision>
  <dcterms:created xsi:type="dcterms:W3CDTF">2018-07-23T20:39:52Z</dcterms:created>
  <dcterms:modified xsi:type="dcterms:W3CDTF">2024-09-17T15:30:02Z</dcterms:modified>
</cp:coreProperties>
</file>