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8" r:id="rId5"/>
    <p:sldId id="279" r:id="rId6"/>
    <p:sldId id="280" r:id="rId7"/>
    <p:sldId id="269" r:id="rId8"/>
    <p:sldId id="270" r:id="rId9"/>
    <p:sldId id="271" r:id="rId10"/>
    <p:sldId id="272" r:id="rId11"/>
    <p:sldId id="273" r:id="rId12"/>
    <p:sldId id="276" r:id="rId13"/>
    <p:sldId id="275" r:id="rId14"/>
    <p:sldId id="277" r:id="rId15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5" d="100"/>
          <a:sy n="155" d="100"/>
        </p:scale>
        <p:origin x="498" y="1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51302" y="177164"/>
            <a:ext cx="708939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1194" y="-13969"/>
            <a:ext cx="10258425" cy="1429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077" y="2851785"/>
            <a:ext cx="11559844" cy="1795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ursodejava.com.mx/" TargetMode="External"/><Relationship Id="rId2" Type="http://schemas.openxmlformats.org/officeDocument/2006/relationships/hyperlink" Target="http://es.wikipedia.org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www.programacion.net/java" TargetMode="External"/><Relationship Id="rId4" Type="http://schemas.openxmlformats.org/officeDocument/2006/relationships/hyperlink" Target="http://docs.oracle.com/javase/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51785" cy="6858000"/>
            <a:chOff x="0" y="0"/>
            <a:chExt cx="285178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851404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80" h="6858000">
                  <a:moveTo>
                    <a:pt x="182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766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323588"/>
              <a:ext cx="1743075" cy="778510"/>
            </a:xfrm>
            <a:custGeom>
              <a:avLst/>
              <a:gdLst/>
              <a:ahLst/>
              <a:cxnLst/>
              <a:rect l="l" t="t" r="r" b="b"/>
              <a:pathLst>
                <a:path w="1743075" h="778510">
                  <a:moveTo>
                    <a:pt x="1346454" y="0"/>
                  </a:moveTo>
                  <a:lnTo>
                    <a:pt x="0" y="0"/>
                  </a:lnTo>
                  <a:lnTo>
                    <a:pt x="0" y="778382"/>
                  </a:lnTo>
                  <a:lnTo>
                    <a:pt x="1346454" y="778382"/>
                  </a:lnTo>
                  <a:lnTo>
                    <a:pt x="1356233" y="777620"/>
                  </a:lnTo>
                  <a:lnTo>
                    <a:pt x="1364107" y="775462"/>
                  </a:lnTo>
                  <a:lnTo>
                    <a:pt x="1370330" y="772413"/>
                  </a:lnTo>
                  <a:lnTo>
                    <a:pt x="1374648" y="768985"/>
                  </a:lnTo>
                  <a:lnTo>
                    <a:pt x="1374648" y="764286"/>
                  </a:lnTo>
                  <a:lnTo>
                    <a:pt x="1379347" y="764286"/>
                  </a:lnTo>
                  <a:lnTo>
                    <a:pt x="1735963" y="407924"/>
                  </a:lnTo>
                  <a:lnTo>
                    <a:pt x="1741297" y="399414"/>
                  </a:lnTo>
                  <a:lnTo>
                    <a:pt x="1742948" y="388619"/>
                  </a:lnTo>
                  <a:lnTo>
                    <a:pt x="1741297" y="376936"/>
                  </a:lnTo>
                  <a:lnTo>
                    <a:pt x="1735963" y="365760"/>
                  </a:lnTo>
                  <a:lnTo>
                    <a:pt x="1379347" y="14097"/>
                  </a:lnTo>
                  <a:lnTo>
                    <a:pt x="1379347" y="9398"/>
                  </a:lnTo>
                  <a:lnTo>
                    <a:pt x="1374648" y="9398"/>
                  </a:lnTo>
                  <a:lnTo>
                    <a:pt x="1370330" y="5968"/>
                  </a:lnTo>
                  <a:lnTo>
                    <a:pt x="1364107" y="2920"/>
                  </a:lnTo>
                  <a:lnTo>
                    <a:pt x="1356233" y="762"/>
                  </a:lnTo>
                  <a:lnTo>
                    <a:pt x="1346454" y="0"/>
                  </a:lnTo>
                  <a:close/>
                </a:path>
              </a:pathLst>
            </a:custGeom>
            <a:solidFill>
              <a:srgbClr val="A32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17217" y="3048761"/>
            <a:ext cx="9318625" cy="2279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  <a:tabLst>
                <a:tab pos="7642225" algn="l"/>
              </a:tabLst>
            </a:pPr>
            <a:r>
              <a:rPr sz="4900" spc="-10" dirty="0">
                <a:latin typeface="Trebuchet MS"/>
                <a:cs typeface="Trebuchet MS"/>
              </a:rPr>
              <a:t>Desarrollo</a:t>
            </a:r>
            <a:r>
              <a:rPr sz="4900" spc="-35" dirty="0">
                <a:latin typeface="Trebuchet MS"/>
                <a:cs typeface="Trebuchet MS"/>
              </a:rPr>
              <a:t> </a:t>
            </a:r>
            <a:r>
              <a:rPr sz="4900" spc="-5" dirty="0">
                <a:latin typeface="Trebuchet MS"/>
                <a:cs typeface="Trebuchet MS"/>
              </a:rPr>
              <a:t>de</a:t>
            </a:r>
            <a:r>
              <a:rPr sz="4900" spc="-495" dirty="0">
                <a:latin typeface="Trebuchet MS"/>
                <a:cs typeface="Trebuchet MS"/>
              </a:rPr>
              <a:t> </a:t>
            </a:r>
            <a:r>
              <a:rPr sz="4900" spc="-5" dirty="0">
                <a:latin typeface="Trebuchet MS"/>
                <a:cs typeface="Trebuchet MS"/>
              </a:rPr>
              <a:t>Aplicaciones	</a:t>
            </a:r>
            <a:r>
              <a:rPr sz="4900" spc="-105" dirty="0">
                <a:latin typeface="Trebuchet MS"/>
                <a:cs typeface="Trebuchet MS"/>
              </a:rPr>
              <a:t>Web</a:t>
            </a:r>
            <a:r>
              <a:rPr sz="4900" spc="-155" dirty="0">
                <a:latin typeface="Trebuchet MS"/>
                <a:cs typeface="Trebuchet MS"/>
              </a:rPr>
              <a:t> </a:t>
            </a:r>
            <a:r>
              <a:rPr sz="4900" spc="-5" dirty="0">
                <a:latin typeface="Trebuchet MS"/>
                <a:cs typeface="Trebuchet MS"/>
              </a:rPr>
              <a:t>y </a:t>
            </a:r>
            <a:r>
              <a:rPr sz="4900" spc="-1465" dirty="0">
                <a:latin typeface="Trebuchet MS"/>
                <a:cs typeface="Trebuchet MS"/>
              </a:rPr>
              <a:t> </a:t>
            </a:r>
            <a:r>
              <a:rPr sz="4900" spc="-10" dirty="0">
                <a:latin typeface="Trebuchet MS"/>
                <a:cs typeface="Trebuchet MS"/>
              </a:rPr>
              <a:t>Multiplataforma:</a:t>
            </a:r>
            <a:endParaRPr sz="49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4900" b="1" spc="-20" dirty="0">
                <a:latin typeface="Trebuchet MS"/>
                <a:cs typeface="Trebuchet MS"/>
              </a:rPr>
              <a:t>Programación</a:t>
            </a:r>
            <a:endParaRPr sz="49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8016" y="5953759"/>
            <a:ext cx="3429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25" dirty="0">
                <a:solidFill>
                  <a:srgbClr val="575757"/>
                </a:solidFill>
                <a:latin typeface="Verdana"/>
                <a:cs typeface="Verdana"/>
              </a:rPr>
              <a:t>DOCENTE</a:t>
            </a:r>
            <a:r>
              <a:rPr sz="1800" b="1" spc="-114" dirty="0">
                <a:solidFill>
                  <a:srgbClr val="575757"/>
                </a:solidFill>
                <a:latin typeface="Verdana"/>
                <a:cs typeface="Verdana"/>
              </a:rPr>
              <a:t>:</a:t>
            </a:r>
            <a:r>
              <a:rPr sz="1800" b="1" spc="-165" dirty="0">
                <a:solidFill>
                  <a:srgbClr val="575757"/>
                </a:solidFill>
                <a:latin typeface="Verdana"/>
                <a:cs typeface="Verdana"/>
              </a:rPr>
              <a:t> Danie</a:t>
            </a:r>
            <a:r>
              <a:rPr sz="1800" b="1" spc="-85" dirty="0">
                <a:solidFill>
                  <a:srgbClr val="575757"/>
                </a:solidFill>
                <a:latin typeface="Verdana"/>
                <a:cs typeface="Verdana"/>
              </a:rPr>
              <a:t>l</a:t>
            </a:r>
            <a:r>
              <a:rPr sz="1800" b="1" spc="-140" dirty="0">
                <a:solidFill>
                  <a:srgbClr val="575757"/>
                </a:solidFill>
                <a:latin typeface="Verdana"/>
                <a:cs typeface="Verdana"/>
              </a:rPr>
              <a:t> </a:t>
            </a:r>
            <a:r>
              <a:rPr sz="1800" b="1" spc="-160" dirty="0">
                <a:solidFill>
                  <a:srgbClr val="575757"/>
                </a:solidFill>
                <a:latin typeface="Verdana"/>
                <a:cs typeface="Verdana"/>
              </a:rPr>
              <a:t>López</a:t>
            </a:r>
            <a:r>
              <a:rPr sz="1800" b="1" spc="-235" dirty="0">
                <a:solidFill>
                  <a:srgbClr val="575757"/>
                </a:solidFill>
                <a:latin typeface="Verdana"/>
                <a:cs typeface="Verdana"/>
              </a:rPr>
              <a:t> </a:t>
            </a:r>
            <a:r>
              <a:rPr sz="1800" b="1" spc="-165" dirty="0">
                <a:solidFill>
                  <a:srgbClr val="575757"/>
                </a:solidFill>
                <a:latin typeface="Verdana"/>
                <a:cs typeface="Verdana"/>
              </a:rPr>
              <a:t>Lozano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8967" y="204215"/>
            <a:ext cx="3401567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51785" cy="6858000"/>
            <a:chOff x="0" y="0"/>
            <a:chExt cx="285178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851404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80" h="6858000">
                  <a:moveTo>
                    <a:pt x="182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766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323588"/>
              <a:ext cx="1743075" cy="778510"/>
            </a:xfrm>
            <a:custGeom>
              <a:avLst/>
              <a:gdLst/>
              <a:ahLst/>
              <a:cxnLst/>
              <a:rect l="l" t="t" r="r" b="b"/>
              <a:pathLst>
                <a:path w="1743075" h="778510">
                  <a:moveTo>
                    <a:pt x="1346454" y="0"/>
                  </a:moveTo>
                  <a:lnTo>
                    <a:pt x="0" y="0"/>
                  </a:lnTo>
                  <a:lnTo>
                    <a:pt x="0" y="778382"/>
                  </a:lnTo>
                  <a:lnTo>
                    <a:pt x="1346454" y="778382"/>
                  </a:lnTo>
                  <a:lnTo>
                    <a:pt x="1356233" y="777620"/>
                  </a:lnTo>
                  <a:lnTo>
                    <a:pt x="1364107" y="775462"/>
                  </a:lnTo>
                  <a:lnTo>
                    <a:pt x="1370330" y="772413"/>
                  </a:lnTo>
                  <a:lnTo>
                    <a:pt x="1374648" y="768985"/>
                  </a:lnTo>
                  <a:lnTo>
                    <a:pt x="1374648" y="764286"/>
                  </a:lnTo>
                  <a:lnTo>
                    <a:pt x="1379347" y="764286"/>
                  </a:lnTo>
                  <a:lnTo>
                    <a:pt x="1735963" y="407924"/>
                  </a:lnTo>
                  <a:lnTo>
                    <a:pt x="1741297" y="399414"/>
                  </a:lnTo>
                  <a:lnTo>
                    <a:pt x="1742948" y="388619"/>
                  </a:lnTo>
                  <a:lnTo>
                    <a:pt x="1741297" y="376936"/>
                  </a:lnTo>
                  <a:lnTo>
                    <a:pt x="1735963" y="365760"/>
                  </a:lnTo>
                  <a:lnTo>
                    <a:pt x="1379347" y="14097"/>
                  </a:lnTo>
                  <a:lnTo>
                    <a:pt x="1379347" y="9398"/>
                  </a:lnTo>
                  <a:lnTo>
                    <a:pt x="1374648" y="9398"/>
                  </a:lnTo>
                  <a:lnTo>
                    <a:pt x="1370330" y="5968"/>
                  </a:lnTo>
                  <a:lnTo>
                    <a:pt x="1364107" y="2920"/>
                  </a:lnTo>
                  <a:lnTo>
                    <a:pt x="1356233" y="762"/>
                  </a:lnTo>
                  <a:lnTo>
                    <a:pt x="1346454" y="0"/>
                  </a:lnTo>
                  <a:close/>
                </a:path>
              </a:pathLst>
            </a:custGeom>
            <a:solidFill>
              <a:srgbClr val="A32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66594" y="3986276"/>
            <a:ext cx="9496806" cy="22743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b="1" spc="-215" dirty="0" err="1">
                <a:latin typeface="Trebuchet MS"/>
                <a:cs typeface="Trebuchet MS"/>
              </a:rPr>
              <a:t>Tema</a:t>
            </a:r>
            <a:r>
              <a:rPr sz="4900" b="1" spc="-135" dirty="0">
                <a:latin typeface="Trebuchet MS"/>
                <a:cs typeface="Trebuchet MS"/>
              </a:rPr>
              <a:t> </a:t>
            </a:r>
            <a:r>
              <a:rPr lang="es-ES" sz="4900" b="1" spc="-5" dirty="0">
                <a:latin typeface="Trebuchet MS"/>
                <a:cs typeface="Trebuchet MS"/>
              </a:rPr>
              <a:t>2</a:t>
            </a:r>
            <a:r>
              <a:rPr sz="4900" b="1" spc="-5" dirty="0" smtClean="0">
                <a:latin typeface="Trebuchet MS"/>
                <a:cs typeface="Trebuchet MS"/>
              </a:rPr>
              <a:t>.</a:t>
            </a:r>
            <a:endParaRPr sz="49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lang="es-ES" sz="4900" spc="-25" dirty="0" smtClean="0">
                <a:latin typeface="Trebuchet MS"/>
                <a:cs typeface="Trebuchet MS"/>
              </a:rPr>
              <a:t>Utilización de la programación orientada a objetos</a:t>
            </a:r>
            <a:endParaRPr sz="490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101084" y="673608"/>
            <a:ext cx="5538470" cy="2859405"/>
            <a:chOff x="4101084" y="673608"/>
            <a:chExt cx="5538470" cy="28594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1084" y="673608"/>
              <a:ext cx="5538216" cy="28590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5092" y="737616"/>
              <a:ext cx="5359908" cy="26807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46042" y="720090"/>
              <a:ext cx="5399405" cy="2719070"/>
            </a:xfrm>
            <a:custGeom>
              <a:avLst/>
              <a:gdLst/>
              <a:ahLst/>
              <a:cxnLst/>
              <a:rect l="l" t="t" r="r" b="b"/>
              <a:pathLst>
                <a:path w="5399405" h="2719070">
                  <a:moveTo>
                    <a:pt x="0" y="2718562"/>
                  </a:moveTo>
                  <a:lnTo>
                    <a:pt x="5399404" y="2718562"/>
                  </a:lnTo>
                  <a:lnTo>
                    <a:pt x="5399404" y="0"/>
                  </a:lnTo>
                  <a:lnTo>
                    <a:pt x="0" y="0"/>
                  </a:lnTo>
                  <a:lnTo>
                    <a:pt x="0" y="27185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9309" y="121412"/>
            <a:ext cx="55759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242424"/>
                </a:solidFill>
                <a:latin typeface="Arial"/>
                <a:cs typeface="Arial"/>
              </a:rPr>
              <a:t>Índice</a:t>
            </a:r>
            <a:r>
              <a:rPr sz="4400" b="1" spc="-20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242424"/>
                </a:solidFill>
                <a:latin typeface="Arial"/>
                <a:cs typeface="Arial"/>
              </a:rPr>
              <a:t>de</a:t>
            </a:r>
            <a:r>
              <a:rPr sz="4400" b="1" spc="-95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4400" b="1" spc="-5" dirty="0">
                <a:solidFill>
                  <a:srgbClr val="242424"/>
                </a:solidFill>
                <a:latin typeface="Arial"/>
                <a:cs typeface="Arial"/>
              </a:rPr>
              <a:t>contenidos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990600"/>
            <a:ext cx="7302908" cy="250902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551815" indent="-539750">
              <a:lnSpc>
                <a:spcPct val="100000"/>
              </a:lnSpc>
              <a:spcBef>
                <a:spcPts val="1105"/>
              </a:spcBef>
              <a:buClr>
                <a:srgbClr val="A32E0E"/>
              </a:buClr>
              <a:buSzPct val="67187"/>
              <a:buFont typeface="Wingdings"/>
              <a:buChar char=""/>
              <a:tabLst>
                <a:tab pos="551815" algn="l"/>
                <a:tab pos="552450" algn="l"/>
              </a:tabLst>
            </a:pPr>
            <a:r>
              <a:rPr lang="es-ES" sz="3200" b="1" spc="-5" dirty="0" smtClean="0">
                <a:latin typeface="Arial"/>
                <a:cs typeface="Arial"/>
              </a:rPr>
              <a:t>Clase Scanner (vista en el tema 1)</a:t>
            </a:r>
          </a:p>
          <a:p>
            <a:pPr marL="551815" indent="-539750">
              <a:lnSpc>
                <a:spcPct val="100000"/>
              </a:lnSpc>
              <a:spcBef>
                <a:spcPts val="1105"/>
              </a:spcBef>
              <a:buClr>
                <a:srgbClr val="A32E0E"/>
              </a:buClr>
              <a:buSzPct val="67187"/>
              <a:buFont typeface="Wingdings"/>
              <a:buChar char=""/>
              <a:tabLst>
                <a:tab pos="551815" algn="l"/>
                <a:tab pos="552450" algn="l"/>
              </a:tabLst>
            </a:pPr>
            <a:r>
              <a:rPr sz="3200" b="1" spc="-5" dirty="0" err="1" smtClean="0">
                <a:latin typeface="Arial"/>
                <a:cs typeface="Arial"/>
              </a:rPr>
              <a:t>Clase</a:t>
            </a:r>
            <a:r>
              <a:rPr sz="3200" b="1" spc="-200" dirty="0" smtClean="0">
                <a:latin typeface="Arial"/>
                <a:cs typeface="Arial"/>
              </a:rPr>
              <a:t> </a:t>
            </a:r>
            <a:r>
              <a:rPr lang="es-ES" sz="3200" b="1" dirty="0" err="1" smtClean="0">
                <a:latin typeface="Arial"/>
                <a:cs typeface="Arial"/>
              </a:rPr>
              <a:t>Random</a:t>
            </a:r>
            <a:endParaRPr sz="3200" dirty="0">
              <a:latin typeface="Arial"/>
              <a:cs typeface="Arial"/>
            </a:endParaRPr>
          </a:p>
          <a:p>
            <a:pPr marL="551815" indent="-539750">
              <a:lnSpc>
                <a:spcPct val="100000"/>
              </a:lnSpc>
              <a:spcBef>
                <a:spcPts val="1005"/>
              </a:spcBef>
              <a:buClr>
                <a:srgbClr val="A32E0E"/>
              </a:buClr>
              <a:buSzPct val="67187"/>
              <a:buFont typeface="Wingdings"/>
              <a:buChar char=""/>
              <a:tabLst>
                <a:tab pos="551815" algn="l"/>
                <a:tab pos="552450" algn="l"/>
              </a:tabLst>
            </a:pPr>
            <a:r>
              <a:rPr sz="3200" b="1" spc="-5" dirty="0" err="1">
                <a:latin typeface="Arial"/>
                <a:cs typeface="Arial"/>
              </a:rPr>
              <a:t>Clase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 smtClean="0">
                <a:latin typeface="Arial"/>
                <a:cs typeface="Arial"/>
              </a:rPr>
              <a:t>String</a:t>
            </a:r>
            <a:endParaRPr lang="es-ES" sz="3200" b="1" dirty="0" smtClean="0">
              <a:latin typeface="Arial"/>
              <a:cs typeface="Arial"/>
            </a:endParaRPr>
          </a:p>
          <a:p>
            <a:pPr marL="551815" indent="-539750">
              <a:lnSpc>
                <a:spcPct val="100000"/>
              </a:lnSpc>
              <a:spcBef>
                <a:spcPts val="1005"/>
              </a:spcBef>
              <a:buClr>
                <a:srgbClr val="A32E0E"/>
              </a:buClr>
              <a:buSzPct val="67187"/>
              <a:buFont typeface="Wingdings"/>
              <a:buChar char=""/>
              <a:tabLst>
                <a:tab pos="551815" algn="l"/>
                <a:tab pos="552450" algn="l"/>
              </a:tabLst>
            </a:pPr>
            <a:r>
              <a:rPr lang="es-ES" sz="3200" b="1" dirty="0" smtClean="0">
                <a:latin typeface="Arial"/>
                <a:cs typeface="Arial"/>
              </a:rPr>
              <a:t>Clases </a:t>
            </a:r>
            <a:r>
              <a:rPr lang="es-ES" sz="3200" b="1" dirty="0" err="1" smtClean="0">
                <a:latin typeface="Arial"/>
                <a:cs typeface="Arial"/>
              </a:rPr>
              <a:t>Integer</a:t>
            </a:r>
            <a:r>
              <a:rPr lang="es-ES" sz="3200" b="1" dirty="0" smtClean="0">
                <a:latin typeface="Arial"/>
                <a:cs typeface="Arial"/>
              </a:rPr>
              <a:t> y </a:t>
            </a:r>
            <a:r>
              <a:rPr lang="es-ES" sz="3200" b="1" dirty="0" err="1" smtClean="0">
                <a:latin typeface="Arial"/>
                <a:cs typeface="Arial"/>
              </a:rPr>
              <a:t>Double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995" y="268351"/>
            <a:ext cx="10776585" cy="3440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1815" marR="5080" indent="-539750" algn="just">
              <a:lnSpc>
                <a:spcPct val="100000"/>
              </a:lnSpc>
              <a:spcBef>
                <a:spcPts val="100"/>
              </a:spcBef>
              <a:buClr>
                <a:srgbClr val="A42F0F"/>
              </a:buClr>
              <a:buSzPct val="67187"/>
              <a:buFont typeface="Wingdings"/>
              <a:buChar char=""/>
              <a:tabLst>
                <a:tab pos="552450" algn="l"/>
              </a:tabLst>
            </a:pPr>
            <a:r>
              <a:rPr sz="3200" spc="-5" dirty="0">
                <a:latin typeface="Arial"/>
                <a:cs typeface="Arial"/>
              </a:rPr>
              <a:t>La </a:t>
            </a:r>
            <a:r>
              <a:rPr sz="3200" dirty="0">
                <a:latin typeface="Arial"/>
                <a:cs typeface="Arial"/>
              </a:rPr>
              <a:t>clase </a:t>
            </a:r>
            <a:r>
              <a:rPr sz="3200" b="1" spc="-5" dirty="0">
                <a:latin typeface="Arial"/>
                <a:cs typeface="Arial"/>
              </a:rPr>
              <a:t>Random </a:t>
            </a:r>
            <a:r>
              <a:rPr sz="3200" spc="-5" dirty="0">
                <a:latin typeface="Arial"/>
                <a:cs typeface="Arial"/>
              </a:rPr>
              <a:t>proporciona un generador </a:t>
            </a:r>
            <a:r>
              <a:rPr sz="3200" spc="-20" dirty="0">
                <a:latin typeface="Arial"/>
                <a:cs typeface="Arial"/>
              </a:rPr>
              <a:t>de  </a:t>
            </a:r>
            <a:r>
              <a:rPr sz="3200" spc="-5" dirty="0">
                <a:latin typeface="Arial"/>
                <a:cs typeface="Arial"/>
              </a:rPr>
              <a:t>números aleatorios </a:t>
            </a:r>
            <a:r>
              <a:rPr sz="3200" spc="-10" dirty="0">
                <a:latin typeface="Arial"/>
                <a:cs typeface="Arial"/>
              </a:rPr>
              <a:t>para </a:t>
            </a:r>
            <a:r>
              <a:rPr sz="3200" spc="-5" dirty="0">
                <a:latin typeface="Arial"/>
                <a:cs typeface="Arial"/>
              </a:rPr>
              <a:t>programas </a:t>
            </a:r>
            <a:r>
              <a:rPr sz="3200" spc="-10" dirty="0">
                <a:latin typeface="Arial"/>
                <a:cs typeface="Arial"/>
              </a:rPr>
              <a:t>que </a:t>
            </a:r>
            <a:r>
              <a:rPr sz="3200" dirty="0">
                <a:latin typeface="Arial"/>
                <a:cs typeface="Arial"/>
              </a:rPr>
              <a:t>usen </a:t>
            </a:r>
            <a:r>
              <a:rPr sz="3200" b="1" spc="-5" dirty="0">
                <a:latin typeface="Arial"/>
                <a:cs typeface="Arial"/>
              </a:rPr>
              <a:t>el </a:t>
            </a:r>
            <a:r>
              <a:rPr sz="3200" b="1" dirty="0">
                <a:latin typeface="Arial"/>
                <a:cs typeface="Arial"/>
              </a:rPr>
              <a:t>azar </a:t>
            </a:r>
            <a:r>
              <a:rPr sz="3200" dirty="0">
                <a:latin typeface="Arial"/>
                <a:cs typeface="Arial"/>
              </a:rPr>
              <a:t>o  necesiten </a:t>
            </a:r>
            <a:r>
              <a:rPr sz="3200" spc="-5" dirty="0">
                <a:latin typeface="Arial"/>
                <a:cs typeface="Arial"/>
              </a:rPr>
              <a:t>de un conjunto de datos de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prueba.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A42F0F"/>
              </a:buClr>
              <a:buFont typeface="Wingdings"/>
              <a:buChar char=""/>
            </a:pPr>
            <a:endParaRPr sz="3300">
              <a:latin typeface="Times New Roman"/>
              <a:cs typeface="Times New Roman"/>
            </a:endParaRPr>
          </a:p>
          <a:p>
            <a:pPr marL="551815" marR="5080" indent="-539750" algn="just">
              <a:lnSpc>
                <a:spcPct val="100000"/>
              </a:lnSpc>
              <a:buClr>
                <a:srgbClr val="A42F0F"/>
              </a:buClr>
              <a:buSzPct val="67187"/>
              <a:buFont typeface="Wingdings"/>
              <a:buChar char=""/>
              <a:tabLst>
                <a:tab pos="552450" algn="l"/>
              </a:tabLst>
            </a:pPr>
            <a:r>
              <a:rPr sz="3200" dirty="0">
                <a:latin typeface="Arial"/>
                <a:cs typeface="Arial"/>
              </a:rPr>
              <a:t>Para ello existe su </a:t>
            </a:r>
            <a:r>
              <a:rPr sz="3200" spc="-5" dirty="0">
                <a:latin typeface="Arial"/>
                <a:cs typeface="Arial"/>
              </a:rPr>
              <a:t>constructor </a:t>
            </a:r>
            <a:r>
              <a:rPr sz="3200" dirty="0">
                <a:latin typeface="Arial"/>
                <a:cs typeface="Arial"/>
              </a:rPr>
              <a:t>y </a:t>
            </a:r>
            <a:r>
              <a:rPr sz="3200" spc="-5" dirty="0">
                <a:latin typeface="Arial"/>
                <a:cs typeface="Arial"/>
              </a:rPr>
              <a:t>una serie </a:t>
            </a:r>
            <a:r>
              <a:rPr sz="3200" dirty="0">
                <a:latin typeface="Arial"/>
                <a:cs typeface="Arial"/>
              </a:rPr>
              <a:t>de </a:t>
            </a:r>
            <a:r>
              <a:rPr sz="3200" spc="-5" dirty="0">
                <a:latin typeface="Arial"/>
                <a:cs typeface="Arial"/>
              </a:rPr>
              <a:t>métodos  parecidos </a:t>
            </a:r>
            <a:r>
              <a:rPr sz="3200" dirty="0">
                <a:latin typeface="Arial"/>
                <a:cs typeface="Arial"/>
              </a:rPr>
              <a:t>a </a:t>
            </a:r>
            <a:r>
              <a:rPr sz="3200" spc="-5" dirty="0">
                <a:latin typeface="Arial"/>
                <a:cs typeface="Arial"/>
              </a:rPr>
              <a:t>la </a:t>
            </a:r>
            <a:r>
              <a:rPr sz="3200" dirty="0">
                <a:latin typeface="Arial"/>
                <a:cs typeface="Arial"/>
              </a:rPr>
              <a:t>clase </a:t>
            </a:r>
            <a:r>
              <a:rPr sz="3200" spc="-5" dirty="0">
                <a:latin typeface="Arial"/>
                <a:cs typeface="Arial"/>
              </a:rPr>
              <a:t>Scanner para obtener </a:t>
            </a:r>
            <a:r>
              <a:rPr sz="3200" spc="-10" dirty="0">
                <a:latin typeface="Arial"/>
                <a:cs typeface="Arial"/>
              </a:rPr>
              <a:t>números  </a:t>
            </a:r>
            <a:r>
              <a:rPr sz="3200" spc="-5" dirty="0">
                <a:latin typeface="Arial"/>
                <a:cs typeface="Arial"/>
              </a:rPr>
              <a:t>aleatorios.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6883" y="4059923"/>
            <a:ext cx="10078212" cy="2037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891" y="4123944"/>
            <a:ext cx="9899904" cy="1859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1841" y="4104894"/>
            <a:ext cx="9938385" cy="1897380"/>
          </a:xfrm>
          <a:custGeom>
            <a:avLst/>
            <a:gdLst/>
            <a:ahLst/>
            <a:cxnLst/>
            <a:rect l="l" t="t" r="r" b="b"/>
            <a:pathLst>
              <a:path w="9938385" h="1897379">
                <a:moveTo>
                  <a:pt x="0" y="1897379"/>
                </a:moveTo>
                <a:lnTo>
                  <a:pt x="9938004" y="1897379"/>
                </a:lnTo>
                <a:lnTo>
                  <a:pt x="9938004" y="0"/>
                </a:lnTo>
                <a:lnTo>
                  <a:pt x="0" y="0"/>
                </a:lnTo>
                <a:lnTo>
                  <a:pt x="0" y="189737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647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995" y="268351"/>
            <a:ext cx="1077658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  <a:buClr>
                <a:srgbClr val="A42F0F"/>
              </a:buClr>
              <a:buSzPct val="67187"/>
              <a:tabLst>
                <a:tab pos="552450" algn="l"/>
              </a:tabLst>
            </a:pPr>
            <a:r>
              <a:rPr lang="es-ES" sz="3200" spc="-5" dirty="0" smtClean="0">
                <a:latin typeface="Arial"/>
                <a:cs typeface="Arial"/>
              </a:rPr>
              <a:t>Para </a:t>
            </a:r>
            <a:r>
              <a:rPr lang="es-ES" sz="3200" spc="-5" dirty="0">
                <a:latin typeface="Arial"/>
                <a:cs typeface="Arial"/>
              </a:rPr>
              <a:t>generar números </a:t>
            </a:r>
            <a:r>
              <a:rPr lang="es-ES" sz="3200" spc="-5" dirty="0" smtClean="0">
                <a:latin typeface="Arial"/>
                <a:cs typeface="Arial"/>
              </a:rPr>
              <a:t>aleatorios </a:t>
            </a:r>
            <a:r>
              <a:rPr lang="es-ES" sz="3200" spc="-5" dirty="0">
                <a:latin typeface="Arial"/>
                <a:cs typeface="Arial"/>
              </a:rPr>
              <a:t>en </a:t>
            </a:r>
            <a:r>
              <a:rPr lang="es-ES" sz="3200" spc="-5" dirty="0" smtClean="0">
                <a:latin typeface="Arial"/>
                <a:cs typeface="Arial"/>
              </a:rPr>
              <a:t>distintos rangos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337" y="1580890"/>
            <a:ext cx="4931900" cy="34898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777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2995" y="268351"/>
            <a:ext cx="10778490" cy="6367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1815" marR="5080" indent="-539750" algn="just">
              <a:lnSpc>
                <a:spcPct val="100000"/>
              </a:lnSpc>
              <a:spcBef>
                <a:spcPts val="100"/>
              </a:spcBef>
              <a:buClr>
                <a:srgbClr val="A42F0F"/>
              </a:buClr>
              <a:buSzPct val="67187"/>
              <a:buFont typeface="Wingdings"/>
              <a:buChar char=""/>
              <a:tabLst>
                <a:tab pos="552450" algn="l"/>
              </a:tabLst>
            </a:pPr>
            <a:r>
              <a:rPr sz="3200" spc="-5" dirty="0">
                <a:latin typeface="Arial"/>
                <a:cs typeface="Arial"/>
              </a:rPr>
              <a:t>Las </a:t>
            </a:r>
            <a:r>
              <a:rPr sz="3200" b="1" spc="-5" dirty="0">
                <a:latin typeface="Arial"/>
                <a:cs typeface="Arial"/>
              </a:rPr>
              <a:t>aplicaciones </a:t>
            </a:r>
            <a:r>
              <a:rPr sz="3200" spc="-5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los </a:t>
            </a:r>
            <a:r>
              <a:rPr sz="3200" spc="-5" dirty="0">
                <a:latin typeface="Arial"/>
                <a:cs typeface="Arial"/>
              </a:rPr>
              <a:t>números aleatorios en general  </a:t>
            </a:r>
            <a:r>
              <a:rPr sz="3200" spc="-10" dirty="0">
                <a:latin typeface="Arial"/>
                <a:cs typeface="Arial"/>
              </a:rPr>
              <a:t>pueden </a:t>
            </a:r>
            <a:r>
              <a:rPr sz="3200" spc="-5" dirty="0">
                <a:latin typeface="Arial"/>
                <a:cs typeface="Arial"/>
              </a:rPr>
              <a:t>ser </a:t>
            </a:r>
            <a:r>
              <a:rPr sz="3200" b="1" spc="-5" dirty="0">
                <a:latin typeface="Arial"/>
                <a:cs typeface="Arial"/>
              </a:rPr>
              <a:t>el número resultante </a:t>
            </a:r>
            <a:r>
              <a:rPr sz="3200" b="1" spc="-10" dirty="0">
                <a:latin typeface="Arial"/>
                <a:cs typeface="Arial"/>
              </a:rPr>
              <a:t>de </a:t>
            </a:r>
            <a:r>
              <a:rPr sz="3200" b="1" dirty="0">
                <a:latin typeface="Arial"/>
                <a:cs typeface="Arial"/>
              </a:rPr>
              <a:t>tirar </a:t>
            </a:r>
            <a:r>
              <a:rPr sz="3200" spc="-5" dirty="0">
                <a:latin typeface="Arial"/>
                <a:cs typeface="Arial"/>
              </a:rPr>
              <a:t>un dado,  número premiado en un </a:t>
            </a:r>
            <a:r>
              <a:rPr sz="3200" b="1" dirty="0">
                <a:latin typeface="Arial"/>
                <a:cs typeface="Arial"/>
              </a:rPr>
              <a:t>sorteo </a:t>
            </a:r>
            <a:r>
              <a:rPr sz="3200" b="1" spc="-5" dirty="0">
                <a:latin typeface="Arial"/>
                <a:cs typeface="Arial"/>
              </a:rPr>
              <a:t>de lotería</a:t>
            </a:r>
            <a:r>
              <a:rPr sz="3200" spc="-5" dirty="0">
                <a:latin typeface="Arial"/>
                <a:cs typeface="Arial"/>
              </a:rPr>
              <a:t>, ruleta de </a:t>
            </a:r>
            <a:r>
              <a:rPr sz="3200" spc="-10" dirty="0">
                <a:latin typeface="Arial"/>
                <a:cs typeface="Arial"/>
              </a:rPr>
              <a:t>un  </a:t>
            </a:r>
            <a:r>
              <a:rPr sz="3200" dirty="0">
                <a:latin typeface="Arial"/>
                <a:cs typeface="Arial"/>
              </a:rPr>
              <a:t>casino, </a:t>
            </a:r>
            <a:r>
              <a:rPr sz="3200" spc="-5" dirty="0">
                <a:latin typeface="Arial"/>
                <a:cs typeface="Arial"/>
              </a:rPr>
              <a:t>máquina tragaperras </a:t>
            </a:r>
            <a:r>
              <a:rPr sz="3200" dirty="0">
                <a:latin typeface="Arial"/>
                <a:cs typeface="Arial"/>
              </a:rPr>
              <a:t>y </a:t>
            </a:r>
            <a:r>
              <a:rPr sz="3200" spc="-5" dirty="0">
                <a:latin typeface="Arial"/>
                <a:cs typeface="Arial"/>
              </a:rPr>
              <a:t>cualquier cuestión  relacionada </a:t>
            </a:r>
            <a:r>
              <a:rPr sz="3200" dirty="0">
                <a:latin typeface="Arial"/>
                <a:cs typeface="Arial"/>
              </a:rPr>
              <a:t>con </a:t>
            </a:r>
            <a:r>
              <a:rPr sz="3200" spc="-5" dirty="0">
                <a:latin typeface="Arial"/>
                <a:cs typeface="Arial"/>
              </a:rPr>
              <a:t>el </a:t>
            </a:r>
            <a:r>
              <a:rPr sz="3200" spc="-40" dirty="0">
                <a:latin typeface="Arial"/>
                <a:cs typeface="Arial"/>
              </a:rPr>
              <a:t>azar. </a:t>
            </a:r>
            <a:r>
              <a:rPr sz="3200" spc="-55" dirty="0">
                <a:latin typeface="Arial"/>
                <a:cs typeface="Arial"/>
              </a:rPr>
              <a:t>También </a:t>
            </a:r>
            <a:r>
              <a:rPr sz="3200" spc="-5" dirty="0">
                <a:latin typeface="Arial"/>
                <a:cs typeface="Arial"/>
              </a:rPr>
              <a:t>es </a:t>
            </a:r>
            <a:r>
              <a:rPr sz="3200" spc="-10" dirty="0">
                <a:latin typeface="Arial"/>
                <a:cs typeface="Arial"/>
              </a:rPr>
              <a:t>interesante </a:t>
            </a:r>
            <a:r>
              <a:rPr sz="3200" dirty="0">
                <a:latin typeface="Arial"/>
                <a:cs typeface="Arial"/>
              </a:rPr>
              <a:t>a </a:t>
            </a:r>
            <a:r>
              <a:rPr sz="3200" spc="-5" dirty="0">
                <a:latin typeface="Arial"/>
                <a:cs typeface="Arial"/>
              </a:rPr>
              <a:t>la  hora de hacer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pruebas.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A42F0F"/>
              </a:buClr>
              <a:buFont typeface="Wingdings"/>
              <a:buChar char=""/>
            </a:pPr>
            <a:endParaRPr sz="3300">
              <a:latin typeface="Times New Roman"/>
              <a:cs typeface="Times New Roman"/>
            </a:endParaRPr>
          </a:p>
          <a:p>
            <a:pPr marL="551815" marR="5715" indent="-539750" algn="just">
              <a:lnSpc>
                <a:spcPct val="100000"/>
              </a:lnSpc>
              <a:spcBef>
                <a:spcPts val="5"/>
              </a:spcBef>
              <a:buClr>
                <a:srgbClr val="A42F0F"/>
              </a:buClr>
              <a:buSzPct val="67187"/>
              <a:buFont typeface="Wingdings"/>
              <a:buChar char=""/>
              <a:tabLst>
                <a:tab pos="552450" algn="l"/>
              </a:tabLst>
            </a:pPr>
            <a:r>
              <a:rPr sz="3200" spc="-5" dirty="0">
                <a:latin typeface="Arial"/>
                <a:cs typeface="Arial"/>
              </a:rPr>
              <a:t>Cada vez que creamos un objeto de </a:t>
            </a:r>
            <a:r>
              <a:rPr sz="3200" spc="-10" dirty="0">
                <a:latin typeface="Arial"/>
                <a:cs typeface="Arial"/>
              </a:rPr>
              <a:t>la </a:t>
            </a:r>
            <a:r>
              <a:rPr sz="3200" spc="-5" dirty="0">
                <a:latin typeface="Arial"/>
                <a:cs typeface="Arial"/>
              </a:rPr>
              <a:t>clase Random  </a:t>
            </a:r>
            <a:r>
              <a:rPr sz="3200" dirty="0">
                <a:latin typeface="Arial"/>
                <a:cs typeface="Arial"/>
              </a:rPr>
              <a:t>con </a:t>
            </a:r>
            <a:r>
              <a:rPr sz="3200" spc="-5" dirty="0">
                <a:latin typeface="Arial"/>
                <a:cs typeface="Arial"/>
              </a:rPr>
              <a:t>la misma semilla obtendremos </a:t>
            </a:r>
            <a:r>
              <a:rPr sz="3200" b="1" spc="-5" dirty="0">
                <a:latin typeface="Arial"/>
                <a:cs typeface="Arial"/>
              </a:rPr>
              <a:t>la misma secuencia  de números aleatorios</a:t>
            </a:r>
            <a:r>
              <a:rPr sz="3200" spc="-5" dirty="0">
                <a:latin typeface="Arial"/>
                <a:cs typeface="Arial"/>
              </a:rPr>
              <a:t>. </a:t>
            </a:r>
            <a:r>
              <a:rPr sz="3200" dirty="0">
                <a:latin typeface="Arial"/>
                <a:cs typeface="Arial"/>
              </a:rPr>
              <a:t>Esto </a:t>
            </a:r>
            <a:r>
              <a:rPr sz="3200" spc="-5" dirty="0">
                <a:latin typeface="Arial"/>
                <a:cs typeface="Arial"/>
              </a:rPr>
              <a:t>no es útil en el </a:t>
            </a:r>
            <a:r>
              <a:rPr sz="3200" dirty="0">
                <a:latin typeface="Arial"/>
                <a:cs typeface="Arial"/>
              </a:rPr>
              <a:t>caso </a:t>
            </a:r>
            <a:r>
              <a:rPr sz="3200" spc="-10" dirty="0">
                <a:latin typeface="Arial"/>
                <a:cs typeface="Arial"/>
              </a:rPr>
              <a:t>de  </a:t>
            </a:r>
            <a:r>
              <a:rPr sz="3200" b="1" spc="-5" dirty="0">
                <a:latin typeface="Arial"/>
                <a:cs typeface="Arial"/>
              </a:rPr>
              <a:t>loterías</a:t>
            </a:r>
            <a:r>
              <a:rPr sz="3200" spc="-5" dirty="0">
                <a:latin typeface="Arial"/>
                <a:cs typeface="Arial"/>
              </a:rPr>
              <a:t>, pero puede ser útil en el </a:t>
            </a:r>
            <a:r>
              <a:rPr sz="3200" dirty="0">
                <a:latin typeface="Arial"/>
                <a:cs typeface="Arial"/>
              </a:rPr>
              <a:t>caso </a:t>
            </a:r>
            <a:r>
              <a:rPr sz="3200" spc="-5" dirty="0">
                <a:latin typeface="Arial"/>
                <a:cs typeface="Arial"/>
              </a:rPr>
              <a:t>de </a:t>
            </a:r>
            <a:r>
              <a:rPr sz="3200" b="1" dirty="0">
                <a:latin typeface="Arial"/>
                <a:cs typeface="Arial"/>
              </a:rPr>
              <a:t>juegos </a:t>
            </a:r>
            <a:r>
              <a:rPr sz="3200" b="1" spc="-5" dirty="0">
                <a:latin typeface="Arial"/>
                <a:cs typeface="Arial"/>
              </a:rPr>
              <a:t>y/o  simulaciones </a:t>
            </a:r>
            <a:r>
              <a:rPr sz="3200" spc="-5" dirty="0">
                <a:latin typeface="Arial"/>
                <a:cs typeface="Arial"/>
              </a:rPr>
              <a:t>que </a:t>
            </a:r>
            <a:r>
              <a:rPr sz="3200" dirty="0">
                <a:latin typeface="Arial"/>
                <a:cs typeface="Arial"/>
              </a:rPr>
              <a:t>se </a:t>
            </a:r>
            <a:r>
              <a:rPr sz="3200" spc="-5" dirty="0">
                <a:latin typeface="Arial"/>
                <a:cs typeface="Arial"/>
              </a:rPr>
              <a:t>repitan de la </a:t>
            </a:r>
            <a:r>
              <a:rPr sz="3200" dirty="0">
                <a:latin typeface="Arial"/>
                <a:cs typeface="Arial"/>
              </a:rPr>
              <a:t>misma </a:t>
            </a:r>
            <a:r>
              <a:rPr sz="3200" spc="-5" dirty="0">
                <a:latin typeface="Arial"/>
                <a:cs typeface="Arial"/>
              </a:rPr>
              <a:t>forma una </a:t>
            </a:r>
            <a:r>
              <a:rPr sz="3200" dirty="0">
                <a:latin typeface="Arial"/>
                <a:cs typeface="Arial"/>
              </a:rPr>
              <a:t>y  otra vez,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etc.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8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9300" y="0"/>
            <a:ext cx="30854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Trebuchet MS"/>
                <a:cs typeface="Trebuchet MS"/>
              </a:rPr>
              <a:t>Clase</a:t>
            </a:r>
            <a:r>
              <a:rPr sz="4400" b="1" spc="-80" dirty="0">
                <a:latin typeface="Trebuchet MS"/>
                <a:cs typeface="Trebuchet MS"/>
              </a:rPr>
              <a:t> </a:t>
            </a:r>
            <a:r>
              <a:rPr sz="4400" b="1" spc="-5" dirty="0">
                <a:latin typeface="Trebuchet MS"/>
                <a:cs typeface="Trebuchet MS"/>
              </a:rPr>
              <a:t>String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846" y="769324"/>
            <a:ext cx="11257915" cy="332867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3200" dirty="0">
                <a:latin typeface="Trebuchet MS"/>
                <a:cs typeface="Trebuchet MS"/>
              </a:rPr>
              <a:t>La </a:t>
            </a:r>
            <a:r>
              <a:rPr sz="3200" spc="-5" dirty="0">
                <a:latin typeface="Trebuchet MS"/>
                <a:cs typeface="Trebuchet MS"/>
              </a:rPr>
              <a:t>mayoría</a:t>
            </a:r>
            <a:r>
              <a:rPr sz="3200" spc="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de</a:t>
            </a:r>
            <a:r>
              <a:rPr sz="3200" spc="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los</a:t>
            </a:r>
            <a:r>
              <a:rPr sz="3200" spc="-5" dirty="0">
                <a:latin typeface="Trebuchet MS"/>
                <a:cs typeface="Trebuchet MS"/>
              </a:rPr>
              <a:t> métodos</a:t>
            </a:r>
            <a:r>
              <a:rPr sz="3200" spc="5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son aplicados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 un String</a:t>
            </a:r>
            <a:r>
              <a:rPr sz="3200" spc="5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concreto</a:t>
            </a:r>
            <a:endParaRPr sz="32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280"/>
              </a:spcBef>
            </a:pPr>
            <a:r>
              <a:rPr sz="3200" b="1" spc="-5" dirty="0">
                <a:latin typeface="Trebuchet MS"/>
                <a:cs typeface="Trebuchet MS"/>
              </a:rPr>
              <a:t>Método</a:t>
            </a:r>
            <a:r>
              <a:rPr sz="3200" b="1" spc="-3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length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ts val="3360"/>
              </a:lnSpc>
            </a:pPr>
            <a:r>
              <a:rPr sz="2800" spc="-10" dirty="0">
                <a:latin typeface="Trebuchet MS"/>
                <a:cs typeface="Trebuchet MS"/>
              </a:rPr>
              <a:t>Calcula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la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longitud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del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String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(no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tiene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limite</a:t>
            </a:r>
            <a:r>
              <a:rPr sz="2800" spc="2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no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es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un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array)</a:t>
            </a:r>
            <a:endParaRPr sz="2800">
              <a:latin typeface="Trebuchet MS"/>
              <a:cs typeface="Trebuchet MS"/>
            </a:endParaRPr>
          </a:p>
          <a:p>
            <a:pPr marL="1270" algn="ctr">
              <a:lnSpc>
                <a:spcPts val="3840"/>
              </a:lnSpc>
            </a:pPr>
            <a:r>
              <a:rPr sz="3200" b="1" spc="-5" dirty="0">
                <a:latin typeface="Trebuchet MS"/>
                <a:cs typeface="Trebuchet MS"/>
              </a:rPr>
              <a:t>Método</a:t>
            </a:r>
            <a:r>
              <a:rPr sz="3200" b="1" spc="-3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charAt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ts val="3360"/>
              </a:lnSpc>
              <a:spcBef>
                <a:spcPts val="5"/>
              </a:spcBef>
            </a:pPr>
            <a:r>
              <a:rPr sz="2800" spc="-10" dirty="0">
                <a:latin typeface="Trebuchet MS"/>
                <a:cs typeface="Trebuchet MS"/>
              </a:rPr>
              <a:t>Devuelve</a:t>
            </a:r>
            <a:r>
              <a:rPr sz="2800" spc="-5" dirty="0">
                <a:latin typeface="Trebuchet MS"/>
                <a:cs typeface="Trebuchet MS"/>
              </a:rPr>
              <a:t> el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carácter</a:t>
            </a:r>
            <a:r>
              <a:rPr sz="2800" spc="2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en</a:t>
            </a:r>
            <a:r>
              <a:rPr sz="2800" spc="-10" dirty="0">
                <a:latin typeface="Trebuchet MS"/>
                <a:cs typeface="Trebuchet MS"/>
              </a:rPr>
              <a:t> una </a:t>
            </a:r>
            <a:r>
              <a:rPr sz="2800" spc="-5" dirty="0">
                <a:latin typeface="Trebuchet MS"/>
                <a:cs typeface="Trebuchet MS"/>
              </a:rPr>
              <a:t>posición</a:t>
            </a:r>
            <a:r>
              <a:rPr sz="2800" spc="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dada</a:t>
            </a:r>
            <a:endParaRPr sz="2800">
              <a:latin typeface="Trebuchet MS"/>
              <a:cs typeface="Trebuchet MS"/>
            </a:endParaRPr>
          </a:p>
          <a:p>
            <a:pPr marL="2540" algn="ctr">
              <a:lnSpc>
                <a:spcPts val="3840"/>
              </a:lnSpc>
            </a:pPr>
            <a:r>
              <a:rPr sz="3200" b="1" spc="-5" dirty="0">
                <a:latin typeface="Trebuchet MS"/>
                <a:cs typeface="Trebuchet MS"/>
              </a:rPr>
              <a:t>Método</a:t>
            </a:r>
            <a:r>
              <a:rPr sz="3200" b="1" spc="-3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equals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800" spc="-10" dirty="0">
                <a:latin typeface="Trebuchet MS"/>
                <a:cs typeface="Trebuchet MS"/>
              </a:rPr>
              <a:t>Nos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dice</a:t>
            </a:r>
            <a:r>
              <a:rPr sz="2800" spc="-5" dirty="0">
                <a:latin typeface="Trebuchet MS"/>
                <a:cs typeface="Trebuchet MS"/>
              </a:rPr>
              <a:t> si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un String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es </a:t>
            </a:r>
            <a:r>
              <a:rPr sz="2800" spc="-10" dirty="0">
                <a:latin typeface="Trebuchet MS"/>
                <a:cs typeface="Trebuchet MS"/>
              </a:rPr>
              <a:t>igual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al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otro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que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recibe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73652" y="4492752"/>
            <a:ext cx="4044950" cy="1835150"/>
            <a:chOff x="4073652" y="4492752"/>
            <a:chExt cx="4044950" cy="1835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6700" y="4495800"/>
              <a:ext cx="4038600" cy="1828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75176" y="4494276"/>
              <a:ext cx="4041775" cy="1831975"/>
            </a:xfrm>
            <a:custGeom>
              <a:avLst/>
              <a:gdLst/>
              <a:ahLst/>
              <a:cxnLst/>
              <a:rect l="l" t="t" r="r" b="b"/>
              <a:pathLst>
                <a:path w="4041775" h="1831975">
                  <a:moveTo>
                    <a:pt x="0" y="1831848"/>
                  </a:moveTo>
                  <a:lnTo>
                    <a:pt x="4041648" y="1831848"/>
                  </a:lnTo>
                  <a:lnTo>
                    <a:pt x="4041648" y="0"/>
                  </a:lnTo>
                  <a:lnTo>
                    <a:pt x="0" y="0"/>
                  </a:lnTo>
                  <a:lnTo>
                    <a:pt x="0" y="18318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9050" y="0"/>
            <a:ext cx="45485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rebuchet MS"/>
                <a:cs typeface="Trebuchet MS"/>
              </a:rPr>
              <a:t>Método</a:t>
            </a:r>
            <a:r>
              <a:rPr b="1" spc="-6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contais(cadena)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0372" y="475234"/>
            <a:ext cx="928306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360"/>
              </a:lnSpc>
              <a:spcBef>
                <a:spcPts val="95"/>
              </a:spcBef>
            </a:pPr>
            <a:r>
              <a:rPr sz="2800" spc="-10" dirty="0">
                <a:latin typeface="Trebuchet MS"/>
                <a:cs typeface="Trebuchet MS"/>
              </a:rPr>
              <a:t>Devuelve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true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si la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cadena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se </a:t>
            </a:r>
            <a:r>
              <a:rPr sz="2800" spc="-10" dirty="0">
                <a:latin typeface="Trebuchet MS"/>
                <a:cs typeface="Trebuchet MS"/>
              </a:rPr>
              <a:t>encuentra</a:t>
            </a:r>
            <a:r>
              <a:rPr sz="2800" spc="2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en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el String</a:t>
            </a:r>
            <a:endParaRPr sz="28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</a:pPr>
            <a:r>
              <a:rPr sz="3200" b="1" spc="-5" dirty="0">
                <a:latin typeface="Trebuchet MS"/>
                <a:cs typeface="Trebuchet MS"/>
              </a:rPr>
              <a:t>Método</a:t>
            </a:r>
            <a:r>
              <a:rPr sz="3200" b="1" spc="-10" dirty="0">
                <a:latin typeface="Trebuchet MS"/>
                <a:cs typeface="Trebuchet MS"/>
              </a:rPr>
              <a:t> </a:t>
            </a:r>
            <a:r>
              <a:rPr sz="3200" b="1" spc="-5" dirty="0">
                <a:latin typeface="Trebuchet MS"/>
                <a:cs typeface="Trebuchet MS"/>
              </a:rPr>
              <a:t>indexOf(cadena)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Trebuchet MS"/>
                <a:cs typeface="Trebuchet MS"/>
              </a:rPr>
              <a:t>Índice</a:t>
            </a:r>
            <a:r>
              <a:rPr sz="2800" spc="-5" dirty="0">
                <a:latin typeface="Trebuchet MS"/>
                <a:cs typeface="Trebuchet MS"/>
              </a:rPr>
              <a:t> de</a:t>
            </a:r>
            <a:r>
              <a:rPr sz="2800" dirty="0">
                <a:latin typeface="Trebuchet MS"/>
                <a:cs typeface="Trebuchet MS"/>
              </a:rPr>
              <a:t> la</a:t>
            </a:r>
            <a:r>
              <a:rPr sz="2800" spc="-5" dirty="0">
                <a:latin typeface="Trebuchet MS"/>
                <a:cs typeface="Trebuchet MS"/>
              </a:rPr>
              <a:t> primera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aparición</a:t>
            </a:r>
            <a:r>
              <a:rPr sz="2800" spc="3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de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una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cadena</a:t>
            </a:r>
            <a:r>
              <a:rPr sz="2800" spc="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-1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si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no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está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5885" y="4741621"/>
            <a:ext cx="947483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latin typeface="Trebuchet MS"/>
                <a:cs typeface="Trebuchet MS"/>
              </a:rPr>
              <a:t>Método</a:t>
            </a:r>
            <a:r>
              <a:rPr sz="3200" b="1" spc="-3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substring(i,j)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latin typeface="Trebuchet MS"/>
                <a:cs typeface="Trebuchet MS"/>
              </a:rPr>
              <a:t>Devuelve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un</a:t>
            </a:r>
            <a:r>
              <a:rPr sz="3200" spc="1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String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recortado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desde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los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índices</a:t>
            </a:r>
            <a:r>
              <a:rPr sz="2800" spc="2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i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hasta</a:t>
            </a:r>
            <a:r>
              <a:rPr sz="2800" spc="2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j-1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59123" y="1978151"/>
            <a:ext cx="4874260" cy="2453640"/>
            <a:chOff x="3659123" y="1978151"/>
            <a:chExt cx="4874260" cy="24536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2171" y="1981199"/>
              <a:ext cx="4867656" cy="2447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60647" y="1979675"/>
              <a:ext cx="4871085" cy="2451100"/>
            </a:xfrm>
            <a:custGeom>
              <a:avLst/>
              <a:gdLst/>
              <a:ahLst/>
              <a:cxnLst/>
              <a:rect l="l" t="t" r="r" b="b"/>
              <a:pathLst>
                <a:path w="4871084" h="2451100">
                  <a:moveTo>
                    <a:pt x="0" y="2450592"/>
                  </a:moveTo>
                  <a:lnTo>
                    <a:pt x="4870704" y="2450592"/>
                  </a:lnTo>
                  <a:lnTo>
                    <a:pt x="4870704" y="0"/>
                  </a:lnTo>
                  <a:lnTo>
                    <a:pt x="0" y="0"/>
                  </a:lnTo>
                  <a:lnTo>
                    <a:pt x="0" y="245059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206751" y="5940552"/>
            <a:ext cx="8301355" cy="518159"/>
            <a:chOff x="2206751" y="5940552"/>
            <a:chExt cx="8301355" cy="518159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9799" y="5943600"/>
              <a:ext cx="8295132" cy="5120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08275" y="5942076"/>
              <a:ext cx="8298180" cy="515620"/>
            </a:xfrm>
            <a:custGeom>
              <a:avLst/>
              <a:gdLst/>
              <a:ahLst/>
              <a:cxnLst/>
              <a:rect l="l" t="t" r="r" b="b"/>
              <a:pathLst>
                <a:path w="8298180" h="515620">
                  <a:moveTo>
                    <a:pt x="0" y="515112"/>
                  </a:moveTo>
                  <a:lnTo>
                    <a:pt x="8298180" y="515112"/>
                  </a:lnTo>
                  <a:lnTo>
                    <a:pt x="8298180" y="0"/>
                  </a:lnTo>
                  <a:lnTo>
                    <a:pt x="0" y="0"/>
                  </a:lnTo>
                  <a:lnTo>
                    <a:pt x="0" y="51511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5098" y="0"/>
            <a:ext cx="1027112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Trebuchet MS"/>
                <a:cs typeface="Trebuchet MS"/>
              </a:rPr>
              <a:t>Método</a:t>
            </a:r>
            <a:r>
              <a:rPr sz="3200" b="1" spc="-15" dirty="0">
                <a:latin typeface="Trebuchet MS"/>
                <a:cs typeface="Trebuchet MS"/>
              </a:rPr>
              <a:t> </a:t>
            </a:r>
            <a:r>
              <a:rPr sz="3200" b="1" spc="-5" dirty="0">
                <a:latin typeface="Trebuchet MS"/>
                <a:cs typeface="Trebuchet MS"/>
              </a:rPr>
              <a:t>toUpperCase()</a:t>
            </a:r>
            <a:endParaRPr sz="3200">
              <a:latin typeface="Trebuchet MS"/>
              <a:cs typeface="Trebuchet MS"/>
            </a:endParaRPr>
          </a:p>
          <a:p>
            <a:pPr marL="5715" algn="ctr">
              <a:lnSpc>
                <a:spcPct val="100000"/>
              </a:lnSpc>
            </a:pPr>
            <a:r>
              <a:rPr sz="3200" dirty="0">
                <a:latin typeface="Trebuchet MS"/>
                <a:cs typeface="Trebuchet MS"/>
              </a:rPr>
              <a:t>Devuelve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un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String </a:t>
            </a:r>
            <a:r>
              <a:rPr sz="2800" spc="-10" dirty="0">
                <a:latin typeface="Trebuchet MS"/>
                <a:cs typeface="Trebuchet MS"/>
              </a:rPr>
              <a:t>con</a:t>
            </a:r>
            <a:r>
              <a:rPr sz="2800" spc="-5" dirty="0">
                <a:latin typeface="Trebuchet MS"/>
                <a:cs typeface="Trebuchet MS"/>
              </a:rPr>
              <a:t> todos</a:t>
            </a:r>
            <a:r>
              <a:rPr sz="2800" spc="1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los caracteres</a:t>
            </a:r>
            <a:r>
              <a:rPr sz="2800" spc="3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en </a:t>
            </a:r>
            <a:r>
              <a:rPr sz="2800" spc="-10" dirty="0">
                <a:latin typeface="Trebuchet MS"/>
                <a:cs typeface="Trebuchet MS"/>
              </a:rPr>
              <a:t>mayúsculas</a:t>
            </a:r>
            <a:endParaRPr sz="2800">
              <a:latin typeface="Trebuchet MS"/>
              <a:cs typeface="Trebuchet MS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3200" b="1" spc="-5" dirty="0">
                <a:latin typeface="Trebuchet MS"/>
                <a:cs typeface="Trebuchet MS"/>
              </a:rPr>
              <a:t>Método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b="1" spc="-5" dirty="0">
                <a:latin typeface="Trebuchet MS"/>
                <a:cs typeface="Trebuchet MS"/>
              </a:rPr>
              <a:t>toLowerCase()</a:t>
            </a:r>
            <a:endParaRPr sz="3200">
              <a:latin typeface="Trebuchet MS"/>
              <a:cs typeface="Trebuchet MS"/>
            </a:endParaRPr>
          </a:p>
          <a:p>
            <a:pPr marL="3175" algn="ctr">
              <a:lnSpc>
                <a:spcPct val="100000"/>
              </a:lnSpc>
            </a:pPr>
            <a:r>
              <a:rPr sz="3200" dirty="0">
                <a:latin typeface="Trebuchet MS"/>
                <a:cs typeface="Trebuchet MS"/>
              </a:rPr>
              <a:t>Devuelve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un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String </a:t>
            </a:r>
            <a:r>
              <a:rPr sz="2800" spc="-10" dirty="0">
                <a:latin typeface="Trebuchet MS"/>
                <a:cs typeface="Trebuchet MS"/>
              </a:rPr>
              <a:t>con</a:t>
            </a:r>
            <a:r>
              <a:rPr sz="2800" spc="-5" dirty="0">
                <a:latin typeface="Trebuchet MS"/>
                <a:cs typeface="Trebuchet MS"/>
              </a:rPr>
              <a:t> todos</a:t>
            </a:r>
            <a:r>
              <a:rPr sz="2800" spc="1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los caracteres</a:t>
            </a:r>
            <a:r>
              <a:rPr sz="2800" spc="3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en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mayúsculas</a:t>
            </a:r>
            <a:endParaRPr sz="2800">
              <a:latin typeface="Trebuchet MS"/>
              <a:cs typeface="Trebuchet MS"/>
            </a:endParaRPr>
          </a:p>
          <a:p>
            <a:pPr marL="4445" algn="ctr">
              <a:lnSpc>
                <a:spcPct val="100000"/>
              </a:lnSpc>
            </a:pPr>
            <a:r>
              <a:rPr sz="3200" b="1" spc="-5" dirty="0">
                <a:latin typeface="Trebuchet MS"/>
                <a:cs typeface="Trebuchet MS"/>
              </a:rPr>
              <a:t>Método</a:t>
            </a:r>
            <a:r>
              <a:rPr sz="3200" b="1" spc="-30" dirty="0">
                <a:latin typeface="Trebuchet MS"/>
                <a:cs typeface="Trebuchet MS"/>
              </a:rPr>
              <a:t> </a:t>
            </a:r>
            <a:r>
              <a:rPr sz="3200" b="1" spc="-5" dirty="0">
                <a:latin typeface="Trebuchet MS"/>
                <a:cs typeface="Trebuchet MS"/>
              </a:rPr>
              <a:t>trim()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latin typeface="Trebuchet MS"/>
                <a:cs typeface="Trebuchet MS"/>
              </a:rPr>
              <a:t>Devuelve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un</a:t>
            </a:r>
            <a:r>
              <a:rPr sz="3200" spc="1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String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espacios</a:t>
            </a:r>
            <a:r>
              <a:rPr sz="2800" spc="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quitados</a:t>
            </a:r>
            <a:r>
              <a:rPr sz="2800" spc="3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al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principio</a:t>
            </a:r>
            <a:r>
              <a:rPr sz="2800" spc="1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y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al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final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5008" y="3601211"/>
            <a:ext cx="11302365" cy="1805939"/>
            <a:chOff x="445008" y="3601211"/>
            <a:chExt cx="11302365" cy="18059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056" y="3604259"/>
              <a:ext cx="11295888" cy="179984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6532" y="3602735"/>
              <a:ext cx="11299190" cy="1803400"/>
            </a:xfrm>
            <a:custGeom>
              <a:avLst/>
              <a:gdLst/>
              <a:ahLst/>
              <a:cxnLst/>
              <a:rect l="l" t="t" r="r" b="b"/>
              <a:pathLst>
                <a:path w="11299190" h="1803400">
                  <a:moveTo>
                    <a:pt x="0" y="1802891"/>
                  </a:moveTo>
                  <a:lnTo>
                    <a:pt x="11298936" y="1802891"/>
                  </a:lnTo>
                  <a:lnTo>
                    <a:pt x="11298936" y="0"/>
                  </a:lnTo>
                  <a:lnTo>
                    <a:pt x="0" y="0"/>
                  </a:lnTo>
                  <a:lnTo>
                    <a:pt x="0" y="180289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7489" y="0"/>
            <a:ext cx="8187690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rebuchet MS"/>
                <a:cs typeface="Trebuchet MS"/>
              </a:rPr>
              <a:t>Método</a:t>
            </a:r>
            <a:r>
              <a:rPr b="1" spc="-15" dirty="0">
                <a:latin typeface="Trebuchet MS"/>
                <a:cs typeface="Trebuchet MS"/>
              </a:rPr>
              <a:t> </a:t>
            </a:r>
            <a:r>
              <a:rPr b="1" spc="-5" dirty="0">
                <a:latin typeface="Trebuchet MS"/>
                <a:cs typeface="Trebuchet MS"/>
              </a:rPr>
              <a:t>replace(a,b)</a:t>
            </a:r>
          </a:p>
          <a:p>
            <a:pPr marL="12700" marR="5080" algn="ctr">
              <a:lnSpc>
                <a:spcPct val="100000"/>
              </a:lnSpc>
              <a:spcBef>
                <a:spcPts val="5"/>
              </a:spcBef>
            </a:pPr>
            <a:r>
              <a:rPr sz="2800" spc="-5" dirty="0"/>
              <a:t>Devuelve</a:t>
            </a:r>
            <a:r>
              <a:rPr sz="2800" spc="5" dirty="0"/>
              <a:t> </a:t>
            </a:r>
            <a:r>
              <a:rPr sz="2800" spc="-5" dirty="0"/>
              <a:t>un String</a:t>
            </a:r>
            <a:r>
              <a:rPr sz="2800" dirty="0"/>
              <a:t> </a:t>
            </a:r>
            <a:r>
              <a:rPr sz="2800" spc="-10" dirty="0"/>
              <a:t>con</a:t>
            </a:r>
            <a:r>
              <a:rPr sz="2800" spc="-30" dirty="0"/>
              <a:t> </a:t>
            </a:r>
            <a:r>
              <a:rPr sz="2800" b="1" spc="-5" dirty="0">
                <a:latin typeface="Trebuchet MS"/>
                <a:cs typeface="Trebuchet MS"/>
              </a:rPr>
              <a:t>l</a:t>
            </a:r>
            <a:r>
              <a:rPr sz="2800" spc="-5" dirty="0"/>
              <a:t>a</a:t>
            </a:r>
            <a:r>
              <a:rPr sz="2800" spc="-10" dirty="0"/>
              <a:t> cadena</a:t>
            </a:r>
            <a:r>
              <a:rPr sz="2800" spc="10" dirty="0"/>
              <a:t> </a:t>
            </a:r>
            <a:r>
              <a:rPr sz="2800" spc="-5" dirty="0"/>
              <a:t>a sustituida</a:t>
            </a:r>
            <a:r>
              <a:rPr sz="2800" spc="35" dirty="0"/>
              <a:t> </a:t>
            </a:r>
            <a:r>
              <a:rPr sz="2800" spc="-10" dirty="0"/>
              <a:t>por </a:t>
            </a:r>
            <a:r>
              <a:rPr sz="2800" spc="-5" dirty="0"/>
              <a:t>b </a:t>
            </a:r>
            <a:r>
              <a:rPr sz="2800" spc="-825" dirty="0"/>
              <a:t> </a:t>
            </a:r>
            <a:r>
              <a:rPr sz="2800" spc="-5" dirty="0"/>
              <a:t>Poner una</a:t>
            </a:r>
            <a:r>
              <a:rPr sz="2800" spc="-10" dirty="0"/>
              <a:t> sucesión</a:t>
            </a:r>
            <a:r>
              <a:rPr sz="2800" spc="15" dirty="0"/>
              <a:t> </a:t>
            </a:r>
            <a:r>
              <a:rPr sz="2800" spc="-5" dirty="0"/>
              <a:t>de replace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3732" y="1825751"/>
            <a:ext cx="10384790" cy="3482340"/>
            <a:chOff x="903732" y="1825751"/>
            <a:chExt cx="10384790" cy="34823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6780" y="1828799"/>
              <a:ext cx="10378440" cy="34762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05256" y="1827275"/>
              <a:ext cx="10381615" cy="3479800"/>
            </a:xfrm>
            <a:custGeom>
              <a:avLst/>
              <a:gdLst/>
              <a:ahLst/>
              <a:cxnLst/>
              <a:rect l="l" t="t" r="r" b="b"/>
              <a:pathLst>
                <a:path w="10381615" h="3479800">
                  <a:moveTo>
                    <a:pt x="0" y="3479292"/>
                  </a:moveTo>
                  <a:lnTo>
                    <a:pt x="10381488" y="3479292"/>
                  </a:lnTo>
                  <a:lnTo>
                    <a:pt x="10381488" y="0"/>
                  </a:lnTo>
                  <a:lnTo>
                    <a:pt x="0" y="0"/>
                  </a:lnTo>
                  <a:lnTo>
                    <a:pt x="0" y="347929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rebuchet MS"/>
                <a:cs typeface="Trebuchet MS"/>
              </a:rPr>
              <a:t>Método</a:t>
            </a:r>
            <a:r>
              <a:rPr b="1" spc="-15" dirty="0">
                <a:latin typeface="Trebuchet MS"/>
                <a:cs typeface="Trebuchet MS"/>
              </a:rPr>
              <a:t> </a:t>
            </a:r>
            <a:r>
              <a:rPr b="1" spc="-5" dirty="0">
                <a:latin typeface="Trebuchet MS"/>
                <a:cs typeface="Trebuchet MS"/>
              </a:rPr>
              <a:t>replaceAll(reg,b)</a:t>
            </a:r>
          </a:p>
          <a:p>
            <a:pPr marL="12065" marR="5080" algn="ctr">
              <a:lnSpc>
                <a:spcPct val="100000"/>
              </a:lnSpc>
            </a:pPr>
            <a:r>
              <a:rPr dirty="0"/>
              <a:t>Devuelve</a:t>
            </a:r>
            <a:r>
              <a:rPr spc="-5" dirty="0"/>
              <a:t> </a:t>
            </a:r>
            <a:r>
              <a:rPr sz="2800" spc="-5" dirty="0"/>
              <a:t>un</a:t>
            </a:r>
            <a:r>
              <a:rPr sz="2800" spc="5" dirty="0"/>
              <a:t> </a:t>
            </a:r>
            <a:r>
              <a:rPr sz="2800" spc="-5" dirty="0"/>
              <a:t>String</a:t>
            </a:r>
            <a:r>
              <a:rPr sz="2800" spc="5" dirty="0"/>
              <a:t> </a:t>
            </a:r>
            <a:r>
              <a:rPr sz="2800" spc="-10" dirty="0"/>
              <a:t>con</a:t>
            </a:r>
            <a:r>
              <a:rPr sz="2800" dirty="0"/>
              <a:t> </a:t>
            </a:r>
            <a:r>
              <a:rPr sz="2800" spc="-10" dirty="0"/>
              <a:t>donde</a:t>
            </a:r>
            <a:r>
              <a:rPr sz="2800" spc="15" dirty="0"/>
              <a:t> </a:t>
            </a:r>
            <a:r>
              <a:rPr sz="2800" spc="-10" dirty="0"/>
              <a:t>interpreta</a:t>
            </a:r>
            <a:r>
              <a:rPr sz="2800" spc="15" dirty="0"/>
              <a:t> </a:t>
            </a:r>
            <a:r>
              <a:rPr sz="2800" spc="-10" dirty="0"/>
              <a:t>una</a:t>
            </a:r>
            <a:r>
              <a:rPr sz="2800" spc="5" dirty="0"/>
              <a:t> </a:t>
            </a:r>
            <a:r>
              <a:rPr sz="2800" spc="-10" dirty="0"/>
              <a:t>expresión</a:t>
            </a:r>
            <a:r>
              <a:rPr sz="2800" spc="10" dirty="0"/>
              <a:t> </a:t>
            </a:r>
            <a:r>
              <a:rPr sz="2800" spc="-10" dirty="0"/>
              <a:t>regular </a:t>
            </a:r>
            <a:r>
              <a:rPr sz="2800" spc="-830" dirty="0"/>
              <a:t> </a:t>
            </a:r>
            <a:r>
              <a:rPr sz="2800" spc="-10" dirty="0"/>
              <a:t>sustituyéndola</a:t>
            </a:r>
            <a:r>
              <a:rPr sz="2800" spc="30" dirty="0"/>
              <a:t> </a:t>
            </a:r>
            <a:r>
              <a:rPr sz="2800" spc="-10" dirty="0"/>
              <a:t>por</a:t>
            </a:r>
            <a:r>
              <a:rPr sz="2800" spc="-5" dirty="0"/>
              <a:t> b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44474" y="1390015"/>
            <a:ext cx="1110996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75940" marR="5080" indent="-306387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rebuchet MS"/>
                <a:cs typeface="Trebuchet MS"/>
              </a:rPr>
              <a:t>Las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expresiones</a:t>
            </a:r>
            <a:r>
              <a:rPr sz="2800" spc="1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regulares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contienen</a:t>
            </a:r>
            <a:r>
              <a:rPr sz="2800" spc="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caracteres</a:t>
            </a:r>
            <a:r>
              <a:rPr sz="2800" spc="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especiales</a:t>
            </a:r>
            <a:r>
              <a:rPr sz="2800" spc="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para</a:t>
            </a:r>
            <a:r>
              <a:rPr sz="2800" spc="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hacer </a:t>
            </a:r>
            <a:r>
              <a:rPr sz="2800" spc="-83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referencia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a </a:t>
            </a:r>
            <a:r>
              <a:rPr sz="2800" spc="-10" dirty="0">
                <a:latin typeface="Trebuchet MS"/>
                <a:cs typeface="Trebuchet MS"/>
              </a:rPr>
              <a:t>patrones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de String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35223" y="2587751"/>
            <a:ext cx="6322060" cy="2807335"/>
            <a:chOff x="2935223" y="2587751"/>
            <a:chExt cx="6322060" cy="28073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8271" y="2590799"/>
              <a:ext cx="6315456" cy="2801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36747" y="2589275"/>
              <a:ext cx="6318885" cy="2804160"/>
            </a:xfrm>
            <a:custGeom>
              <a:avLst/>
              <a:gdLst/>
              <a:ahLst/>
              <a:cxnLst/>
              <a:rect l="l" t="t" r="r" b="b"/>
              <a:pathLst>
                <a:path w="6318884" h="2804160">
                  <a:moveTo>
                    <a:pt x="0" y="2804160"/>
                  </a:moveTo>
                  <a:lnTo>
                    <a:pt x="6318504" y="2804160"/>
                  </a:lnTo>
                  <a:lnTo>
                    <a:pt x="6318504" y="0"/>
                  </a:lnTo>
                  <a:lnTo>
                    <a:pt x="0" y="0"/>
                  </a:lnTo>
                  <a:lnTo>
                    <a:pt x="0" y="280416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5508" y="0"/>
            <a:ext cx="93878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</a:t>
            </a:r>
            <a:r>
              <a:rPr spc="10" dirty="0"/>
              <a:t> </a:t>
            </a:r>
            <a:r>
              <a:rPr dirty="0"/>
              <a:t>otras</a:t>
            </a:r>
            <a:r>
              <a:rPr spc="5" dirty="0"/>
              <a:t> </a:t>
            </a:r>
            <a:r>
              <a:rPr spc="-5" dirty="0"/>
              <a:t>clase</a:t>
            </a:r>
            <a:r>
              <a:rPr spc="15" dirty="0"/>
              <a:t> </a:t>
            </a:r>
            <a:r>
              <a:rPr spc="-5" dirty="0"/>
              <a:t>también</a:t>
            </a:r>
            <a:r>
              <a:rPr spc="5" dirty="0"/>
              <a:t> </a:t>
            </a:r>
            <a:r>
              <a:rPr spc="-5" dirty="0"/>
              <a:t>existen</a:t>
            </a:r>
            <a:r>
              <a:rPr spc="5" dirty="0"/>
              <a:t> </a:t>
            </a:r>
            <a:r>
              <a:rPr spc="-5" dirty="0"/>
              <a:t>unos</a:t>
            </a:r>
            <a:r>
              <a:rPr dirty="0"/>
              <a:t> </a:t>
            </a:r>
            <a:r>
              <a:rPr spc="-5" dirty="0"/>
              <a:t>métodos</a:t>
            </a:r>
            <a:r>
              <a:rPr spc="-10" dirty="0"/>
              <a:t> </a:t>
            </a:r>
            <a:r>
              <a:rPr spc="-5" dirty="0"/>
              <a:t>útiles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9516" y="475234"/>
            <a:ext cx="9262745" cy="1246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rebuchet MS"/>
                <a:cs typeface="Trebuchet MS"/>
              </a:rPr>
              <a:t>Método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Integer.parseInt</a:t>
            </a:r>
            <a:endParaRPr sz="280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</a:pPr>
            <a:r>
              <a:rPr sz="2800" b="1" spc="-5" dirty="0">
                <a:latin typeface="Trebuchet MS"/>
                <a:cs typeface="Trebuchet MS"/>
              </a:rPr>
              <a:t>static</a:t>
            </a:r>
            <a:r>
              <a:rPr sz="2800" b="1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int</a:t>
            </a:r>
            <a:r>
              <a:rPr sz="2800" b="1" spc="-15" dirty="0">
                <a:latin typeface="Trebuchet MS"/>
                <a:cs typeface="Trebuchet MS"/>
              </a:rPr>
              <a:t> </a:t>
            </a:r>
            <a:r>
              <a:rPr sz="2800" b="1" spc="-5" dirty="0">
                <a:latin typeface="Trebuchet MS"/>
                <a:cs typeface="Trebuchet MS"/>
              </a:rPr>
              <a:t>parseInt(String</a:t>
            </a:r>
            <a:r>
              <a:rPr sz="2800" b="1" spc="-20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valor)</a:t>
            </a:r>
            <a:endParaRPr sz="2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latin typeface="Trebuchet MS"/>
                <a:cs typeface="Trebuchet MS"/>
              </a:rPr>
              <a:t>Devuelve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un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entero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5" dirty="0">
                <a:latin typeface="Trebuchet MS"/>
                <a:cs typeface="Trebuchet MS"/>
              </a:rPr>
              <a:t> partir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de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un </a:t>
            </a:r>
            <a:r>
              <a:rPr sz="2400" dirty="0">
                <a:latin typeface="Trebuchet MS"/>
                <a:cs typeface="Trebuchet MS"/>
              </a:rPr>
              <a:t>String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que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representa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un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número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9358" y="3644646"/>
            <a:ext cx="10684510" cy="1369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Trebuchet MS"/>
                <a:cs typeface="Trebuchet MS"/>
              </a:rPr>
              <a:t>Método</a:t>
            </a:r>
            <a:r>
              <a:rPr sz="3200" spc="5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Double.parseDouble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3200" b="1" dirty="0">
                <a:latin typeface="Trebuchet MS"/>
                <a:cs typeface="Trebuchet MS"/>
              </a:rPr>
              <a:t>static</a:t>
            </a:r>
            <a:r>
              <a:rPr sz="3200" b="1" spc="-1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double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b="1" spc="-5" dirty="0">
                <a:latin typeface="Trebuchet MS"/>
                <a:cs typeface="Trebuchet MS"/>
              </a:rPr>
              <a:t>parseDouble(String</a:t>
            </a:r>
            <a:r>
              <a:rPr sz="3200" b="1" spc="-30" dirty="0">
                <a:latin typeface="Trebuchet MS"/>
                <a:cs typeface="Trebuchet MS"/>
              </a:rPr>
              <a:t> </a:t>
            </a:r>
            <a:r>
              <a:rPr sz="3200" b="1" spc="-5" dirty="0">
                <a:latin typeface="Trebuchet MS"/>
                <a:cs typeface="Trebuchet MS"/>
              </a:rPr>
              <a:t>valor)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latin typeface="Trebuchet MS"/>
                <a:cs typeface="Trebuchet MS"/>
              </a:rPr>
              <a:t>Devuelve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un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double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5" dirty="0">
                <a:latin typeface="Trebuchet MS"/>
                <a:cs typeface="Trebuchet MS"/>
              </a:rPr>
              <a:t> partir de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un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String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que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representa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un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número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con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coma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29027" y="2077211"/>
            <a:ext cx="7934325" cy="1073150"/>
            <a:chOff x="2129027" y="2077211"/>
            <a:chExt cx="7934325" cy="10731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2075" y="2080259"/>
              <a:ext cx="7927848" cy="1066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30551" y="2078735"/>
              <a:ext cx="7931150" cy="1069975"/>
            </a:xfrm>
            <a:custGeom>
              <a:avLst/>
              <a:gdLst/>
              <a:ahLst/>
              <a:cxnLst/>
              <a:rect l="l" t="t" r="r" b="b"/>
              <a:pathLst>
                <a:path w="7931150" h="1069975">
                  <a:moveTo>
                    <a:pt x="0" y="1069848"/>
                  </a:moveTo>
                  <a:lnTo>
                    <a:pt x="7930896" y="1069848"/>
                  </a:lnTo>
                  <a:lnTo>
                    <a:pt x="7930896" y="0"/>
                  </a:lnTo>
                  <a:lnTo>
                    <a:pt x="0" y="0"/>
                  </a:lnTo>
                  <a:lnTo>
                    <a:pt x="0" y="10698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749551" y="5407152"/>
            <a:ext cx="8694420" cy="1073150"/>
            <a:chOff x="1749551" y="5407152"/>
            <a:chExt cx="8694420" cy="10731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599" y="5410200"/>
              <a:ext cx="8688324" cy="10668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51075" y="5408676"/>
              <a:ext cx="8691880" cy="1069975"/>
            </a:xfrm>
            <a:custGeom>
              <a:avLst/>
              <a:gdLst/>
              <a:ahLst/>
              <a:cxnLst/>
              <a:rect l="l" t="t" r="r" b="b"/>
              <a:pathLst>
                <a:path w="8691880" h="1069975">
                  <a:moveTo>
                    <a:pt x="0" y="1069848"/>
                  </a:moveTo>
                  <a:lnTo>
                    <a:pt x="8691372" y="1069848"/>
                  </a:lnTo>
                  <a:lnTo>
                    <a:pt x="8691372" y="0"/>
                  </a:lnTo>
                  <a:lnTo>
                    <a:pt x="0" y="0"/>
                  </a:lnTo>
                  <a:lnTo>
                    <a:pt x="0" y="10698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También</a:t>
            </a:r>
            <a:r>
              <a:rPr spc="10" dirty="0"/>
              <a:t> </a:t>
            </a:r>
            <a:r>
              <a:rPr dirty="0"/>
              <a:t>existen</a:t>
            </a:r>
            <a:r>
              <a:rPr spc="-5" dirty="0"/>
              <a:t> métodos</a:t>
            </a:r>
            <a:r>
              <a:rPr spc="5" dirty="0"/>
              <a:t> </a:t>
            </a:r>
            <a:r>
              <a:rPr dirty="0"/>
              <a:t>static</a:t>
            </a:r>
            <a:r>
              <a:rPr spc="15" dirty="0"/>
              <a:t> </a:t>
            </a:r>
            <a:r>
              <a:rPr spc="-5" dirty="0"/>
              <a:t>muy útiles</a:t>
            </a:r>
            <a:r>
              <a:rPr spc="5" dirty="0"/>
              <a:t> </a:t>
            </a:r>
            <a:r>
              <a:rPr spc="-5" dirty="0"/>
              <a:t>de</a:t>
            </a:r>
            <a:r>
              <a:rPr spc="10" dirty="0"/>
              <a:t> </a:t>
            </a:r>
            <a:r>
              <a:rPr dirty="0"/>
              <a:t>String</a:t>
            </a:r>
          </a:p>
          <a:p>
            <a:pPr marL="5080" algn="ctr">
              <a:lnSpc>
                <a:spcPct val="100000"/>
              </a:lnSpc>
            </a:pPr>
            <a:r>
              <a:rPr b="1" spc="-5" dirty="0">
                <a:latin typeface="Trebuchet MS"/>
                <a:cs typeface="Trebuchet MS"/>
              </a:rPr>
              <a:t>Método</a:t>
            </a:r>
            <a:r>
              <a:rPr b="1" spc="-15" dirty="0">
                <a:latin typeface="Trebuchet MS"/>
                <a:cs typeface="Trebuchet MS"/>
              </a:rPr>
              <a:t> </a:t>
            </a:r>
            <a:r>
              <a:rPr b="1" spc="-5" dirty="0">
                <a:latin typeface="Trebuchet MS"/>
                <a:cs typeface="Trebuchet MS"/>
              </a:rPr>
              <a:t>valueOf(T)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3752" y="963294"/>
            <a:ext cx="8537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rebuchet MS"/>
                <a:cs typeface="Trebuchet MS"/>
              </a:rPr>
              <a:t>Crear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un String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a </a:t>
            </a:r>
            <a:r>
              <a:rPr sz="2800" spc="-10" dirty="0">
                <a:latin typeface="Trebuchet MS"/>
                <a:cs typeface="Trebuchet MS"/>
              </a:rPr>
              <a:t>partir</a:t>
            </a:r>
            <a:r>
              <a:rPr sz="2800" spc="1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de un entero, un double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,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etc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16077" y="2851785"/>
            <a:ext cx="11559844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5"/>
              </a:spcBef>
            </a:pP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29127" y="1688592"/>
            <a:ext cx="6334125" cy="996950"/>
            <a:chOff x="2929127" y="1688592"/>
            <a:chExt cx="6334125" cy="9969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2175" y="1691640"/>
              <a:ext cx="6327648" cy="990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30651" y="1690116"/>
              <a:ext cx="6330950" cy="993775"/>
            </a:xfrm>
            <a:custGeom>
              <a:avLst/>
              <a:gdLst/>
              <a:ahLst/>
              <a:cxnLst/>
              <a:rect l="l" t="t" r="r" b="b"/>
              <a:pathLst>
                <a:path w="6330950" h="993775">
                  <a:moveTo>
                    <a:pt x="0" y="993648"/>
                  </a:moveTo>
                  <a:lnTo>
                    <a:pt x="6330696" y="993648"/>
                  </a:lnTo>
                  <a:lnTo>
                    <a:pt x="6330696" y="0"/>
                  </a:lnTo>
                  <a:lnTo>
                    <a:pt x="0" y="0"/>
                  </a:lnTo>
                  <a:lnTo>
                    <a:pt x="0" y="9936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1370" y="119888"/>
            <a:ext cx="29864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" dirty="0">
                <a:latin typeface="Trebuchet MS"/>
                <a:cs typeface="Trebuchet MS"/>
              </a:rPr>
              <a:t>Bibliografía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569" y="929766"/>
            <a:ext cx="5379720" cy="5193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 marR="5080" indent="-396240">
              <a:lnSpc>
                <a:spcPct val="100000"/>
              </a:lnSpc>
              <a:spcBef>
                <a:spcPts val="100"/>
              </a:spcBef>
              <a:buClr>
                <a:srgbClr val="A32E0E"/>
              </a:buClr>
              <a:buSzPct val="66666"/>
              <a:buFont typeface="Wingdings"/>
              <a:buChar char=""/>
              <a:tabLst>
                <a:tab pos="421005" algn="l"/>
                <a:tab pos="421640" algn="l"/>
              </a:tabLst>
            </a:pPr>
            <a:r>
              <a:rPr sz="2400" b="1" spc="-5" dirty="0">
                <a:latin typeface="Trebuchet MS"/>
                <a:cs typeface="Trebuchet MS"/>
              </a:rPr>
              <a:t>García</a:t>
            </a:r>
            <a:r>
              <a:rPr sz="2400" b="1" spc="-2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-1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Jalón,</a:t>
            </a:r>
            <a:r>
              <a:rPr sz="2400" b="1" spc="-55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j.:</a:t>
            </a:r>
            <a:r>
              <a:rPr sz="2400" b="1" spc="15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“Aprende</a:t>
            </a:r>
            <a:r>
              <a:rPr sz="2400" b="1" spc="-155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Java </a:t>
            </a:r>
            <a:r>
              <a:rPr sz="2400" b="1" spc="-710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como </a:t>
            </a:r>
            <a:r>
              <a:rPr sz="2400" b="1" dirty="0">
                <a:latin typeface="Trebuchet MS"/>
                <a:cs typeface="Trebuchet MS"/>
              </a:rPr>
              <a:t>si </a:t>
            </a:r>
            <a:r>
              <a:rPr sz="2400" b="1" spc="-10" dirty="0">
                <a:latin typeface="Trebuchet MS"/>
                <a:cs typeface="Trebuchet MS"/>
              </a:rPr>
              <a:t>estuvieras </a:t>
            </a:r>
            <a:r>
              <a:rPr sz="2400" b="1" dirty="0">
                <a:latin typeface="Trebuchet MS"/>
                <a:cs typeface="Trebuchet MS"/>
              </a:rPr>
              <a:t>en primero”. </a:t>
            </a:r>
            <a:r>
              <a:rPr sz="2400" b="1" spc="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Editorial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TECNUN.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2000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A32E0E"/>
              </a:buClr>
              <a:buFont typeface="Wingdings"/>
              <a:buChar char=""/>
            </a:pPr>
            <a:endParaRPr sz="2550">
              <a:latin typeface="Trebuchet MS"/>
              <a:cs typeface="Trebuchet MS"/>
            </a:endParaRPr>
          </a:p>
          <a:p>
            <a:pPr marL="395605" marR="123825" indent="-395605">
              <a:lnSpc>
                <a:spcPct val="100000"/>
              </a:lnSpc>
              <a:buClr>
                <a:srgbClr val="A32E0E"/>
              </a:buClr>
              <a:buSzPct val="66666"/>
              <a:buFont typeface="Wingdings"/>
              <a:buChar char=""/>
              <a:tabLst>
                <a:tab pos="395605" algn="l"/>
                <a:tab pos="408940" algn="l"/>
              </a:tabLst>
            </a:pPr>
            <a:r>
              <a:rPr sz="2400" b="1" spc="-25" dirty="0">
                <a:latin typeface="Trebuchet MS"/>
                <a:cs typeface="Trebuchet MS"/>
              </a:rPr>
              <a:t>H</a:t>
            </a:r>
            <a:r>
              <a:rPr sz="2400" b="1" spc="-30" dirty="0">
                <a:latin typeface="Trebuchet MS"/>
                <a:cs typeface="Trebuchet MS"/>
              </a:rPr>
              <a:t>o</a:t>
            </a:r>
            <a:r>
              <a:rPr sz="2400" b="1" spc="-25" dirty="0">
                <a:latin typeface="Trebuchet MS"/>
                <a:cs typeface="Trebuchet MS"/>
              </a:rPr>
              <a:t>l</a:t>
            </a:r>
            <a:r>
              <a:rPr sz="2400" b="1" spc="-20" dirty="0">
                <a:latin typeface="Trebuchet MS"/>
                <a:cs typeface="Trebuchet MS"/>
              </a:rPr>
              <a:t>z</a:t>
            </a:r>
            <a:r>
              <a:rPr sz="2400" b="1" spc="-25" dirty="0">
                <a:latin typeface="Trebuchet MS"/>
                <a:cs typeface="Trebuchet MS"/>
              </a:rPr>
              <a:t>ne</a:t>
            </a:r>
            <a:r>
              <a:rPr sz="2400" b="1" spc="-310" dirty="0">
                <a:latin typeface="Trebuchet MS"/>
                <a:cs typeface="Trebuchet MS"/>
              </a:rPr>
              <a:t>r</a:t>
            </a:r>
            <a:r>
              <a:rPr sz="2400" b="1" dirty="0">
                <a:latin typeface="Trebuchet MS"/>
                <a:cs typeface="Trebuchet MS"/>
              </a:rPr>
              <a:t>,</a:t>
            </a:r>
            <a:r>
              <a:rPr sz="2400" b="1" spc="-10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S</a:t>
            </a:r>
            <a:r>
              <a:rPr sz="2400" b="1" spc="-10" dirty="0">
                <a:latin typeface="Trebuchet MS"/>
                <a:cs typeface="Trebuchet MS"/>
              </a:rPr>
              <a:t>.</a:t>
            </a:r>
            <a:r>
              <a:rPr sz="2400" b="1" dirty="0">
                <a:latin typeface="Trebuchet MS"/>
                <a:cs typeface="Trebuchet MS"/>
              </a:rPr>
              <a:t>:</a:t>
            </a:r>
            <a:r>
              <a:rPr sz="2400" b="1" spc="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“La </a:t>
            </a:r>
            <a:r>
              <a:rPr sz="2400" b="1" spc="-10" dirty="0">
                <a:latin typeface="Trebuchet MS"/>
                <a:cs typeface="Trebuchet MS"/>
              </a:rPr>
              <a:t>b</a:t>
            </a:r>
            <a:r>
              <a:rPr sz="2400" b="1" spc="-5" dirty="0">
                <a:latin typeface="Trebuchet MS"/>
                <a:cs typeface="Trebuchet MS"/>
              </a:rPr>
              <a:t>ibli</a:t>
            </a:r>
            <a:r>
              <a:rPr sz="2400" b="1" dirty="0">
                <a:latin typeface="Trebuchet MS"/>
                <a:cs typeface="Trebuchet MS"/>
              </a:rPr>
              <a:t>a</a:t>
            </a:r>
            <a:r>
              <a:rPr sz="2400" b="1" spc="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-10" dirty="0">
                <a:latin typeface="Trebuchet MS"/>
                <a:cs typeface="Trebuchet MS"/>
              </a:rPr>
              <a:t> </a:t>
            </a:r>
            <a:r>
              <a:rPr sz="2400" b="1" spc="-95" dirty="0">
                <a:latin typeface="Trebuchet MS"/>
                <a:cs typeface="Trebuchet MS"/>
              </a:rPr>
              <a:t>J</a:t>
            </a:r>
            <a:r>
              <a:rPr sz="2400" b="1" spc="-275" dirty="0">
                <a:latin typeface="Trebuchet MS"/>
                <a:cs typeface="Trebuchet MS"/>
              </a:rPr>
              <a:t>A</a:t>
            </a:r>
            <a:r>
              <a:rPr sz="2400" b="1" spc="-280" dirty="0">
                <a:latin typeface="Trebuchet MS"/>
                <a:cs typeface="Trebuchet MS"/>
              </a:rPr>
              <a:t>V</a:t>
            </a:r>
            <a:r>
              <a:rPr sz="2400" b="1" dirty="0">
                <a:latin typeface="Trebuchet MS"/>
                <a:cs typeface="Trebuchet MS"/>
              </a:rPr>
              <a:t>A</a:t>
            </a:r>
            <a:r>
              <a:rPr sz="2400" b="1" spc="-395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2”.</a:t>
            </a:r>
            <a:endParaRPr sz="2400">
              <a:latin typeface="Trebuchet MS"/>
              <a:cs typeface="Trebuchet MS"/>
            </a:endParaRPr>
          </a:p>
          <a:p>
            <a:pPr marR="79375" algn="ctr">
              <a:lnSpc>
                <a:spcPct val="100000"/>
              </a:lnSpc>
            </a:pPr>
            <a:r>
              <a:rPr sz="2400" spc="-5" dirty="0">
                <a:latin typeface="Trebuchet MS"/>
                <a:cs typeface="Trebuchet MS"/>
              </a:rPr>
              <a:t>Editorial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Anaya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Multimedia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2000.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>
              <a:latin typeface="Trebuchet MS"/>
              <a:cs typeface="Trebuchet MS"/>
            </a:endParaRPr>
          </a:p>
          <a:p>
            <a:pPr marL="421005" marR="845819" indent="-396240">
              <a:lnSpc>
                <a:spcPct val="100000"/>
              </a:lnSpc>
              <a:buClr>
                <a:srgbClr val="A32E0E"/>
              </a:buClr>
              <a:buSzPct val="66666"/>
              <a:buFont typeface="Wingdings"/>
              <a:buChar char=""/>
              <a:tabLst>
                <a:tab pos="421005" algn="l"/>
                <a:tab pos="421640" algn="l"/>
              </a:tabLst>
            </a:pPr>
            <a:r>
              <a:rPr sz="2400" b="1" spc="-5" dirty="0">
                <a:latin typeface="Trebuchet MS"/>
                <a:cs typeface="Trebuchet MS"/>
              </a:rPr>
              <a:t>Moreno</a:t>
            </a:r>
            <a:r>
              <a:rPr sz="2400" b="1" spc="-20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Pérez,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J.C.:</a:t>
            </a:r>
            <a:r>
              <a:rPr sz="2400" b="1" spc="-110" dirty="0">
                <a:latin typeface="Trebuchet MS"/>
                <a:cs typeface="Trebuchet MS"/>
              </a:rPr>
              <a:t> </a:t>
            </a:r>
            <a:r>
              <a:rPr sz="2400" b="1" spc="-70" dirty="0">
                <a:latin typeface="Trebuchet MS"/>
                <a:cs typeface="Trebuchet MS"/>
              </a:rPr>
              <a:t>“C.F.G.S </a:t>
            </a:r>
            <a:r>
              <a:rPr sz="2400" b="1" spc="-710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Entornos </a:t>
            </a:r>
            <a:r>
              <a:rPr sz="2400" b="1" dirty="0">
                <a:latin typeface="Trebuchet MS"/>
                <a:cs typeface="Trebuchet MS"/>
              </a:rPr>
              <a:t>de </a:t>
            </a:r>
            <a:r>
              <a:rPr sz="2400" b="1" spc="-5" dirty="0">
                <a:latin typeface="Trebuchet MS"/>
                <a:cs typeface="Trebuchet MS"/>
              </a:rPr>
              <a:t>desarrollo” </a:t>
            </a:r>
            <a:r>
              <a:rPr sz="2400" b="1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Editorial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RA-MA.</a:t>
            </a:r>
            <a:r>
              <a:rPr sz="2400" dirty="0">
                <a:latin typeface="Trebuchet MS"/>
                <a:cs typeface="Trebuchet MS"/>
              </a:rPr>
              <a:t> 2012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A32E0E"/>
              </a:buClr>
              <a:buFont typeface="Wingdings"/>
              <a:buChar char=""/>
            </a:pPr>
            <a:endParaRPr sz="2550">
              <a:latin typeface="Trebuchet MS"/>
              <a:cs typeface="Trebuchet MS"/>
            </a:endParaRPr>
          </a:p>
          <a:p>
            <a:pPr marL="421005" marR="356870" indent="-396240">
              <a:lnSpc>
                <a:spcPct val="100000"/>
              </a:lnSpc>
              <a:spcBef>
                <a:spcPts val="5"/>
              </a:spcBef>
              <a:buClr>
                <a:srgbClr val="A32E0E"/>
              </a:buClr>
              <a:buSzPct val="66666"/>
              <a:buFont typeface="Wingdings"/>
              <a:buChar char=""/>
              <a:tabLst>
                <a:tab pos="421005" algn="l"/>
                <a:tab pos="421640" algn="l"/>
              </a:tabLst>
            </a:pPr>
            <a:r>
              <a:rPr sz="2400" b="1" spc="-10" dirty="0">
                <a:latin typeface="Trebuchet MS"/>
                <a:cs typeface="Trebuchet MS"/>
              </a:rPr>
              <a:t>Wikipedia,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la</a:t>
            </a:r>
            <a:r>
              <a:rPr sz="2400" b="1" spc="-15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enciclopedia</a:t>
            </a:r>
            <a:r>
              <a:rPr sz="2400" b="1" spc="-13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libre. </a:t>
            </a:r>
            <a:r>
              <a:rPr sz="2400" b="1" spc="-7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2"/>
              </a:rPr>
              <a:t>http://es.wikipedia.org/</a:t>
            </a:r>
            <a:endParaRPr sz="2400">
              <a:latin typeface="Trebuchet MS"/>
              <a:cs typeface="Trebuchet MS"/>
            </a:endParaRPr>
          </a:p>
          <a:p>
            <a:pPr marL="421005">
              <a:lnSpc>
                <a:spcPct val="100000"/>
              </a:lnSpc>
            </a:pPr>
            <a:r>
              <a:rPr sz="2400" spc="-5" dirty="0">
                <a:latin typeface="Trebuchet MS"/>
                <a:cs typeface="Trebuchet MS"/>
              </a:rPr>
              <a:t>Última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visita: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Octubre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2018.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5390" y="929766"/>
            <a:ext cx="5396230" cy="4080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305" marR="451484" indent="-396240">
              <a:lnSpc>
                <a:spcPct val="100000"/>
              </a:lnSpc>
              <a:spcBef>
                <a:spcPts val="100"/>
              </a:spcBef>
              <a:buClr>
                <a:srgbClr val="A32E0E"/>
              </a:buClr>
              <a:buSzPct val="66666"/>
              <a:buFont typeface="Wingdings"/>
              <a:buChar char=""/>
              <a:tabLst>
                <a:tab pos="408305" algn="l"/>
                <a:tab pos="408940" algn="l"/>
                <a:tab pos="758825" algn="l"/>
              </a:tabLst>
            </a:pPr>
            <a:r>
              <a:rPr sz="2400" b="1" spc="-5" dirty="0">
                <a:latin typeface="Trebuchet MS"/>
                <a:cs typeface="Trebuchet MS"/>
              </a:rPr>
              <a:t>López, J.C.: </a:t>
            </a:r>
            <a:r>
              <a:rPr sz="2400" b="1" spc="-15" dirty="0">
                <a:latin typeface="Trebuchet MS"/>
                <a:cs typeface="Trebuchet MS"/>
              </a:rPr>
              <a:t>“Curso </a:t>
            </a:r>
            <a:r>
              <a:rPr sz="2400" b="1" dirty="0">
                <a:latin typeface="Trebuchet MS"/>
                <a:cs typeface="Trebuchet MS"/>
              </a:rPr>
              <a:t>de </a:t>
            </a:r>
            <a:r>
              <a:rPr sz="2400" b="1" spc="-165" dirty="0">
                <a:latin typeface="Trebuchet MS"/>
                <a:cs typeface="Trebuchet MS"/>
              </a:rPr>
              <a:t>JAVA </a:t>
            </a:r>
            <a:r>
              <a:rPr sz="2400" b="1" spc="-1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http://w</a:t>
            </a: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w</a:t>
            </a:r>
            <a:r>
              <a:rPr sz="2400" b="1" u="heavy" spc="-3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w</a:t>
            </a:r>
            <a:r>
              <a:rPr sz="2400" b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.</a:t>
            </a:r>
            <a:r>
              <a:rPr sz="2400" b="1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c</a:t>
            </a:r>
            <a:r>
              <a:rPr sz="24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u</a:t>
            </a: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r</a:t>
            </a:r>
            <a:r>
              <a:rPr sz="24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so</a:t>
            </a: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d</a:t>
            </a:r>
            <a:r>
              <a:rPr sz="2400" b="1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e</a:t>
            </a:r>
            <a:r>
              <a:rPr sz="24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java.</a:t>
            </a: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c</a:t>
            </a:r>
            <a:r>
              <a:rPr sz="24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om.m </a:t>
            </a:r>
            <a:r>
              <a:rPr sz="2400" b="1" dirty="0">
                <a:solidFill>
                  <a:srgbClr val="0000FF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24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x</a:t>
            </a:r>
            <a:r>
              <a:rPr sz="2400" b="1" dirty="0">
                <a:solidFill>
                  <a:srgbClr val="0000FF"/>
                </a:solidFill>
                <a:latin typeface="Trebuchet MS"/>
                <a:cs typeface="Trebuchet MS"/>
                <a:hlinkClick r:id="rId3"/>
              </a:rPr>
              <a:t>	</a:t>
            </a:r>
            <a:r>
              <a:rPr sz="2400" spc="-5" dirty="0">
                <a:latin typeface="Trebuchet MS"/>
                <a:cs typeface="Trebuchet MS"/>
                <a:hlinkClick r:id="rId3"/>
              </a:rPr>
              <a:t>Última</a:t>
            </a:r>
            <a:r>
              <a:rPr sz="2400" spc="-40" dirty="0">
                <a:latin typeface="Trebuchet MS"/>
                <a:cs typeface="Trebuchet MS"/>
                <a:hlinkClick r:id="rId3"/>
              </a:rPr>
              <a:t> </a:t>
            </a:r>
            <a:r>
              <a:rPr sz="2400" spc="-5" dirty="0">
                <a:latin typeface="Trebuchet MS"/>
                <a:cs typeface="Trebuchet MS"/>
                <a:hlinkClick r:id="rId3"/>
              </a:rPr>
              <a:t>visita:</a:t>
            </a:r>
            <a:r>
              <a:rPr sz="2400" spc="-10" dirty="0">
                <a:latin typeface="Trebuchet MS"/>
                <a:cs typeface="Trebuchet MS"/>
                <a:hlinkClick r:id="rId3"/>
              </a:rPr>
              <a:t> </a:t>
            </a:r>
            <a:r>
              <a:rPr sz="2400" spc="-5" dirty="0">
                <a:latin typeface="Trebuchet MS"/>
                <a:cs typeface="Trebuchet MS"/>
                <a:hlinkClick r:id="rId3"/>
              </a:rPr>
              <a:t>Octubre</a:t>
            </a:r>
            <a:r>
              <a:rPr sz="2400" spc="-10" dirty="0">
                <a:latin typeface="Trebuchet MS"/>
                <a:cs typeface="Trebuchet MS"/>
                <a:hlinkClick r:id="rId3"/>
              </a:rPr>
              <a:t> </a:t>
            </a:r>
            <a:r>
              <a:rPr sz="2400" dirty="0">
                <a:latin typeface="Trebuchet MS"/>
                <a:cs typeface="Trebuchet MS"/>
                <a:hlinkClick r:id="rId3"/>
              </a:rPr>
              <a:t>2018</a:t>
            </a:r>
            <a:r>
              <a:rPr sz="2400" b="1" dirty="0">
                <a:latin typeface="Trebuchet MS"/>
                <a:cs typeface="Trebuchet MS"/>
                <a:hlinkClick r:id="rId3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A32E0E"/>
              </a:buClr>
              <a:buFont typeface="Wingdings"/>
              <a:buChar char=""/>
            </a:pPr>
            <a:endParaRPr sz="2550">
              <a:latin typeface="Trebuchet MS"/>
              <a:cs typeface="Trebuchet MS"/>
            </a:endParaRPr>
          </a:p>
          <a:p>
            <a:pPr marL="408305" marR="234315" indent="-396240" algn="just">
              <a:lnSpc>
                <a:spcPct val="100000"/>
              </a:lnSpc>
              <a:buClr>
                <a:srgbClr val="A32E0E"/>
              </a:buClr>
              <a:buSzPct val="66666"/>
              <a:buFont typeface="Wingdings"/>
              <a:buChar char=""/>
              <a:tabLst>
                <a:tab pos="408940" algn="l"/>
              </a:tabLst>
            </a:pPr>
            <a:r>
              <a:rPr sz="2400" b="1" spc="-5" dirty="0">
                <a:latin typeface="Trebuchet MS"/>
                <a:cs typeface="Trebuchet MS"/>
              </a:rPr>
              <a:t>Documentación</a:t>
            </a:r>
            <a:r>
              <a:rPr sz="2400" b="1" spc="-8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oficial</a:t>
            </a:r>
            <a:r>
              <a:rPr sz="2400" b="1" spc="-2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Java</a:t>
            </a:r>
            <a:r>
              <a:rPr sz="2400" b="1" spc="-8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JSE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8 </a:t>
            </a:r>
            <a:r>
              <a:rPr sz="2400" b="1" spc="-7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4"/>
              </a:rPr>
              <a:t>http://docs.oracle.com/javase/8/ </a:t>
            </a:r>
            <a:r>
              <a:rPr sz="2400" b="1" spc="-71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Última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visita: Octubre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2015.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A32E0E"/>
              </a:buClr>
              <a:buFont typeface="Wingdings"/>
              <a:buChar char=""/>
            </a:pPr>
            <a:endParaRPr sz="2550">
              <a:latin typeface="Trebuchet MS"/>
              <a:cs typeface="Trebuchet MS"/>
            </a:endParaRPr>
          </a:p>
          <a:p>
            <a:pPr marL="408305" marR="5080" indent="-396240">
              <a:lnSpc>
                <a:spcPct val="100000"/>
              </a:lnSpc>
              <a:buClr>
                <a:srgbClr val="A32E0E"/>
              </a:buClr>
              <a:buSzPct val="66666"/>
              <a:buFont typeface="Wingdings"/>
              <a:buChar char=""/>
              <a:tabLst>
                <a:tab pos="408305" algn="l"/>
                <a:tab pos="408940" algn="l"/>
              </a:tabLst>
            </a:pPr>
            <a:r>
              <a:rPr sz="2400" b="1" spc="-10" dirty="0">
                <a:latin typeface="Trebuchet MS"/>
                <a:cs typeface="Trebuchet MS"/>
              </a:rPr>
              <a:t>Programación </a:t>
            </a:r>
            <a:r>
              <a:rPr sz="2400" b="1" dirty="0">
                <a:latin typeface="Trebuchet MS"/>
                <a:cs typeface="Trebuchet MS"/>
              </a:rPr>
              <a:t>en </a:t>
            </a:r>
            <a:r>
              <a:rPr sz="2400" b="1" spc="-5" dirty="0">
                <a:latin typeface="Trebuchet MS"/>
                <a:cs typeface="Trebuchet MS"/>
              </a:rPr>
              <a:t>castellano: Java. </a:t>
            </a:r>
            <a:r>
              <a:rPr sz="2400" b="1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5"/>
              </a:rPr>
              <a:t>http://www.programacion.net/java </a:t>
            </a:r>
            <a:r>
              <a:rPr sz="2400" b="1" spc="-7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Última</a:t>
            </a:r>
            <a:r>
              <a:rPr sz="2400" b="1" spc="-25" dirty="0">
                <a:latin typeface="Trebuchet MS"/>
                <a:cs typeface="Trebuchet MS"/>
              </a:rPr>
              <a:t> </a:t>
            </a:r>
            <a:r>
              <a:rPr sz="2400" b="1" spc="5" dirty="0">
                <a:latin typeface="Trebuchet MS"/>
                <a:cs typeface="Trebuchet MS"/>
              </a:rPr>
              <a:t>visita:</a:t>
            </a:r>
            <a:r>
              <a:rPr sz="2400" b="1" spc="-10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Octubre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2015.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526</Words>
  <Application>Microsoft Office PowerPoint</Application>
  <PresentationFormat>Panorámica</PresentationFormat>
  <Paragraphs>67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Verdana</vt:lpstr>
      <vt:lpstr>Wingdings</vt:lpstr>
      <vt:lpstr>Office Theme</vt:lpstr>
      <vt:lpstr>Presentación de PowerPoint</vt:lpstr>
      <vt:lpstr>Presentación de PowerPoint</vt:lpstr>
      <vt:lpstr>Índice de contenidos</vt:lpstr>
      <vt:lpstr>Presentación de PowerPoint</vt:lpstr>
      <vt:lpstr>Presentación de PowerPoint</vt:lpstr>
      <vt:lpstr>Presentación de PowerPoint</vt:lpstr>
      <vt:lpstr>Clase String</vt:lpstr>
      <vt:lpstr>Método contais(cadena)</vt:lpstr>
      <vt:lpstr>Presentación de PowerPoint</vt:lpstr>
      <vt:lpstr>Método replace(a,b) Devuelve un String con la cadena a sustituida por b  Poner una sucesión de replace</vt:lpstr>
      <vt:lpstr>Método replaceAll(reg,b) Devuelve un String con donde interpreta una expresión regular  sustituyéndola por b</vt:lpstr>
      <vt:lpstr>De otras clase también existen unos métodos útiles</vt:lpstr>
      <vt:lpstr>También existen métodos static muy útiles de String Método valueOf(T)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Daniel</cp:lastModifiedBy>
  <cp:revision>5</cp:revision>
  <dcterms:created xsi:type="dcterms:W3CDTF">2024-09-11T20:40:27Z</dcterms:created>
  <dcterms:modified xsi:type="dcterms:W3CDTF">2024-09-11T20:57:16Z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2024-09-11T00:00:00Z</vt:filetime>
  </property>
</Properties>
</file>