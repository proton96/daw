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8" r:id="rId1"/>
  </p:sldMasterIdLst>
  <p:sldIdLst>
    <p:sldId id="259" r:id="rId2"/>
    <p:sldId id="256" r:id="rId3"/>
    <p:sldId id="260" r:id="rId4"/>
    <p:sldId id="286" r:id="rId5"/>
    <p:sldId id="287" r:id="rId6"/>
    <p:sldId id="288" r:id="rId7"/>
    <p:sldId id="289" r:id="rId8"/>
    <p:sldId id="290" r:id="rId9"/>
    <p:sldId id="291" r:id="rId10"/>
    <p:sldId id="298" r:id="rId11"/>
    <p:sldId id="292" r:id="rId12"/>
    <p:sldId id="293" r:id="rId13"/>
    <p:sldId id="294" r:id="rId14"/>
    <p:sldId id="262" r:id="rId15"/>
    <p:sldId id="263" r:id="rId16"/>
    <p:sldId id="264" r:id="rId17"/>
    <p:sldId id="270" r:id="rId18"/>
    <p:sldId id="271" r:id="rId19"/>
    <p:sldId id="265" r:id="rId20"/>
    <p:sldId id="266" r:id="rId21"/>
    <p:sldId id="272" r:id="rId22"/>
    <p:sldId id="284" r:id="rId23"/>
    <p:sldId id="267" r:id="rId24"/>
    <p:sldId id="273" r:id="rId25"/>
    <p:sldId id="275" r:id="rId26"/>
    <p:sldId id="274" r:id="rId27"/>
    <p:sldId id="299" r:id="rId28"/>
    <p:sldId id="300" r:id="rId29"/>
    <p:sldId id="295" r:id="rId30"/>
    <p:sldId id="297" r:id="rId31"/>
    <p:sldId id="285" r:id="rId32"/>
    <p:sldId id="276" r:id="rId33"/>
    <p:sldId id="261" r:id="rId3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86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240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607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614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211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123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449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054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5313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86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7269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4004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5518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1604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54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573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79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9" r:id="rId1"/>
    <p:sldLayoutId id="2147484200" r:id="rId2"/>
    <p:sldLayoutId id="2147484201" r:id="rId3"/>
    <p:sldLayoutId id="2147484202" r:id="rId4"/>
    <p:sldLayoutId id="2147484203" r:id="rId5"/>
    <p:sldLayoutId id="2147484204" r:id="rId6"/>
    <p:sldLayoutId id="2147484205" r:id="rId7"/>
    <p:sldLayoutId id="2147484206" r:id="rId8"/>
    <p:sldLayoutId id="2147484207" r:id="rId9"/>
    <p:sldLayoutId id="2147484208" r:id="rId10"/>
    <p:sldLayoutId id="2147484209" r:id="rId11"/>
    <p:sldLayoutId id="2147484210" r:id="rId12"/>
    <p:sldLayoutId id="2147484211" r:id="rId13"/>
    <p:sldLayoutId id="2147484212" r:id="rId14"/>
    <p:sldLayoutId id="2147484213" r:id="rId15"/>
    <p:sldLayoutId id="214748421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89212" y="4141004"/>
            <a:ext cx="8915399" cy="1929688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 smtClean="0">
                <a:latin typeface="Helvetica LT Std Light" panose="020B0403020202020204" pitchFamily="34" charset="0"/>
              </a:rPr>
              <a:t/>
            </a:r>
            <a:br>
              <a:rPr lang="es-ES" dirty="0" smtClean="0">
                <a:latin typeface="Helvetica LT Std Light" panose="020B0403020202020204" pitchFamily="34" charset="0"/>
              </a:rPr>
            </a:br>
            <a:r>
              <a:rPr lang="es-ES" dirty="0">
                <a:latin typeface="Helvetica LT Std Light" panose="020B0403020202020204" pitchFamily="34" charset="0"/>
              </a:rPr>
              <a:t/>
            </a:r>
            <a:br>
              <a:rPr lang="es-ES" dirty="0">
                <a:latin typeface="Helvetica LT Std Light" panose="020B0403020202020204" pitchFamily="34" charset="0"/>
              </a:rPr>
            </a:br>
            <a:r>
              <a:rPr lang="es-ES" dirty="0" smtClean="0">
                <a:latin typeface="Helvetica LT Std Light" panose="020B0403020202020204" pitchFamily="34" charset="0"/>
              </a:rPr>
              <a:t/>
            </a:r>
            <a:br>
              <a:rPr lang="es-ES" dirty="0" smtClean="0">
                <a:latin typeface="Helvetica LT Std Light" panose="020B0403020202020204" pitchFamily="34" charset="0"/>
              </a:rPr>
            </a:br>
            <a:r>
              <a:rPr lang="es-ES" dirty="0">
                <a:latin typeface="Helvetica LT Std Light" panose="020B0403020202020204" pitchFamily="34" charset="0"/>
              </a:rPr>
              <a:t/>
            </a:r>
            <a:br>
              <a:rPr lang="es-ES" dirty="0">
                <a:latin typeface="Helvetica LT Std Light" panose="020B0403020202020204" pitchFamily="34" charset="0"/>
              </a:rPr>
            </a:br>
            <a: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Desarrollo de Aplicaciones Web y Multiplataforma:</a:t>
            </a:r>
            <a:b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Programación</a:t>
            </a:r>
            <a:r>
              <a:rPr lang="es-ES" dirty="0" smtClean="0">
                <a:latin typeface="Helvetica LT Std Light" panose="020B0403020202020204" pitchFamily="34" charset="0"/>
              </a:rPr>
              <a:t/>
            </a:r>
            <a:br>
              <a:rPr lang="es-ES" dirty="0" smtClean="0">
                <a:latin typeface="Helvetica LT Std Light" panose="020B0403020202020204" pitchFamily="34" charset="0"/>
              </a:rPr>
            </a:br>
            <a:endParaRPr lang="es-ES" dirty="0">
              <a:latin typeface="Helvetica LT Std Light" panose="020B0403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89213" y="5927000"/>
            <a:ext cx="8915399" cy="1126283"/>
          </a:xfrm>
        </p:spPr>
        <p:txBody>
          <a:bodyPr/>
          <a:lstStyle/>
          <a:p>
            <a:r>
              <a:rPr lang="es-ES" b="1" dirty="0" smtClean="0"/>
              <a:t>DOCENTE: Daniel López Lozano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447" y="204029"/>
            <a:ext cx="3400425" cy="2667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166" y="5513904"/>
            <a:ext cx="1568560" cy="104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3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87506" y="3431304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latin typeface="Helvetica LT Std Light" panose="020B0403020202020204" pitchFamily="34" charset="0"/>
              </a:rPr>
              <a:t/>
            </a:r>
            <a:br>
              <a:rPr lang="es-ES" dirty="0" smtClean="0">
                <a:latin typeface="Helvetica LT Std Light" panose="020B0403020202020204" pitchFamily="34" charset="0"/>
              </a:rPr>
            </a:br>
            <a:r>
              <a:rPr lang="es-ES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Tema 2.</a:t>
            </a:r>
            <a: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b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Estructuras de </a:t>
            </a:r>
            <a: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Control</a:t>
            </a:r>
            <a:endParaRPr lang="es-ES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  <p:pic>
        <p:nvPicPr>
          <p:cNvPr id="4" name="Picture 2" descr="Resultado de imagen de estructuras de contr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627" y="728410"/>
            <a:ext cx="5395156" cy="29898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02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7375" y="118314"/>
            <a:ext cx="9929030" cy="794549"/>
          </a:xfrm>
        </p:spPr>
        <p:txBody>
          <a:bodyPr wrap="none">
            <a:normAutofit/>
          </a:bodyPr>
          <a:lstStyle/>
          <a:p>
            <a:pPr algn="ctr"/>
            <a:r>
              <a:rPr lang="es-ES" sz="4400" b="1" dirty="0" smtClean="0">
                <a:latin typeface="Helvetica LT Std Light" panose="020B0403020202020204" pitchFamily="34" charset="0"/>
              </a:rPr>
              <a:t>Índice de contenidos</a:t>
            </a:r>
            <a:endParaRPr lang="es-ES" sz="4400" b="1" dirty="0">
              <a:latin typeface="Helvetica LT Std Light" panose="020B0403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8564" y="1317811"/>
            <a:ext cx="10932459" cy="5540189"/>
          </a:xfrm>
        </p:spPr>
        <p:txBody>
          <a:bodyPr wrap="none">
            <a:normAutofit/>
          </a:bodyPr>
          <a:lstStyle/>
          <a:p>
            <a:pPr indent="-540000"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Estructuras de selección</a:t>
            </a:r>
          </a:p>
          <a:p>
            <a:pPr lvl="2" indent="-540000"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 sentencia </a:t>
            </a:r>
            <a:r>
              <a:rPr lang="es-ES" sz="2800" i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if-else</a:t>
            </a:r>
            <a:endParaRPr lang="es-ES" sz="2800" i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lvl="2" indent="-540000"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 sentencia </a:t>
            </a:r>
            <a:r>
              <a:rPr lang="es-ES" sz="2800" i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switch</a:t>
            </a:r>
            <a:r>
              <a:rPr lang="es-ES" sz="2800" i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-case</a:t>
            </a:r>
            <a:endParaRPr lang="es-ES" sz="2800" i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/>
          </a:p>
        </p:txBody>
      </p:sp>
    </p:spTree>
    <p:extLst>
      <p:ext uri="{BB962C8B-B14F-4D97-AF65-F5344CB8AC3E}">
        <p14:creationId xmlns:p14="http://schemas.microsoft.com/office/powerpoint/2010/main" val="426705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operadores relacionales sirven para realizar comparaciones de igualdad, desigualdad y relación de mayor o menor.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resultado de estos operadores es siempre un valor booleano (true o false)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553" y="3502855"/>
            <a:ext cx="7934074" cy="25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30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1075" y="206463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¿Cual es el valor de </a:t>
            </a: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expresión por pantalla al ejecutar </a:t>
            </a: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código?</a:t>
            </a:r>
          </a:p>
          <a:p>
            <a:pPr marL="540000" indent="-540000" algn="ctr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967" y="1923877"/>
            <a:ext cx="4937962" cy="36373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0993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Operadores lógicos o booleanos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operadores lógicos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se utilizan para construir expresiones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lógicas o booleanas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Combinando valores lógicos o resultados de los operadores relacionales.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b="36333"/>
          <a:stretch/>
        </p:blipFill>
        <p:spPr>
          <a:xfrm>
            <a:off x="709800" y="4357438"/>
            <a:ext cx="10665580" cy="131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39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1075" y="206463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Tablas de verdad</a:t>
            </a:r>
            <a:endParaRPr lang="es-ES" sz="4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1" t="28578" r="13279" b="4807"/>
          <a:stretch/>
        </p:blipFill>
        <p:spPr bwMode="auto">
          <a:xfrm>
            <a:off x="3239627" y="1764405"/>
            <a:ext cx="5460642" cy="3464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47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1075" y="206463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Operadores lógicos o booleanos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045" y="1983544"/>
            <a:ext cx="6475805" cy="36178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2651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1075" y="206463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¿Cual es el valor de cada variable al ejecutar el código?</a:t>
            </a:r>
          </a:p>
          <a:p>
            <a:pPr marL="540000" indent="-540000" algn="ctr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73" y="2173642"/>
            <a:ext cx="2724150" cy="3733800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7303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1075" y="206463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Prioridad de los operadores booleanos</a:t>
            </a:r>
            <a:endParaRPr lang="es-ES" sz="4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906503"/>
              </p:ext>
            </p:extLst>
          </p:nvPr>
        </p:nvGraphicFramePr>
        <p:xfrm>
          <a:off x="935777" y="1750441"/>
          <a:ext cx="10573044" cy="292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4348">
                  <a:extLst>
                    <a:ext uri="{9D8B030D-6E8A-4147-A177-3AD203B41FA5}">
                      <a16:colId xmlns:a16="http://schemas.microsoft.com/office/drawing/2014/main" val="3221541769"/>
                    </a:ext>
                  </a:extLst>
                </a:gridCol>
                <a:gridCol w="3524348">
                  <a:extLst>
                    <a:ext uri="{9D8B030D-6E8A-4147-A177-3AD203B41FA5}">
                      <a16:colId xmlns:a16="http://schemas.microsoft.com/office/drawing/2014/main" val="1199767803"/>
                    </a:ext>
                  </a:extLst>
                </a:gridCol>
                <a:gridCol w="3524348">
                  <a:extLst>
                    <a:ext uri="{9D8B030D-6E8A-4147-A177-3AD203B41FA5}">
                      <a16:colId xmlns:a16="http://schemas.microsoft.com/office/drawing/2014/main" val="296664460"/>
                    </a:ext>
                  </a:extLst>
                </a:gridCol>
              </a:tblGrid>
              <a:tr h="732406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Mas a menos prioridad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Operador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Nombre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672484"/>
                  </a:ext>
                </a:extLst>
              </a:tr>
              <a:tr h="732406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NOT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!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Negación lógica</a:t>
                      </a:r>
                      <a:endParaRPr lang="es-E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524343"/>
                  </a:ext>
                </a:extLst>
              </a:tr>
              <a:tr h="732406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AND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&amp;&amp;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Conjunción</a:t>
                      </a:r>
                      <a:endParaRPr lang="es-E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747987"/>
                  </a:ext>
                </a:extLst>
              </a:tr>
              <a:tr h="732406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OR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||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Disyunción</a:t>
                      </a:r>
                      <a:endParaRPr lang="es-E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3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84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40575" y="1911927"/>
            <a:ext cx="11621192" cy="4389119"/>
          </a:xfrm>
        </p:spPr>
        <p:txBody>
          <a:bodyPr wrap="square" numCol="2"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dirty="0" smtClean="0"/>
              <a:t> </a:t>
            </a:r>
            <a:r>
              <a:rPr lang="es-ES" sz="3200" b="1" dirty="0" smtClean="0">
                <a:solidFill>
                  <a:schemeClr val="tx1"/>
                </a:solidFill>
              </a:rPr>
              <a:t> !A || B </a:t>
            </a:r>
            <a:endParaRPr lang="es-ES" sz="32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b="1" dirty="0" smtClean="0">
                <a:solidFill>
                  <a:schemeClr val="tx1"/>
                </a:solidFill>
              </a:rPr>
              <a:t> A &amp;&amp; !B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b="1" dirty="0" smtClean="0">
                <a:solidFill>
                  <a:schemeClr val="tx1"/>
                </a:solidFill>
              </a:rPr>
              <a:t> ! </a:t>
            </a:r>
            <a:r>
              <a:rPr lang="es-ES" sz="3200" b="1" dirty="0">
                <a:solidFill>
                  <a:schemeClr val="tx1"/>
                </a:solidFill>
              </a:rPr>
              <a:t>( A &amp;&amp; </a:t>
            </a:r>
            <a:r>
              <a:rPr lang="es-ES" sz="3200" b="1" dirty="0" smtClean="0">
                <a:solidFill>
                  <a:schemeClr val="tx1"/>
                </a:solidFill>
              </a:rPr>
              <a:t>B )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b="1" dirty="0" smtClean="0">
                <a:solidFill>
                  <a:schemeClr val="tx1"/>
                </a:solidFill>
              </a:rPr>
              <a:t> ! (A || B )</a:t>
            </a:r>
            <a:endParaRPr lang="es-ES" sz="32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s-ES" sz="3200" b="1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s-ES" sz="3200" b="1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b="1" dirty="0" smtClean="0">
                <a:solidFill>
                  <a:schemeClr val="tx1"/>
                </a:solidFill>
              </a:rPr>
              <a:t>  A </a:t>
            </a:r>
            <a:r>
              <a:rPr lang="es-ES" sz="3200" b="1" dirty="0">
                <a:solidFill>
                  <a:schemeClr val="tx1"/>
                </a:solidFill>
              </a:rPr>
              <a:t>&amp;&amp; </a:t>
            </a:r>
            <a:r>
              <a:rPr lang="es-ES" sz="3200" b="1" dirty="0" smtClean="0">
                <a:solidFill>
                  <a:schemeClr val="tx1"/>
                </a:solidFill>
              </a:rPr>
              <a:t>B  </a:t>
            </a:r>
            <a:r>
              <a:rPr lang="es-ES" sz="3200" b="1" dirty="0">
                <a:solidFill>
                  <a:schemeClr val="tx1"/>
                </a:solidFill>
              </a:rPr>
              <a:t>|| </a:t>
            </a:r>
            <a:r>
              <a:rPr lang="es-ES" sz="3200" b="1" dirty="0" smtClean="0">
                <a:solidFill>
                  <a:schemeClr val="tx1"/>
                </a:solidFill>
              </a:rPr>
              <a:t>! </a:t>
            </a:r>
            <a:r>
              <a:rPr lang="es-ES" sz="3200" b="1" dirty="0">
                <a:solidFill>
                  <a:schemeClr val="tx1"/>
                </a:solidFill>
              </a:rPr>
              <a:t>A &amp;&amp; </a:t>
            </a:r>
            <a:r>
              <a:rPr lang="es-ES" sz="3200" b="1" dirty="0" smtClean="0">
                <a:solidFill>
                  <a:schemeClr val="tx1"/>
                </a:solidFill>
              </a:rPr>
              <a:t>D </a:t>
            </a:r>
            <a:endParaRPr lang="es-ES" sz="32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b="1" dirty="0" smtClean="0">
                <a:solidFill>
                  <a:schemeClr val="tx1"/>
                </a:solidFill>
              </a:rPr>
              <a:t> </a:t>
            </a:r>
            <a:r>
              <a:rPr lang="es-ES" sz="3200" b="1" dirty="0">
                <a:solidFill>
                  <a:schemeClr val="tx1"/>
                </a:solidFill>
              </a:rPr>
              <a:t>! C &amp;&amp; </a:t>
            </a:r>
            <a:r>
              <a:rPr lang="es-ES" sz="3200" b="1" dirty="0" smtClean="0">
                <a:solidFill>
                  <a:schemeClr val="tx1"/>
                </a:solidFill>
              </a:rPr>
              <a:t> (B </a:t>
            </a:r>
            <a:r>
              <a:rPr lang="es-ES" sz="3200" b="1" dirty="0">
                <a:solidFill>
                  <a:schemeClr val="tx1"/>
                </a:solidFill>
              </a:rPr>
              <a:t>|| </a:t>
            </a:r>
            <a:r>
              <a:rPr lang="es-ES" sz="3200" b="1" dirty="0" smtClean="0">
                <a:solidFill>
                  <a:schemeClr val="tx1"/>
                </a:solidFill>
              </a:rPr>
              <a:t>D) </a:t>
            </a:r>
            <a:endParaRPr lang="es-ES" sz="32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b="1" dirty="0" smtClean="0">
                <a:solidFill>
                  <a:schemeClr val="tx1"/>
                </a:solidFill>
              </a:rPr>
              <a:t>  (A </a:t>
            </a:r>
            <a:r>
              <a:rPr lang="es-ES" sz="3200" b="1" dirty="0">
                <a:solidFill>
                  <a:schemeClr val="tx1"/>
                </a:solidFill>
              </a:rPr>
              <a:t>|| </a:t>
            </a:r>
            <a:r>
              <a:rPr lang="es-ES" sz="3200" b="1" dirty="0" smtClean="0">
                <a:solidFill>
                  <a:schemeClr val="tx1"/>
                </a:solidFill>
              </a:rPr>
              <a:t>D)  </a:t>
            </a:r>
            <a:r>
              <a:rPr lang="es-ES" sz="3200" b="1" dirty="0">
                <a:solidFill>
                  <a:schemeClr val="tx1"/>
                </a:solidFill>
              </a:rPr>
              <a:t>&amp;&amp; </a:t>
            </a:r>
            <a:r>
              <a:rPr lang="es-ES" sz="3200" b="1" dirty="0" smtClean="0">
                <a:solidFill>
                  <a:schemeClr val="tx1"/>
                </a:solidFill>
              </a:rPr>
              <a:t> (C </a:t>
            </a:r>
            <a:r>
              <a:rPr lang="es-ES" sz="3200" b="1" dirty="0">
                <a:solidFill>
                  <a:schemeClr val="tx1"/>
                </a:solidFill>
              </a:rPr>
              <a:t>|| </a:t>
            </a:r>
            <a:r>
              <a:rPr lang="es-ES" sz="3200" b="1" dirty="0" smtClean="0">
                <a:solidFill>
                  <a:schemeClr val="tx1"/>
                </a:solidFill>
              </a:rPr>
              <a:t>D) </a:t>
            </a:r>
            <a:endParaRPr lang="es-ES" sz="32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b="1" dirty="0" smtClean="0">
                <a:solidFill>
                  <a:schemeClr val="tx1"/>
                </a:solidFill>
              </a:rPr>
              <a:t>  !((A </a:t>
            </a:r>
            <a:r>
              <a:rPr lang="es-ES" sz="3200" b="1" dirty="0">
                <a:solidFill>
                  <a:schemeClr val="tx1"/>
                </a:solidFill>
              </a:rPr>
              <a:t>|| </a:t>
            </a:r>
            <a:r>
              <a:rPr lang="es-ES" sz="3200" b="1" dirty="0" smtClean="0">
                <a:solidFill>
                  <a:schemeClr val="tx1"/>
                </a:solidFill>
              </a:rPr>
              <a:t>B)  </a:t>
            </a:r>
            <a:r>
              <a:rPr lang="es-ES" sz="3200" b="1" dirty="0">
                <a:solidFill>
                  <a:schemeClr val="tx1"/>
                </a:solidFill>
              </a:rPr>
              <a:t>&amp;&amp; </a:t>
            </a:r>
            <a:r>
              <a:rPr lang="es-ES" sz="3200" b="1" dirty="0" smtClean="0">
                <a:solidFill>
                  <a:schemeClr val="tx1"/>
                </a:solidFill>
              </a:rPr>
              <a:t> (C </a:t>
            </a:r>
            <a:r>
              <a:rPr lang="es-ES" sz="3200" b="1" dirty="0">
                <a:solidFill>
                  <a:schemeClr val="tx1"/>
                </a:solidFill>
              </a:rPr>
              <a:t>|| </a:t>
            </a:r>
            <a:r>
              <a:rPr lang="es-ES" sz="3200" b="1" dirty="0" smtClean="0">
                <a:solidFill>
                  <a:schemeClr val="tx1"/>
                </a:solidFill>
              </a:rPr>
              <a:t>D)) </a:t>
            </a:r>
            <a:endParaRPr lang="es-ES" sz="3200" b="1" dirty="0">
              <a:solidFill>
                <a:schemeClr val="tx1"/>
              </a:solidFill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440575" y="216131"/>
            <a:ext cx="115297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600" dirty="0">
                <a:latin typeface="Helvetica LT Std Light" panose="020B0403020202020204" pitchFamily="34" charset="0"/>
              </a:rPr>
              <a:t>Si </a:t>
            </a:r>
            <a:r>
              <a:rPr lang="es-ES" sz="3600" b="1" dirty="0">
                <a:latin typeface="Helvetica LT Std Light" panose="020B0403020202020204" pitchFamily="34" charset="0"/>
              </a:rPr>
              <a:t>A , B , C y D </a:t>
            </a:r>
            <a:r>
              <a:rPr lang="es-ES" sz="3600" dirty="0">
                <a:latin typeface="Helvetica LT Std Light" panose="020B0403020202020204" pitchFamily="34" charset="0"/>
              </a:rPr>
              <a:t>son variables del tipo </a:t>
            </a:r>
            <a:r>
              <a:rPr lang="es-ES" sz="3600" dirty="0" err="1">
                <a:latin typeface="Helvetica LT Std Light" panose="020B0403020202020204" pitchFamily="34" charset="0"/>
              </a:rPr>
              <a:t>boolean</a:t>
            </a:r>
            <a:r>
              <a:rPr lang="es-ES" sz="3600" dirty="0">
                <a:latin typeface="Helvetica LT Std Light" panose="020B0403020202020204" pitchFamily="34" charset="0"/>
              </a:rPr>
              <a:t> con valores </a:t>
            </a:r>
            <a:r>
              <a:rPr lang="es-ES" sz="3600" b="1" dirty="0">
                <a:latin typeface="Helvetica LT Std Light" panose="020B0403020202020204" pitchFamily="34" charset="0"/>
              </a:rPr>
              <a:t>true , false , false y true </a:t>
            </a:r>
            <a:r>
              <a:rPr lang="es-ES" sz="3600" dirty="0">
                <a:latin typeface="Helvetica LT Std Light" panose="020B0403020202020204" pitchFamily="34" charset="0"/>
              </a:rPr>
              <a:t>respectivamente, cuál es la evaluación de las siguientes expresiones:</a:t>
            </a:r>
          </a:p>
        </p:txBody>
      </p:sp>
    </p:spTree>
    <p:extLst>
      <p:ext uri="{BB962C8B-B14F-4D97-AF65-F5344CB8AC3E}">
        <p14:creationId xmlns:p14="http://schemas.microsoft.com/office/powerpoint/2010/main" val="813430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40575" y="1911927"/>
            <a:ext cx="11621192" cy="4389119"/>
          </a:xfrm>
        </p:spPr>
        <p:txBody>
          <a:bodyPr wrap="square" numCol="1"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dirty="0" smtClean="0"/>
              <a:t> </a:t>
            </a:r>
            <a:r>
              <a:rPr lang="pt-BR" sz="3200" b="1" dirty="0" smtClean="0">
                <a:solidFill>
                  <a:schemeClr val="tx1"/>
                </a:solidFill>
              </a:rPr>
              <a:t>a &lt; b &amp;&amp; a </a:t>
            </a:r>
            <a:r>
              <a:rPr lang="pt-BR" sz="3200" b="1" dirty="0">
                <a:solidFill>
                  <a:schemeClr val="tx1"/>
                </a:solidFill>
              </a:rPr>
              <a:t>&lt; </a:t>
            </a:r>
            <a:r>
              <a:rPr lang="pt-BR" sz="3200" b="1" dirty="0" smtClean="0">
                <a:solidFill>
                  <a:schemeClr val="tx1"/>
                </a:solidFill>
              </a:rPr>
              <a:t>c ||  a ==c &amp;&amp; a </a:t>
            </a:r>
            <a:r>
              <a:rPr lang="pt-BR" sz="3200" b="1" dirty="0">
                <a:solidFill>
                  <a:schemeClr val="tx1"/>
                </a:solidFill>
              </a:rPr>
              <a:t>&gt;= d</a:t>
            </a:r>
            <a:endParaRPr lang="es-ES" sz="32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b="1" dirty="0" smtClean="0">
                <a:solidFill>
                  <a:schemeClr val="tx1"/>
                </a:solidFill>
              </a:rPr>
              <a:t> </a:t>
            </a:r>
            <a:r>
              <a:rPr lang="pt-BR" sz="3200" b="1" dirty="0">
                <a:solidFill>
                  <a:schemeClr val="tx1"/>
                </a:solidFill>
              </a:rPr>
              <a:t>(a  !</a:t>
            </a:r>
            <a:r>
              <a:rPr lang="pt-BR" sz="3200" b="1" dirty="0" smtClean="0">
                <a:solidFill>
                  <a:schemeClr val="tx1"/>
                </a:solidFill>
              </a:rPr>
              <a:t>= </a:t>
            </a:r>
            <a:r>
              <a:rPr lang="pt-BR" sz="3200" b="1" dirty="0">
                <a:solidFill>
                  <a:schemeClr val="tx1"/>
                </a:solidFill>
              </a:rPr>
              <a:t>b </a:t>
            </a:r>
            <a:r>
              <a:rPr lang="pt-BR" sz="3200" b="1" dirty="0" smtClean="0">
                <a:solidFill>
                  <a:schemeClr val="tx1"/>
                </a:solidFill>
              </a:rPr>
              <a:t>|| </a:t>
            </a:r>
            <a:r>
              <a:rPr lang="pt-BR" sz="3200" b="1" dirty="0">
                <a:solidFill>
                  <a:schemeClr val="tx1"/>
                </a:solidFill>
              </a:rPr>
              <a:t>a &gt;</a:t>
            </a:r>
            <a:r>
              <a:rPr lang="pt-BR" sz="3200" b="1" dirty="0" smtClean="0">
                <a:solidFill>
                  <a:schemeClr val="tx1"/>
                </a:solidFill>
              </a:rPr>
              <a:t> </a:t>
            </a:r>
            <a:r>
              <a:rPr lang="pt-BR" sz="3200" b="1" dirty="0">
                <a:solidFill>
                  <a:schemeClr val="tx1"/>
                </a:solidFill>
              </a:rPr>
              <a:t>c) &amp;&amp; (a </a:t>
            </a:r>
            <a:r>
              <a:rPr lang="pt-BR" sz="3200" b="1" dirty="0" smtClean="0">
                <a:solidFill>
                  <a:schemeClr val="tx1"/>
                </a:solidFill>
              </a:rPr>
              <a:t>!= c || </a:t>
            </a:r>
            <a:r>
              <a:rPr lang="pt-BR" sz="3200" b="1" dirty="0">
                <a:solidFill>
                  <a:schemeClr val="tx1"/>
                </a:solidFill>
              </a:rPr>
              <a:t>a &gt;= b)</a:t>
            </a:r>
            <a:endParaRPr lang="es-ES" sz="32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</a:rPr>
              <a:t> </a:t>
            </a:r>
            <a:r>
              <a:rPr lang="es-ES" sz="3200" b="1" dirty="0" smtClean="0">
                <a:solidFill>
                  <a:schemeClr val="tx1"/>
                </a:solidFill>
              </a:rPr>
              <a:t>(</a:t>
            </a:r>
            <a:r>
              <a:rPr lang="pt-BR" sz="3200" b="1" dirty="0" smtClean="0">
                <a:solidFill>
                  <a:schemeClr val="tx1"/>
                </a:solidFill>
              </a:rPr>
              <a:t>a  </a:t>
            </a:r>
            <a:r>
              <a:rPr lang="pt-BR" sz="3200" b="1" dirty="0">
                <a:solidFill>
                  <a:schemeClr val="tx1"/>
                </a:solidFill>
              </a:rPr>
              <a:t>&gt;= </a:t>
            </a:r>
            <a:r>
              <a:rPr lang="pt-BR" sz="3200" b="1" dirty="0" smtClean="0">
                <a:solidFill>
                  <a:schemeClr val="tx1"/>
                </a:solidFill>
              </a:rPr>
              <a:t>b || a </a:t>
            </a:r>
            <a:r>
              <a:rPr lang="pt-BR" sz="3200" b="1" dirty="0">
                <a:solidFill>
                  <a:schemeClr val="tx1"/>
                </a:solidFill>
              </a:rPr>
              <a:t>&lt; </a:t>
            </a:r>
            <a:r>
              <a:rPr lang="pt-BR" sz="3200" b="1" dirty="0" smtClean="0">
                <a:solidFill>
                  <a:schemeClr val="tx1"/>
                </a:solidFill>
              </a:rPr>
              <a:t>d) &amp;&amp; a </a:t>
            </a:r>
            <a:r>
              <a:rPr lang="pt-BR" sz="3200" b="1" dirty="0">
                <a:solidFill>
                  <a:schemeClr val="tx1"/>
                </a:solidFill>
              </a:rPr>
              <a:t>&gt;= </a:t>
            </a:r>
            <a:r>
              <a:rPr lang="pt-BR" sz="3200" b="1" dirty="0" smtClean="0">
                <a:solidFill>
                  <a:schemeClr val="tx1"/>
                </a:solidFill>
              </a:rPr>
              <a:t>d  &amp;&amp; c </a:t>
            </a:r>
            <a:r>
              <a:rPr lang="pt-BR" sz="3200" b="1" dirty="0">
                <a:solidFill>
                  <a:schemeClr val="tx1"/>
                </a:solidFill>
              </a:rPr>
              <a:t>&gt; </a:t>
            </a:r>
            <a:r>
              <a:rPr lang="pt-BR" sz="3200" b="1" dirty="0" smtClean="0">
                <a:solidFill>
                  <a:schemeClr val="tx1"/>
                </a:solidFill>
              </a:rPr>
              <a:t>d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</a:rPr>
              <a:t> !(a == c) </a:t>
            </a:r>
            <a:r>
              <a:rPr lang="es-ES" sz="3200" b="1" dirty="0" smtClean="0">
                <a:solidFill>
                  <a:schemeClr val="tx1"/>
                </a:solidFill>
              </a:rPr>
              <a:t>&amp;&amp; c </a:t>
            </a:r>
            <a:r>
              <a:rPr lang="es-ES" sz="3200" b="1" dirty="0">
                <a:solidFill>
                  <a:schemeClr val="tx1"/>
                </a:solidFill>
              </a:rPr>
              <a:t>&gt; </a:t>
            </a:r>
            <a:r>
              <a:rPr lang="es-ES" sz="3200" b="1" dirty="0" smtClean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440575" y="216131"/>
            <a:ext cx="115297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latin typeface="Helvetica LT Std Light" panose="020B0403020202020204" pitchFamily="34" charset="0"/>
              </a:rPr>
              <a:t>Si </a:t>
            </a:r>
            <a:r>
              <a:rPr lang="es-ES" sz="3200" b="1" dirty="0" smtClean="0">
                <a:latin typeface="Helvetica LT Std Light" panose="020B0403020202020204" pitchFamily="34" charset="0"/>
              </a:rPr>
              <a:t>a </a:t>
            </a:r>
            <a:r>
              <a:rPr lang="es-ES" sz="3200" b="1" dirty="0">
                <a:latin typeface="Helvetica LT Std Light" panose="020B0403020202020204" pitchFamily="34" charset="0"/>
              </a:rPr>
              <a:t>, </a:t>
            </a:r>
            <a:r>
              <a:rPr lang="es-ES" sz="3200" b="1" dirty="0" smtClean="0">
                <a:latin typeface="Helvetica LT Std Light" panose="020B0403020202020204" pitchFamily="34" charset="0"/>
              </a:rPr>
              <a:t>b </a:t>
            </a:r>
            <a:r>
              <a:rPr lang="es-ES" sz="3200" b="1" dirty="0">
                <a:latin typeface="Helvetica LT Std Light" panose="020B0403020202020204" pitchFamily="34" charset="0"/>
              </a:rPr>
              <a:t>, </a:t>
            </a:r>
            <a:r>
              <a:rPr lang="es-ES" sz="3200" b="1" dirty="0" smtClean="0">
                <a:latin typeface="Helvetica LT Std Light" panose="020B0403020202020204" pitchFamily="34" charset="0"/>
              </a:rPr>
              <a:t>c </a:t>
            </a:r>
            <a:r>
              <a:rPr lang="es-ES" sz="3200" b="1" dirty="0">
                <a:latin typeface="Helvetica LT Std Light" panose="020B0403020202020204" pitchFamily="34" charset="0"/>
              </a:rPr>
              <a:t>y </a:t>
            </a:r>
            <a:r>
              <a:rPr lang="es-ES" sz="3200" b="1" dirty="0" smtClean="0">
                <a:latin typeface="Helvetica LT Std Light" panose="020B0403020202020204" pitchFamily="34" charset="0"/>
              </a:rPr>
              <a:t>d </a:t>
            </a:r>
            <a:r>
              <a:rPr lang="es-ES" sz="3200" dirty="0">
                <a:latin typeface="Helvetica LT Std Light" panose="020B0403020202020204" pitchFamily="34" charset="0"/>
              </a:rPr>
              <a:t>son variables del tipo </a:t>
            </a:r>
            <a:r>
              <a:rPr lang="es-ES" sz="3200" b="1" dirty="0" err="1" smtClean="0">
                <a:latin typeface="Helvetica LT Std Light" panose="020B0403020202020204" pitchFamily="34" charset="0"/>
              </a:rPr>
              <a:t>int</a:t>
            </a:r>
            <a:r>
              <a:rPr lang="es-ES" sz="3200" dirty="0" smtClean="0">
                <a:latin typeface="Helvetica LT Std Light" panose="020B0403020202020204" pitchFamily="34" charset="0"/>
              </a:rPr>
              <a:t> </a:t>
            </a:r>
            <a:r>
              <a:rPr lang="es-ES" sz="3200" dirty="0">
                <a:latin typeface="Helvetica LT Std Light" panose="020B0403020202020204" pitchFamily="34" charset="0"/>
              </a:rPr>
              <a:t>con </a:t>
            </a:r>
            <a:r>
              <a:rPr lang="es-ES" sz="3200" dirty="0" smtClean="0">
                <a:latin typeface="Helvetica LT Std Light" panose="020B0403020202020204" pitchFamily="34" charset="0"/>
              </a:rPr>
              <a:t>valores </a:t>
            </a:r>
            <a:br>
              <a:rPr lang="es-ES" sz="3200" dirty="0" smtClean="0">
                <a:latin typeface="Helvetica LT Std Light" panose="020B0403020202020204" pitchFamily="34" charset="0"/>
              </a:rPr>
            </a:br>
            <a:r>
              <a:rPr lang="es-ES" sz="3200" b="1" dirty="0" smtClean="0">
                <a:latin typeface="Helvetica LT Std Light" panose="020B0403020202020204" pitchFamily="34" charset="0"/>
              </a:rPr>
              <a:t>10, 12, 13, 10 </a:t>
            </a:r>
            <a:r>
              <a:rPr lang="es-ES" sz="3200" dirty="0">
                <a:latin typeface="Helvetica LT Std Light" panose="020B0403020202020204" pitchFamily="34" charset="0"/>
              </a:rPr>
              <a:t>respectivamente, </a:t>
            </a:r>
            <a:r>
              <a:rPr lang="es-ES" sz="3200" dirty="0" smtClean="0">
                <a:latin typeface="Helvetica LT Std Light" panose="020B0403020202020204" pitchFamily="34" charset="0"/>
              </a:rPr>
              <a:t>cuál </a:t>
            </a:r>
            <a:r>
              <a:rPr lang="es-ES" sz="3200" dirty="0">
                <a:latin typeface="Helvetica LT Std Light" panose="020B0403020202020204" pitchFamily="34" charset="0"/>
              </a:rPr>
              <a:t>es la evaluación de las siguientes expresiones:</a:t>
            </a:r>
          </a:p>
        </p:txBody>
      </p:sp>
    </p:spTree>
    <p:extLst>
      <p:ext uri="{BB962C8B-B14F-4D97-AF65-F5344CB8AC3E}">
        <p14:creationId xmlns:p14="http://schemas.microsoft.com/office/powerpoint/2010/main" val="358346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40575" y="1911927"/>
            <a:ext cx="11621192" cy="4389119"/>
          </a:xfrm>
        </p:spPr>
        <p:txBody>
          <a:bodyPr wrap="square" numCol="2"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000" dirty="0" smtClean="0"/>
              <a:t> </a:t>
            </a:r>
            <a:r>
              <a:rPr lang="es-ES" sz="3000" b="1" dirty="0" smtClean="0">
                <a:solidFill>
                  <a:schemeClr val="tx1"/>
                </a:solidFill>
              </a:rPr>
              <a:t>(NUM&gt;=0 &amp;&amp; NUM&lt;=31) </a:t>
            </a:r>
            <a:endParaRPr lang="es-ES" sz="30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000" b="1" dirty="0" smtClean="0">
                <a:solidFill>
                  <a:schemeClr val="tx1"/>
                </a:solidFill>
              </a:rPr>
              <a:t> (VALOR&lt;0 || VALOR&gt;10)</a:t>
            </a:r>
            <a:endParaRPr lang="es-ES" sz="30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000" b="1" dirty="0" smtClean="0">
                <a:solidFill>
                  <a:schemeClr val="tx1"/>
                </a:solidFill>
              </a:rPr>
              <a:t> !(VALOR&gt;=0 &amp;&amp; VALOR&lt;=10)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000" b="1" dirty="0" smtClean="0">
                <a:solidFill>
                  <a:schemeClr val="tx1"/>
                </a:solidFill>
              </a:rPr>
              <a:t> (NUM=&lt;0 &amp;&amp; NUM&gt;=31)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s-ES" sz="3000" b="1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s-ES" sz="3000" b="1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000" b="1" dirty="0" smtClean="0">
                <a:solidFill>
                  <a:schemeClr val="tx1"/>
                </a:solidFill>
              </a:rPr>
              <a:t>(NUM&lt;0 || NUM&gt;31)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000" b="1" dirty="0" smtClean="0">
                <a:solidFill>
                  <a:schemeClr val="tx1"/>
                </a:solidFill>
              </a:rPr>
              <a:t> (LETRA==‘Z’ || LETRA==‘z’)</a:t>
            </a:r>
            <a:endParaRPr lang="es-ES" sz="30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000" b="1" dirty="0" smtClean="0">
                <a:solidFill>
                  <a:schemeClr val="tx1"/>
                </a:solidFill>
              </a:rPr>
              <a:t> (LETRA==‘Z’ &amp;&amp; LETRA==‘z’)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ES" sz="3000" b="1" dirty="0" smtClean="0">
                <a:solidFill>
                  <a:schemeClr val="tx1"/>
                </a:solidFill>
              </a:rPr>
              <a:t> (LETRA&gt;=‘A’ &amp;&amp; LETRA&lt;=‘Z’)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440575" y="216131"/>
            <a:ext cx="115297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latin typeface="Helvetica LT Std Light" panose="020B0403020202020204" pitchFamily="34" charset="0"/>
              </a:rPr>
              <a:t>Si </a:t>
            </a:r>
            <a:r>
              <a:rPr lang="es-ES" sz="3200" b="1" dirty="0" smtClean="0">
                <a:latin typeface="Helvetica LT Std Light" panose="020B0403020202020204" pitchFamily="34" charset="0"/>
              </a:rPr>
              <a:t>NUM </a:t>
            </a:r>
            <a:r>
              <a:rPr lang="es-ES" sz="3200" dirty="0" smtClean="0">
                <a:latin typeface="Helvetica LT Std Light" panose="020B0403020202020204" pitchFamily="34" charset="0"/>
              </a:rPr>
              <a:t>tiene el valor </a:t>
            </a:r>
            <a:r>
              <a:rPr lang="es-ES" sz="3200" b="1" dirty="0" smtClean="0">
                <a:latin typeface="Helvetica LT Std Light" panose="020B0403020202020204" pitchFamily="34" charset="0"/>
              </a:rPr>
              <a:t> 58, VALOR </a:t>
            </a:r>
            <a:r>
              <a:rPr lang="es-ES" sz="3200" dirty="0" smtClean="0">
                <a:latin typeface="Helvetica LT Std Light" panose="020B0403020202020204" pitchFamily="34" charset="0"/>
              </a:rPr>
              <a:t>tiene el valor</a:t>
            </a:r>
            <a:r>
              <a:rPr lang="es-ES" sz="3200" b="1" dirty="0" smtClean="0">
                <a:latin typeface="Helvetica LT Std Light" panose="020B0403020202020204" pitchFamily="34" charset="0"/>
              </a:rPr>
              <a:t> 8 y CAR </a:t>
            </a:r>
            <a:r>
              <a:rPr lang="es-ES" sz="3200" dirty="0" smtClean="0">
                <a:latin typeface="Helvetica LT Std Light" panose="020B0403020202020204" pitchFamily="34" charset="0"/>
              </a:rPr>
              <a:t>tiene el valor </a:t>
            </a:r>
            <a:r>
              <a:rPr lang="es-ES" sz="3200" b="1" dirty="0" smtClean="0">
                <a:latin typeface="Helvetica LT Std Light" panose="020B0403020202020204" pitchFamily="34" charset="0"/>
              </a:rPr>
              <a:t>‘Z’</a:t>
            </a:r>
            <a:r>
              <a:rPr lang="es-ES" sz="3200" dirty="0" smtClean="0">
                <a:latin typeface="Helvetica LT Std Light" panose="020B0403020202020204" pitchFamily="34" charset="0"/>
              </a:rPr>
              <a:t>, cuál </a:t>
            </a:r>
            <a:r>
              <a:rPr lang="es-ES" sz="3200" dirty="0">
                <a:latin typeface="Helvetica LT Std Light" panose="020B0403020202020204" pitchFamily="34" charset="0"/>
              </a:rPr>
              <a:t>es la evaluación de las siguientes expresiones:</a:t>
            </a:r>
          </a:p>
        </p:txBody>
      </p:sp>
    </p:spTree>
    <p:extLst>
      <p:ext uri="{BB962C8B-B14F-4D97-AF65-F5344CB8AC3E}">
        <p14:creationId xmlns:p14="http://schemas.microsoft.com/office/powerpoint/2010/main" val="57217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Hasta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momento, todos los programas y aplicaciones que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hemos realizado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y abordado,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no alteraban el curso de ejecución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de las sentencias.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decir, las sentencias se ejecutaban ordenadamente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desde la primera a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la ultima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dentro de nuestro código fuente.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Vamos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 abordar las principales estructuras de control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que nos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van a permitir alterar el orden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de ejecución:</a:t>
            </a: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Selección</a:t>
            </a:r>
            <a:endParaRPr lang="es-ES" sz="28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Repetición</a:t>
            </a:r>
            <a:endParaRPr lang="es-ES" sz="28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37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Estructuras de selección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28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Las estructuras de selección nos permiten decidir si queremos ejecutar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o no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 bloque de código entre una o más opciones, mediante la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evaluación de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una condición.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Sentencias </a:t>
            </a:r>
            <a:r>
              <a:rPr lang="es-ES" sz="2800" b="1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if-else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Nos permiten decidir si queremos ejecutar o no </a:t>
            </a:r>
            <a:r>
              <a:rPr lang="es-ES" sz="28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un fragmento 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 código dependiendo de si se cumple o no una condición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Sentencias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switch: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Permite ejecutar un bloque diferente de </a:t>
            </a:r>
            <a:r>
              <a:rPr lang="es-ES" sz="28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código para 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cada valor posible que pueda tomar una expresión</a:t>
            </a:r>
            <a:endParaRPr lang="es-ES" sz="2400" dirty="0" smtClean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39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La sentencia </a:t>
            </a:r>
            <a:r>
              <a:rPr lang="es-ES" sz="3200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if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permite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decidir si ejecutar o no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un fragmento de código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en función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del resultado de una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condición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evaluar estas condiciones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se utilizan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operadores de comparación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y los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lógicos: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== , != , &lt; , &gt; , &lt;= , &gt;= , &amp;&amp; , || 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y !</a:t>
            </a: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En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ocasiones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 necesario tomar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una decisión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dependiendo de varios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criterios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A continuación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 muestra una serie de sentencias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/>
            </a:r>
            <a:b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32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if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- </a:t>
            </a:r>
            <a:r>
              <a:rPr lang="es-ES" sz="3200" b="1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else</a:t>
            </a:r>
            <a:endParaRPr lang="es-ES" sz="32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97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Esquemas if-else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1028" name="Picture 4" descr="GrÃ¡fico 5.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097" y="1270808"/>
            <a:ext cx="4582919" cy="29092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381" y="4426404"/>
            <a:ext cx="6610350" cy="1924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785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3" y="160241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Esquemas if-else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7170" name="Picture 2" descr="GrÃ¡fico 5.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806" y="1206100"/>
            <a:ext cx="4481499" cy="26181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770" y="4391696"/>
            <a:ext cx="7651569" cy="16097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25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bloques </a:t>
            </a:r>
            <a:r>
              <a:rPr lang="es-ES" sz="3200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if-else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se pueden anidar cuantas veces se desee para comprobar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más condiciones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  <p:pic>
        <p:nvPicPr>
          <p:cNvPr id="4" name="Picture 2" descr="GrÃ¡fico diagrama &quot;else if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827" y="1560693"/>
            <a:ext cx="6105525" cy="48577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71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Con ello podríamos hacer comprobaciones más completas.</a:t>
            </a: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502" y="347071"/>
            <a:ext cx="6734175" cy="1447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502" y="3383278"/>
            <a:ext cx="6732663" cy="32183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033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En algunas ocasiones podemos escribir de forma equivalente sin usar anidaciones mediante la forma </a:t>
            </a:r>
            <a:b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3200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if-else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r>
              <a:rPr lang="es-ES" sz="3200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if-else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927" y="2093867"/>
            <a:ext cx="6411326" cy="38226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14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59" y="0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Aunque situaciones donde es necesario anidar condiciones. </a:t>
            </a: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585" y="1171978"/>
            <a:ext cx="5534006" cy="53786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202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sentencia switch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nos permite elegir entre varios bloques de código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cual deseamos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ejecutar, dependiendo del valor de una expresión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multivalor</a:t>
            </a: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 principal diferencia es que la estructura </a:t>
            </a:r>
            <a:r>
              <a:rPr lang="es-ES" sz="3200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if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comprueba si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una condición de cualquier tipo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 true o false.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Mientras que la estructura switch solo permite definir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condiciones de igualdad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 varios valores concretos.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53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Esquema switch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4098" name="Picture 2" descr="GrÃ¡fico diagrama &quot;switch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987" y="1343024"/>
            <a:ext cx="4635140" cy="48095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61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Esquema switch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795" y="1519707"/>
            <a:ext cx="7675524" cy="44272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210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Esquema switch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740" y="1384661"/>
            <a:ext cx="4713633" cy="48474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741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Esquema </a:t>
            </a:r>
            <a:r>
              <a:rPr lang="es-ES" sz="44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switch</a:t>
            </a: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alternativo</a:t>
            </a:r>
            <a:endParaRPr lang="es-ES" sz="4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042" y="1713222"/>
            <a:ext cx="8561029" cy="370911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687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Esquema </a:t>
            </a:r>
            <a:r>
              <a:rPr lang="es-ES" sz="44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switch</a:t>
            </a: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alternativo como expresión del lenguaje</a:t>
            </a:r>
            <a:endParaRPr lang="es-ES" sz="4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602" y="2358960"/>
            <a:ext cx="9735909" cy="2524477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9193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Comparación de String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744" y="1900151"/>
            <a:ext cx="6905625" cy="3124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028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Comparación de String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307" y="1326399"/>
            <a:ext cx="7048500" cy="5086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820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98398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Como se puede observar en el caso anterior en la parte del </a:t>
            </a:r>
            <a:r>
              <a:rPr lang="es-ES" sz="32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if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se utilizar una función llamada </a:t>
            </a:r>
            <a:r>
              <a:rPr lang="es-ES" sz="32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equals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y en el </a:t>
            </a:r>
            <a:r>
              <a:rPr lang="es-ES" sz="32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switch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-case no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</a:p>
          <a:p>
            <a:pPr marL="540000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 necesario usar </a:t>
            </a:r>
            <a:r>
              <a:rPr lang="es-ES" sz="32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equals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porque el tipo </a:t>
            </a:r>
            <a:r>
              <a:rPr lang="es-ES" sz="32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String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es una clase y para comparar si dos objetos son iguales no se puede usar el operador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== </a:t>
            </a:r>
            <a:r>
              <a:rPr lang="es-ES" sz="32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ó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!=</a:t>
            </a:r>
          </a:p>
          <a:p>
            <a:pPr marL="540000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El </a:t>
            </a:r>
            <a:r>
              <a:rPr lang="es-ES" sz="32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switch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si es capaz de comparar </a:t>
            </a:r>
            <a:r>
              <a:rPr lang="es-ES" sz="3200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String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890" y="4025611"/>
            <a:ext cx="5867400" cy="2381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844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Comparación </a:t>
            </a:r>
            <a:r>
              <a:rPr lang="es-ES" sz="44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if</a:t>
            </a: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y switch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87" y="1355568"/>
            <a:ext cx="10499540" cy="4578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209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197375" y="118314"/>
            <a:ext cx="9929030" cy="794549"/>
          </a:xfrm>
        </p:spPr>
        <p:txBody>
          <a:bodyPr wrap="none">
            <a:normAutofit/>
          </a:bodyPr>
          <a:lstStyle/>
          <a:p>
            <a:pPr algn="ctr"/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  <a:cs typeface="Helvetica" panose="020B0604020202020204" pitchFamily="34" charset="0"/>
              </a:rPr>
              <a:t>Bibliografía</a:t>
            </a:r>
            <a:endParaRPr lang="es-ES" sz="4400" b="1" dirty="0">
              <a:solidFill>
                <a:schemeClr val="tx1"/>
              </a:solidFill>
              <a:latin typeface="Helvetica LT Std Light" panose="020B0403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5369" y="912863"/>
            <a:ext cx="11353042" cy="5670817"/>
          </a:xfrm>
        </p:spPr>
        <p:txBody>
          <a:bodyPr wrap="square" numCol="2">
            <a:noAutofit/>
          </a:bodyPr>
          <a:lstStyle/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García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 Jalón, j.: “Aprende Java como si estuvieras en primero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”.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Editorial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TECNUN. 2000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Holzner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S.: “La biblia de JAVA 2”.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Editorial Anaya Multimedia 2000.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Moreno Pérez, J.C.: “C.F.G.S Entornos de desarrollo” 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Editorial RA-MA. 2012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Wikipedia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la enciclopedia libre. 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http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://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es.wikipedia.org/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visita: Octubre </a:t>
            </a: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2018.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López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J.C.: “Curso de JAVA 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http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://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www.cursodejava.com.mx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visita: Octubre </a:t>
            </a: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2018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Documentación oficial Java JSE 8 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http://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docs.oracle.com/javase/8/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visita: </a:t>
            </a: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Octubre 2015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Programación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en castellano: 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Java.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http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://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www.programacion.net/java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visita: Octubre 2015.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dirty="0" smtClean="0"/>
          </a:p>
        </p:txBody>
      </p:sp>
    </p:spTree>
    <p:extLst>
      <p:ext uri="{BB962C8B-B14F-4D97-AF65-F5344CB8AC3E}">
        <p14:creationId xmlns:p14="http://schemas.microsoft.com/office/powerpoint/2010/main" val="160112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1320</TotalTime>
  <Words>836</Words>
  <Application>Microsoft Office PowerPoint</Application>
  <PresentationFormat>Panorámica</PresentationFormat>
  <Paragraphs>194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0" baseType="lpstr">
      <vt:lpstr>Arial</vt:lpstr>
      <vt:lpstr>Century Gothic</vt:lpstr>
      <vt:lpstr>Helvetica</vt:lpstr>
      <vt:lpstr>Helvetica LT Std Light</vt:lpstr>
      <vt:lpstr>Wingdings</vt:lpstr>
      <vt:lpstr>Wingdings 3</vt:lpstr>
      <vt:lpstr>Espiral</vt:lpstr>
      <vt:lpstr>    Desarrollo de Aplicaciones Web y Multiplataforma: Programación </vt:lpstr>
      <vt:lpstr> Tema 2.  Estructuras de Control</vt:lpstr>
      <vt:lpstr>Índice de 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Aplicaciones Web y Multiplataforma: Programación</dc:title>
  <dc:creator>Usuario de Windows</dc:creator>
  <cp:lastModifiedBy>Daniel</cp:lastModifiedBy>
  <cp:revision>140</cp:revision>
  <dcterms:created xsi:type="dcterms:W3CDTF">2018-07-23T20:39:52Z</dcterms:created>
  <dcterms:modified xsi:type="dcterms:W3CDTF">2024-09-11T21:06:26Z</dcterms:modified>
</cp:coreProperties>
</file>