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57" r:id="rId3"/>
    <p:sldId id="258" r:id="rId4"/>
    <p:sldId id="260" r:id="rId5"/>
    <p:sldId id="259"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00" autoAdjust="0"/>
    <p:restoredTop sz="94660"/>
  </p:normalViewPr>
  <p:slideViewPr>
    <p:cSldViewPr snapToGrid="0">
      <p:cViewPr varScale="1">
        <p:scale>
          <a:sx n="70" d="100"/>
          <a:sy n="70" d="100"/>
        </p:scale>
        <p:origin x="490" y="2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5/19/2021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5/19/2021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586B75A-687E-405C-8A0B-8D00578BA2C3}" type="datetimeFigureOut">
              <a:rPr lang="en-US" dirty="0"/>
              <a:pPr/>
              <a:t>5/19/2021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8" name="Date Placeholder 7"/>
          <p:cNvSpPr>
            <a:spLocks noGrp="1"/>
          </p:cNvSpPr>
          <p:nvPr>
            <p:ph type="dt" sz="half" idx="10"/>
          </p:nvPr>
        </p:nvSpPr>
        <p:spPr/>
        <p:txBody>
          <a:bodyPr/>
          <a:lstStyle/>
          <a:p>
            <a:fld id="{5586B75A-687E-405C-8A0B-8D00578BA2C3}" type="datetimeFigureOut">
              <a:rPr lang="en-US" dirty="0"/>
              <a:pPr/>
              <a:t>5/19/2021</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5/19/2021</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dirty="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s-ES"/>
              <a:t>Haga clic para modificar el estilo de título del patrón</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5/19/2021</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4FAB73BC-B049-4115-A692-8D63A059BFB8}" type="slidenum">
              <a:rPr lang="en-US" dirty="0"/>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dirty="0"/>
              <a:pPr/>
              <a:t>5/19/2021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8" name="Date Placeholder 7"/>
          <p:cNvSpPr>
            <a:spLocks noGrp="1"/>
          </p:cNvSpPr>
          <p:nvPr>
            <p:ph type="dt" sz="half" idx="10"/>
          </p:nvPr>
        </p:nvSpPr>
        <p:spPr/>
        <p:txBody>
          <a:bodyPr/>
          <a:lstStyle/>
          <a:p>
            <a:fld id="{5586B75A-687E-405C-8A0B-8D00578BA2C3}" type="datetimeFigureOut">
              <a:rPr lang="en-US" dirty="0"/>
              <a:pPr/>
              <a:t>5/19/2021</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8" name="Date Placeholder 7"/>
          <p:cNvSpPr>
            <a:spLocks noGrp="1"/>
          </p:cNvSpPr>
          <p:nvPr>
            <p:ph type="dt" sz="half" idx="10"/>
          </p:nvPr>
        </p:nvSpPr>
        <p:spPr/>
        <p:txBody>
          <a:bodyPr/>
          <a:lstStyle/>
          <a:p>
            <a:fld id="{5586B75A-687E-405C-8A0B-8D00578BA2C3}" type="datetimeFigureOut">
              <a:rPr lang="en-US" dirty="0"/>
              <a:pPr/>
              <a:t>5/19/2021</a:t>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5/19/2021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5/19/2021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5586B75A-687E-405C-8A0B-8D00578BA2C3}" type="datetimeFigureOut">
              <a:rPr lang="en-US" dirty="0"/>
              <a:pPr/>
              <a:t>5/19/2021</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87F084-B92E-42AA-BEF1-878700846B34}"/>
              </a:ext>
            </a:extLst>
          </p:cNvPr>
          <p:cNvSpPr>
            <a:spLocks noGrp="1"/>
          </p:cNvSpPr>
          <p:nvPr>
            <p:ph type="ctrTitle"/>
          </p:nvPr>
        </p:nvSpPr>
        <p:spPr/>
        <p:txBody>
          <a:bodyPr/>
          <a:lstStyle/>
          <a:p>
            <a:r>
              <a:rPr lang="es-ES" dirty="0"/>
              <a:t>Desarrollo de aplicaciones con Java</a:t>
            </a:r>
          </a:p>
        </p:txBody>
      </p:sp>
      <p:sp>
        <p:nvSpPr>
          <p:cNvPr id="3" name="Subtítulo 2">
            <a:extLst>
              <a:ext uri="{FF2B5EF4-FFF2-40B4-BE49-F238E27FC236}">
                <a16:creationId xmlns:a16="http://schemas.microsoft.com/office/drawing/2014/main" id="{39FC2810-88DE-412E-87DE-99AB4E9B8D27}"/>
              </a:ext>
            </a:extLst>
          </p:cNvPr>
          <p:cNvSpPr>
            <a:spLocks noGrp="1"/>
          </p:cNvSpPr>
          <p:nvPr>
            <p:ph type="subTitle" idx="1"/>
          </p:nvPr>
        </p:nvSpPr>
        <p:spPr/>
        <p:txBody>
          <a:bodyPr/>
          <a:lstStyle/>
          <a:p>
            <a:r>
              <a:rPr lang="es-ES" dirty="0"/>
              <a:t>Fundamentos de Java</a:t>
            </a:r>
          </a:p>
        </p:txBody>
      </p:sp>
    </p:spTree>
    <p:extLst>
      <p:ext uri="{BB962C8B-B14F-4D97-AF65-F5344CB8AC3E}">
        <p14:creationId xmlns:p14="http://schemas.microsoft.com/office/powerpoint/2010/main" val="33202491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975513-9628-4C7A-B850-7E5F1D6FCC5D}"/>
              </a:ext>
            </a:extLst>
          </p:cNvPr>
          <p:cNvSpPr>
            <a:spLocks noGrp="1"/>
          </p:cNvSpPr>
          <p:nvPr>
            <p:ph type="title"/>
          </p:nvPr>
        </p:nvSpPr>
        <p:spPr/>
        <p:txBody>
          <a:bodyPr/>
          <a:lstStyle/>
          <a:p>
            <a:r>
              <a:rPr lang="es-ES" dirty="0"/>
              <a:t>Lenguaje de programación Java</a:t>
            </a:r>
          </a:p>
        </p:txBody>
      </p:sp>
      <p:sp>
        <p:nvSpPr>
          <p:cNvPr id="3" name="Marcador de contenido 2">
            <a:extLst>
              <a:ext uri="{FF2B5EF4-FFF2-40B4-BE49-F238E27FC236}">
                <a16:creationId xmlns:a16="http://schemas.microsoft.com/office/drawing/2014/main" id="{5AEC63F9-F501-47A7-9D10-AD47C26D21C1}"/>
              </a:ext>
            </a:extLst>
          </p:cNvPr>
          <p:cNvSpPr>
            <a:spLocks noGrp="1"/>
          </p:cNvSpPr>
          <p:nvPr>
            <p:ph idx="1"/>
          </p:nvPr>
        </p:nvSpPr>
        <p:spPr/>
        <p:txBody>
          <a:bodyPr>
            <a:normAutofit/>
          </a:bodyPr>
          <a:lstStyle/>
          <a:p>
            <a:r>
              <a:rPr lang="es-ES" dirty="0"/>
              <a:t>La finalidad de un lenguaje de programación es "decirle" al ordenador qué es lo que tiene que hacer, paso a paso determinar su comportamiento. </a:t>
            </a:r>
          </a:p>
          <a:p>
            <a:r>
              <a:rPr lang="es-ES" dirty="0"/>
              <a:t>El programador es el encargado de recordarle al ordenador lo que tiene que hacer en cada paso. </a:t>
            </a:r>
          </a:p>
          <a:p>
            <a:r>
              <a:rPr lang="es-ES" dirty="0"/>
              <a:t>Los idiomas que hablan las personas y los ordenadores son muy diferentes. </a:t>
            </a:r>
          </a:p>
          <a:p>
            <a:pPr lvl="1"/>
            <a:r>
              <a:rPr lang="es-ES" dirty="0"/>
              <a:t>Lenguaje humano rico en variedad de palabras</a:t>
            </a:r>
          </a:p>
          <a:p>
            <a:pPr lvl="1"/>
            <a:r>
              <a:rPr lang="es-ES" dirty="0"/>
              <a:t>Sistema binario orientado en 0 y 1. </a:t>
            </a:r>
          </a:p>
          <a:p>
            <a:r>
              <a:rPr lang="es-ES" dirty="0"/>
              <a:t>El programador debe darle instrucciones en ese formato de código máquina.</a:t>
            </a:r>
          </a:p>
          <a:p>
            <a:endParaRPr lang="es-ES" dirty="0"/>
          </a:p>
          <a:p>
            <a:r>
              <a:rPr lang="es-ES" dirty="0"/>
              <a:t>Surgen los lenguajes llamados de alto nivel y los programas encargados de la traslación: los traductores. </a:t>
            </a:r>
          </a:p>
        </p:txBody>
      </p:sp>
    </p:spTree>
    <p:extLst>
      <p:ext uri="{BB962C8B-B14F-4D97-AF65-F5344CB8AC3E}">
        <p14:creationId xmlns:p14="http://schemas.microsoft.com/office/powerpoint/2010/main" val="2187940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975513-9628-4C7A-B850-7E5F1D6FCC5D}"/>
              </a:ext>
            </a:extLst>
          </p:cNvPr>
          <p:cNvSpPr>
            <a:spLocks noGrp="1"/>
          </p:cNvSpPr>
          <p:nvPr>
            <p:ph type="title"/>
          </p:nvPr>
        </p:nvSpPr>
        <p:spPr/>
        <p:txBody>
          <a:bodyPr/>
          <a:lstStyle/>
          <a:p>
            <a:r>
              <a:rPr lang="es-ES" dirty="0"/>
              <a:t>Lenguaje de programación Java</a:t>
            </a:r>
          </a:p>
        </p:txBody>
      </p:sp>
      <p:sp>
        <p:nvSpPr>
          <p:cNvPr id="3" name="Marcador de contenido 2">
            <a:extLst>
              <a:ext uri="{FF2B5EF4-FFF2-40B4-BE49-F238E27FC236}">
                <a16:creationId xmlns:a16="http://schemas.microsoft.com/office/drawing/2014/main" id="{5AEC63F9-F501-47A7-9D10-AD47C26D21C1}"/>
              </a:ext>
            </a:extLst>
          </p:cNvPr>
          <p:cNvSpPr>
            <a:spLocks noGrp="1"/>
          </p:cNvSpPr>
          <p:nvPr>
            <p:ph idx="1"/>
          </p:nvPr>
        </p:nvSpPr>
        <p:spPr/>
        <p:txBody>
          <a:bodyPr>
            <a:normAutofit/>
          </a:bodyPr>
          <a:lstStyle/>
          <a:p>
            <a:r>
              <a:rPr lang="es-ES" dirty="0"/>
              <a:t> El objetivo, sin duda, es que en algún momento los ordenadores sean capaces de entender el lenguaje que emplean las personas. </a:t>
            </a:r>
          </a:p>
          <a:p>
            <a:endParaRPr lang="es-ES" dirty="0"/>
          </a:p>
          <a:p>
            <a:r>
              <a:rPr lang="es-ES" dirty="0"/>
              <a:t>Uno de los lenguajes más utilizado en el desarrollo de aplicaciones es </a:t>
            </a:r>
            <a:r>
              <a:rPr lang="es-ES" b="1" dirty="0"/>
              <a:t>Java</a:t>
            </a:r>
            <a:r>
              <a:rPr lang="es-ES" dirty="0"/>
              <a:t>. </a:t>
            </a:r>
          </a:p>
          <a:p>
            <a:r>
              <a:rPr lang="es-ES" dirty="0"/>
              <a:t>Es un lenguaje orientado a objetos, potente, versátil y </a:t>
            </a:r>
            <a:r>
              <a:rPr lang="es-ES" b="1" dirty="0"/>
              <a:t>multiplataforma</a:t>
            </a:r>
            <a:r>
              <a:rPr lang="es-ES" dirty="0"/>
              <a:t>. </a:t>
            </a:r>
          </a:p>
          <a:p>
            <a:r>
              <a:rPr lang="es-ES" dirty="0"/>
              <a:t>Además, puedes obtener Java y gran cantidad de herramientas para trabajar con él de forma gratuita, siendo la mayor parte de su </a:t>
            </a:r>
            <a:r>
              <a:rPr lang="es-ES" b="1" dirty="0"/>
              <a:t>código libre y abierto</a:t>
            </a:r>
            <a:r>
              <a:rPr lang="es-ES" dirty="0"/>
              <a:t>.</a:t>
            </a:r>
          </a:p>
          <a:p>
            <a:endParaRPr lang="es-ES" dirty="0"/>
          </a:p>
          <a:p>
            <a:endParaRPr lang="es-ES" dirty="0"/>
          </a:p>
        </p:txBody>
      </p:sp>
      <p:pic>
        <p:nvPicPr>
          <p:cNvPr id="1026" name="Picture 2" descr="Resultado de imagen de java logo">
            <a:extLst>
              <a:ext uri="{FF2B5EF4-FFF2-40B4-BE49-F238E27FC236}">
                <a16:creationId xmlns:a16="http://schemas.microsoft.com/office/drawing/2014/main" id="{755967D5-A5D1-4DCF-B864-7C25641E68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53736" y="4505498"/>
            <a:ext cx="3178787" cy="19867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1281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975513-9628-4C7A-B850-7E5F1D6FCC5D}"/>
              </a:ext>
            </a:extLst>
          </p:cNvPr>
          <p:cNvSpPr>
            <a:spLocks noGrp="1"/>
          </p:cNvSpPr>
          <p:nvPr>
            <p:ph type="title"/>
          </p:nvPr>
        </p:nvSpPr>
        <p:spPr/>
        <p:txBody>
          <a:bodyPr/>
          <a:lstStyle/>
          <a:p>
            <a:r>
              <a:rPr lang="es-ES" dirty="0"/>
              <a:t>Lenguaje de programación Java</a:t>
            </a:r>
          </a:p>
        </p:txBody>
      </p:sp>
      <p:sp>
        <p:nvSpPr>
          <p:cNvPr id="3" name="Marcador de contenido 2">
            <a:extLst>
              <a:ext uri="{FF2B5EF4-FFF2-40B4-BE49-F238E27FC236}">
                <a16:creationId xmlns:a16="http://schemas.microsoft.com/office/drawing/2014/main" id="{5AEC63F9-F501-47A7-9D10-AD47C26D21C1}"/>
              </a:ext>
            </a:extLst>
          </p:cNvPr>
          <p:cNvSpPr>
            <a:spLocks noGrp="1"/>
          </p:cNvSpPr>
          <p:nvPr>
            <p:ph idx="1"/>
          </p:nvPr>
        </p:nvSpPr>
        <p:spPr/>
        <p:txBody>
          <a:bodyPr>
            <a:normAutofit/>
          </a:bodyPr>
          <a:lstStyle/>
          <a:p>
            <a:r>
              <a:rPr lang="es-ES" b="1" dirty="0"/>
              <a:t>Algoritmo</a:t>
            </a:r>
            <a:r>
              <a:rPr lang="es-ES" dirty="0"/>
              <a:t>: conjunto de pasos necesarios para resolver un problema. </a:t>
            </a:r>
          </a:p>
          <a:p>
            <a:pPr lvl="1"/>
            <a:r>
              <a:rPr lang="es-ES" dirty="0"/>
              <a:t>Grado de detalle: interpretar el algoritmo sin ambigüedades</a:t>
            </a:r>
          </a:p>
          <a:p>
            <a:r>
              <a:rPr lang="es-ES" b="1" dirty="0"/>
              <a:t>Programa</a:t>
            </a:r>
            <a:r>
              <a:rPr lang="es-ES" dirty="0"/>
              <a:t>: conjunto ordenado de instrucciones expresadas en un lenguaje de programación que implementan un algoritmo.</a:t>
            </a:r>
          </a:p>
          <a:p>
            <a:endParaRPr lang="es-ES" dirty="0"/>
          </a:p>
          <a:p>
            <a:r>
              <a:rPr lang="es-ES" b="1" dirty="0"/>
              <a:t>Relación entre Java y Android</a:t>
            </a:r>
          </a:p>
          <a:p>
            <a:pPr lvl="1"/>
            <a:r>
              <a:rPr lang="es-ES" b="1" dirty="0"/>
              <a:t>Java</a:t>
            </a:r>
            <a:r>
              <a:rPr lang="es-ES" dirty="0"/>
              <a:t> fue elegido como el </a:t>
            </a:r>
            <a:r>
              <a:rPr lang="es-ES" b="1" dirty="0"/>
              <a:t>lenguaje</a:t>
            </a:r>
            <a:r>
              <a:rPr lang="es-ES" dirty="0"/>
              <a:t> para el entorno de desarrollo de Android, el sistema operativo móvil líder en smartphones y </a:t>
            </a:r>
            <a:r>
              <a:rPr lang="es-ES" dirty="0" err="1"/>
              <a:t>tablets</a:t>
            </a:r>
            <a:r>
              <a:rPr lang="es-ES" dirty="0"/>
              <a:t>. </a:t>
            </a:r>
          </a:p>
          <a:p>
            <a:pPr lvl="1"/>
            <a:r>
              <a:rPr lang="es-ES" b="1" dirty="0"/>
              <a:t>Android</a:t>
            </a:r>
            <a:r>
              <a:rPr lang="es-ES" dirty="0"/>
              <a:t> es por tanto el </a:t>
            </a:r>
            <a:r>
              <a:rPr lang="es-ES" b="1" dirty="0"/>
              <a:t>sistema operativo </a:t>
            </a:r>
            <a:r>
              <a:rPr lang="es-ES" dirty="0"/>
              <a:t>(es una versión de Linux) y </a:t>
            </a:r>
            <a:r>
              <a:rPr lang="es-ES" b="1" dirty="0"/>
              <a:t>Java</a:t>
            </a:r>
            <a:r>
              <a:rPr lang="es-ES" dirty="0"/>
              <a:t> el </a:t>
            </a:r>
            <a:r>
              <a:rPr lang="es-ES" b="1" dirty="0"/>
              <a:t>lenguaje</a:t>
            </a:r>
            <a:r>
              <a:rPr lang="es-ES" dirty="0"/>
              <a:t> utilizado para crear apps en él.</a:t>
            </a:r>
          </a:p>
          <a:p>
            <a:pPr lvl="1"/>
            <a:endParaRPr lang="es-ES" dirty="0"/>
          </a:p>
          <a:p>
            <a:pPr lvl="1"/>
            <a:endParaRPr lang="es-ES" dirty="0"/>
          </a:p>
          <a:p>
            <a:pPr lvl="1"/>
            <a:endParaRPr lang="es-ES" dirty="0"/>
          </a:p>
        </p:txBody>
      </p:sp>
      <p:pic>
        <p:nvPicPr>
          <p:cNvPr id="2050" name="Picture 2" descr="Resultado de imagen de java android">
            <a:extLst>
              <a:ext uri="{FF2B5EF4-FFF2-40B4-BE49-F238E27FC236}">
                <a16:creationId xmlns:a16="http://schemas.microsoft.com/office/drawing/2014/main" id="{CDA9B6C7-659F-4C3A-AA92-BB24E2320C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96844" y="4773527"/>
            <a:ext cx="3546070" cy="1996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22583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975513-9628-4C7A-B850-7E5F1D6FCC5D}"/>
              </a:ext>
            </a:extLst>
          </p:cNvPr>
          <p:cNvSpPr>
            <a:spLocks noGrp="1"/>
          </p:cNvSpPr>
          <p:nvPr>
            <p:ph type="title"/>
          </p:nvPr>
        </p:nvSpPr>
        <p:spPr/>
        <p:txBody>
          <a:bodyPr/>
          <a:lstStyle/>
          <a:p>
            <a:r>
              <a:rPr lang="es-ES" dirty="0"/>
              <a:t>Programación Orientada a Objetos</a:t>
            </a:r>
          </a:p>
        </p:txBody>
      </p:sp>
      <p:sp>
        <p:nvSpPr>
          <p:cNvPr id="3" name="Marcador de contenido 2">
            <a:extLst>
              <a:ext uri="{FF2B5EF4-FFF2-40B4-BE49-F238E27FC236}">
                <a16:creationId xmlns:a16="http://schemas.microsoft.com/office/drawing/2014/main" id="{5AEC63F9-F501-47A7-9D10-AD47C26D21C1}"/>
              </a:ext>
            </a:extLst>
          </p:cNvPr>
          <p:cNvSpPr>
            <a:spLocks noGrp="1"/>
          </p:cNvSpPr>
          <p:nvPr>
            <p:ph idx="1"/>
          </p:nvPr>
        </p:nvSpPr>
        <p:spPr/>
        <p:txBody>
          <a:bodyPr>
            <a:normAutofit/>
          </a:bodyPr>
          <a:lstStyle/>
          <a:p>
            <a:r>
              <a:rPr lang="es-ES" dirty="0"/>
              <a:t>Para empezar a programar de forma orientada a objetos debemos pensar en cómo lo haríamos en el mundo real. </a:t>
            </a:r>
          </a:p>
          <a:p>
            <a:endParaRPr lang="es-ES" dirty="0"/>
          </a:p>
          <a:p>
            <a:r>
              <a:rPr lang="es-ES" dirty="0"/>
              <a:t>Ejemplo: coche en el </a:t>
            </a:r>
            <a:r>
              <a:rPr lang="es-ES" b="1" dirty="0"/>
              <a:t>mundo real</a:t>
            </a:r>
          </a:p>
          <a:p>
            <a:r>
              <a:rPr lang="es-ES" dirty="0"/>
              <a:t>Coche: Elemento principal que tiene una serie de características:</a:t>
            </a:r>
          </a:p>
          <a:p>
            <a:pPr lvl="1"/>
            <a:r>
              <a:rPr lang="es-ES" dirty="0"/>
              <a:t>Color, el modelo o la marca. </a:t>
            </a:r>
          </a:p>
          <a:p>
            <a:r>
              <a:rPr lang="es-ES" dirty="0"/>
              <a:t>Además, tiene una serie de funcionalidades asociadas:</a:t>
            </a:r>
          </a:p>
          <a:p>
            <a:pPr lvl="1"/>
            <a:r>
              <a:rPr lang="es-ES" dirty="0"/>
              <a:t>Ponerse en marcha, parar o aparcar.</a:t>
            </a:r>
          </a:p>
          <a:p>
            <a:pPr lvl="1"/>
            <a:endParaRPr lang="es-ES" dirty="0"/>
          </a:p>
          <a:p>
            <a:r>
              <a:rPr lang="es-ES" dirty="0"/>
              <a:t>En un esquema </a:t>
            </a:r>
            <a:r>
              <a:rPr lang="es-ES" b="1" dirty="0"/>
              <a:t>POO</a:t>
            </a:r>
            <a:r>
              <a:rPr lang="es-ES" dirty="0"/>
              <a:t> el coche sería lo que se conoce como </a:t>
            </a:r>
            <a:r>
              <a:rPr lang="es-ES" b="1" dirty="0"/>
              <a:t>Clase</a:t>
            </a:r>
            <a:r>
              <a:rPr lang="es-ES" dirty="0"/>
              <a:t>. </a:t>
            </a:r>
          </a:p>
          <a:p>
            <a:r>
              <a:rPr lang="es-ES" dirty="0"/>
              <a:t>Sus características, como el color o el modelo, serían </a:t>
            </a:r>
            <a:r>
              <a:rPr lang="es-ES" b="1" dirty="0"/>
              <a:t>propiedades</a:t>
            </a:r>
          </a:p>
          <a:p>
            <a:r>
              <a:rPr lang="es-ES" dirty="0"/>
              <a:t>Funcionalidades asociadas, como ponerse en marcha o parar, serían </a:t>
            </a:r>
            <a:r>
              <a:rPr lang="es-ES" b="1" dirty="0"/>
              <a:t>métodos</a:t>
            </a:r>
            <a:r>
              <a:rPr lang="es-ES" dirty="0"/>
              <a:t>.</a:t>
            </a:r>
          </a:p>
          <a:p>
            <a:endParaRPr lang="es-ES" b="1" dirty="0"/>
          </a:p>
        </p:txBody>
      </p:sp>
    </p:spTree>
    <p:extLst>
      <p:ext uri="{BB962C8B-B14F-4D97-AF65-F5344CB8AC3E}">
        <p14:creationId xmlns:p14="http://schemas.microsoft.com/office/powerpoint/2010/main" val="1784117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975513-9628-4C7A-B850-7E5F1D6FCC5D}"/>
              </a:ext>
            </a:extLst>
          </p:cNvPr>
          <p:cNvSpPr>
            <a:spLocks noGrp="1"/>
          </p:cNvSpPr>
          <p:nvPr>
            <p:ph type="title"/>
          </p:nvPr>
        </p:nvSpPr>
        <p:spPr/>
        <p:txBody>
          <a:bodyPr/>
          <a:lstStyle/>
          <a:p>
            <a:r>
              <a:rPr lang="es-ES" dirty="0"/>
              <a:t>Programación Orientada a Objetos</a:t>
            </a:r>
          </a:p>
        </p:txBody>
      </p:sp>
      <p:sp>
        <p:nvSpPr>
          <p:cNvPr id="3" name="Marcador de contenido 2">
            <a:extLst>
              <a:ext uri="{FF2B5EF4-FFF2-40B4-BE49-F238E27FC236}">
                <a16:creationId xmlns:a16="http://schemas.microsoft.com/office/drawing/2014/main" id="{5AEC63F9-F501-47A7-9D10-AD47C26D21C1}"/>
              </a:ext>
            </a:extLst>
          </p:cNvPr>
          <p:cNvSpPr>
            <a:spLocks noGrp="1"/>
          </p:cNvSpPr>
          <p:nvPr>
            <p:ph idx="1"/>
          </p:nvPr>
        </p:nvSpPr>
        <p:spPr/>
        <p:txBody>
          <a:bodyPr>
            <a:normAutofit/>
          </a:bodyPr>
          <a:lstStyle/>
          <a:p>
            <a:r>
              <a:rPr lang="es-ES" dirty="0"/>
              <a:t>La clase es como un libro, que describe como son todos los objetos de un mismo tipo. La clase prenda describe cómo son todas sus prendas, qué propiedades tienen y qué funcionalidades deben poder realizar. </a:t>
            </a:r>
          </a:p>
          <a:p>
            <a:endParaRPr lang="es-ES" dirty="0"/>
          </a:p>
          <a:p>
            <a:r>
              <a:rPr lang="es-ES" dirty="0"/>
              <a:t>A partir de una clase podemos crear cualquier número de objetos de esa clase (instancias). Una prenda roja que es de la marca Zara y modelo M, otro verde que es de la marca CYA y modelo S.</a:t>
            </a:r>
          </a:p>
          <a:p>
            <a:endParaRPr lang="es-ES" b="1" dirty="0"/>
          </a:p>
          <a:p>
            <a:r>
              <a:rPr lang="es-ES" dirty="0"/>
              <a:t>En un programa que gestione un taller de coches utilizarás la clase coche y se instanciarán diversos objetos de tipo coche para hacer las operativas.</a:t>
            </a:r>
          </a:p>
        </p:txBody>
      </p:sp>
    </p:spTree>
    <p:extLst>
      <p:ext uri="{BB962C8B-B14F-4D97-AF65-F5344CB8AC3E}">
        <p14:creationId xmlns:p14="http://schemas.microsoft.com/office/powerpoint/2010/main" val="41206132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975513-9628-4C7A-B850-7E5F1D6FCC5D}"/>
              </a:ext>
            </a:extLst>
          </p:cNvPr>
          <p:cNvSpPr>
            <a:spLocks noGrp="1"/>
          </p:cNvSpPr>
          <p:nvPr>
            <p:ph type="title"/>
          </p:nvPr>
        </p:nvSpPr>
        <p:spPr/>
        <p:txBody>
          <a:bodyPr/>
          <a:lstStyle/>
          <a:p>
            <a:r>
              <a:rPr lang="es-ES" dirty="0"/>
              <a:t>Programación Orientada a Objetos</a:t>
            </a:r>
          </a:p>
        </p:txBody>
      </p:sp>
      <p:sp>
        <p:nvSpPr>
          <p:cNvPr id="3" name="Marcador de contenido 2">
            <a:extLst>
              <a:ext uri="{FF2B5EF4-FFF2-40B4-BE49-F238E27FC236}">
                <a16:creationId xmlns:a16="http://schemas.microsoft.com/office/drawing/2014/main" id="{5AEC63F9-F501-47A7-9D10-AD47C26D21C1}"/>
              </a:ext>
            </a:extLst>
          </p:cNvPr>
          <p:cNvSpPr>
            <a:spLocks noGrp="1"/>
          </p:cNvSpPr>
          <p:nvPr>
            <p:ph idx="1"/>
          </p:nvPr>
        </p:nvSpPr>
        <p:spPr/>
        <p:txBody>
          <a:bodyPr>
            <a:normAutofit/>
          </a:bodyPr>
          <a:lstStyle/>
          <a:p>
            <a:r>
              <a:rPr lang="es-ES" dirty="0"/>
              <a:t>En los lenguajes puramente orientados a objetos, tendremos únicamente clases y objetos. </a:t>
            </a:r>
          </a:p>
          <a:p>
            <a:r>
              <a:rPr lang="es-ES" dirty="0"/>
              <a:t>Las clases permitirán definir un número indeterminado de objetos, que colaboran entre ellos para resolver los problemas. </a:t>
            </a:r>
          </a:p>
          <a:p>
            <a:r>
              <a:rPr lang="es-ES" dirty="0"/>
              <a:t>Con muchos objetos de diferentes clases conseguiremos realizar las acciones que se desean implementar en la funcionalidad de la aplicación.</a:t>
            </a:r>
          </a:p>
          <a:p>
            <a:endParaRPr lang="es-ES" dirty="0"/>
          </a:p>
          <a:p>
            <a:r>
              <a:rPr lang="es-ES" dirty="0"/>
              <a:t>Además, las propias </a:t>
            </a:r>
            <a:r>
              <a:rPr lang="es-ES" b="1" dirty="0"/>
              <a:t>aplicaciones</a:t>
            </a:r>
            <a:r>
              <a:rPr lang="es-ES" dirty="0"/>
              <a:t> como un todo, también serán definidas por medio de clases. </a:t>
            </a:r>
          </a:p>
          <a:p>
            <a:pPr lvl="1"/>
            <a:r>
              <a:rPr lang="es-ES" dirty="0"/>
              <a:t>El taller de coches será una clase, de la que podremos crear el objeto taller de coches, que utilizará objetos coche, objetos de clase herramienta, objetos de clase mecánico, objetos de clase recambio, etc.</a:t>
            </a:r>
          </a:p>
        </p:txBody>
      </p:sp>
    </p:spTree>
    <p:extLst>
      <p:ext uri="{BB962C8B-B14F-4D97-AF65-F5344CB8AC3E}">
        <p14:creationId xmlns:p14="http://schemas.microsoft.com/office/powerpoint/2010/main" val="13646128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975513-9628-4C7A-B850-7E5F1D6FCC5D}"/>
              </a:ext>
            </a:extLst>
          </p:cNvPr>
          <p:cNvSpPr>
            <a:spLocks noGrp="1"/>
          </p:cNvSpPr>
          <p:nvPr>
            <p:ph type="title"/>
          </p:nvPr>
        </p:nvSpPr>
        <p:spPr/>
        <p:txBody>
          <a:bodyPr/>
          <a:lstStyle/>
          <a:p>
            <a:r>
              <a:rPr lang="es-ES" dirty="0"/>
              <a:t>Programación Orientada a Objetos</a:t>
            </a:r>
          </a:p>
        </p:txBody>
      </p:sp>
      <p:sp>
        <p:nvSpPr>
          <p:cNvPr id="3" name="Marcador de contenido 2">
            <a:extLst>
              <a:ext uri="{FF2B5EF4-FFF2-40B4-BE49-F238E27FC236}">
                <a16:creationId xmlns:a16="http://schemas.microsoft.com/office/drawing/2014/main" id="{5AEC63F9-F501-47A7-9D10-AD47C26D21C1}"/>
              </a:ext>
            </a:extLst>
          </p:cNvPr>
          <p:cNvSpPr>
            <a:spLocks noGrp="1"/>
          </p:cNvSpPr>
          <p:nvPr>
            <p:ph idx="1"/>
          </p:nvPr>
        </p:nvSpPr>
        <p:spPr/>
        <p:txBody>
          <a:bodyPr>
            <a:normAutofit/>
          </a:bodyPr>
          <a:lstStyle/>
          <a:p>
            <a:r>
              <a:rPr lang="es-ES" dirty="0"/>
              <a:t>Las clases son declaraciones de objetos, también se podrían definir como </a:t>
            </a:r>
            <a:r>
              <a:rPr lang="es-ES" b="1" dirty="0"/>
              <a:t>abstracciones</a:t>
            </a:r>
            <a:r>
              <a:rPr lang="es-ES" dirty="0"/>
              <a:t> de objetos. </a:t>
            </a:r>
          </a:p>
          <a:p>
            <a:r>
              <a:rPr lang="es-ES" dirty="0"/>
              <a:t>La definición de un objeto es la clase. </a:t>
            </a:r>
          </a:p>
          <a:p>
            <a:r>
              <a:rPr lang="es-ES" dirty="0"/>
              <a:t>Cuando programamos un objeto y definimos sus características y funcionalidades en realidad lo que estamos haciendo es programar una clase:</a:t>
            </a:r>
          </a:p>
          <a:p>
            <a:pPr lvl="1"/>
            <a:r>
              <a:rPr lang="es-ES" dirty="0"/>
              <a:t>Las </a:t>
            </a:r>
            <a:r>
              <a:rPr lang="es-ES" b="1" dirty="0"/>
              <a:t>propiedades o atributos </a:t>
            </a:r>
            <a:r>
              <a:rPr lang="es-ES" dirty="0"/>
              <a:t>son las características de los objetos. Cuando definimos una propiedad normalmente especificamos su nombre y su tipo. Son variables donde almacenamos datos relacionados con los objetos.</a:t>
            </a:r>
          </a:p>
          <a:p>
            <a:pPr lvl="1"/>
            <a:r>
              <a:rPr lang="es-ES" dirty="0"/>
              <a:t>Los </a:t>
            </a:r>
            <a:r>
              <a:rPr lang="es-ES" b="1" dirty="0"/>
              <a:t>métodos</a:t>
            </a:r>
            <a:r>
              <a:rPr lang="es-ES" dirty="0"/>
              <a:t> son las funcionalidades asociadas a los objetos. Los métodos son funciones que están asociadas a un objeto.</a:t>
            </a:r>
          </a:p>
        </p:txBody>
      </p:sp>
    </p:spTree>
    <p:extLst>
      <p:ext uri="{BB962C8B-B14F-4D97-AF65-F5344CB8AC3E}">
        <p14:creationId xmlns:p14="http://schemas.microsoft.com/office/powerpoint/2010/main" val="30351933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975513-9628-4C7A-B850-7E5F1D6FCC5D}"/>
              </a:ext>
            </a:extLst>
          </p:cNvPr>
          <p:cNvSpPr>
            <a:spLocks noGrp="1"/>
          </p:cNvSpPr>
          <p:nvPr>
            <p:ph type="title"/>
          </p:nvPr>
        </p:nvSpPr>
        <p:spPr/>
        <p:txBody>
          <a:bodyPr/>
          <a:lstStyle/>
          <a:p>
            <a:r>
              <a:rPr lang="es-ES" dirty="0"/>
              <a:t>Objetos en POO</a:t>
            </a:r>
          </a:p>
        </p:txBody>
      </p:sp>
      <p:sp>
        <p:nvSpPr>
          <p:cNvPr id="3" name="Marcador de contenido 2">
            <a:extLst>
              <a:ext uri="{FF2B5EF4-FFF2-40B4-BE49-F238E27FC236}">
                <a16:creationId xmlns:a16="http://schemas.microsoft.com/office/drawing/2014/main" id="{5AEC63F9-F501-47A7-9D10-AD47C26D21C1}"/>
              </a:ext>
            </a:extLst>
          </p:cNvPr>
          <p:cNvSpPr>
            <a:spLocks noGrp="1"/>
          </p:cNvSpPr>
          <p:nvPr>
            <p:ph idx="1"/>
          </p:nvPr>
        </p:nvSpPr>
        <p:spPr/>
        <p:txBody>
          <a:bodyPr>
            <a:normAutofit/>
          </a:bodyPr>
          <a:lstStyle/>
          <a:p>
            <a:r>
              <a:rPr lang="es-ES" dirty="0"/>
              <a:t>Los objetos son ejemplares de una clase cualquiera. </a:t>
            </a:r>
          </a:p>
          <a:p>
            <a:r>
              <a:rPr lang="es-ES" dirty="0"/>
              <a:t>Cuando creamos un ejemplar tenemos que especificar la clase a partir de la cual se creará. </a:t>
            </a:r>
          </a:p>
          <a:p>
            <a:r>
              <a:rPr lang="es-ES" dirty="0"/>
              <a:t>Esta acción de crear un objeto a partir de una clase se llama </a:t>
            </a:r>
            <a:r>
              <a:rPr lang="es-ES" b="1" dirty="0"/>
              <a:t>instanciar.</a:t>
            </a:r>
          </a:p>
          <a:p>
            <a:r>
              <a:rPr lang="es-ES" dirty="0"/>
              <a:t>Factura f1 = new Factura();</a:t>
            </a:r>
          </a:p>
          <a:p>
            <a:endParaRPr lang="es-ES" dirty="0"/>
          </a:p>
          <a:p>
            <a:r>
              <a:rPr lang="es-ES" dirty="0"/>
              <a:t>Con la palabra </a:t>
            </a:r>
            <a:r>
              <a:rPr lang="es-ES" b="1" dirty="0"/>
              <a:t>new</a:t>
            </a:r>
            <a:r>
              <a:rPr lang="es-ES" dirty="0"/>
              <a:t> especificamos que se tiene que crear una instancia de la clase que sigue a continuación. Dentro de los paréntesis podríamos colocar parámetros con los que inicializar el objeto de la clase coche.</a:t>
            </a:r>
          </a:p>
        </p:txBody>
      </p:sp>
    </p:spTree>
    <p:extLst>
      <p:ext uri="{BB962C8B-B14F-4D97-AF65-F5344CB8AC3E}">
        <p14:creationId xmlns:p14="http://schemas.microsoft.com/office/powerpoint/2010/main" val="13429460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975513-9628-4C7A-B850-7E5F1D6FCC5D}"/>
              </a:ext>
            </a:extLst>
          </p:cNvPr>
          <p:cNvSpPr>
            <a:spLocks noGrp="1"/>
          </p:cNvSpPr>
          <p:nvPr>
            <p:ph type="title"/>
          </p:nvPr>
        </p:nvSpPr>
        <p:spPr/>
        <p:txBody>
          <a:bodyPr/>
          <a:lstStyle/>
          <a:p>
            <a:r>
              <a:rPr lang="es-ES" dirty="0"/>
              <a:t>Estados en objetos</a:t>
            </a:r>
          </a:p>
        </p:txBody>
      </p:sp>
      <p:sp>
        <p:nvSpPr>
          <p:cNvPr id="3" name="Marcador de contenido 2">
            <a:extLst>
              <a:ext uri="{FF2B5EF4-FFF2-40B4-BE49-F238E27FC236}">
                <a16:creationId xmlns:a16="http://schemas.microsoft.com/office/drawing/2014/main" id="{5AEC63F9-F501-47A7-9D10-AD47C26D21C1}"/>
              </a:ext>
            </a:extLst>
          </p:cNvPr>
          <p:cNvSpPr>
            <a:spLocks noGrp="1"/>
          </p:cNvSpPr>
          <p:nvPr>
            <p:ph idx="1"/>
          </p:nvPr>
        </p:nvSpPr>
        <p:spPr/>
        <p:txBody>
          <a:bodyPr>
            <a:normAutofit/>
          </a:bodyPr>
          <a:lstStyle/>
          <a:p>
            <a:r>
              <a:rPr lang="es-ES" dirty="0"/>
              <a:t>Cuando tenemos un objeto sus propiedades toman valores. </a:t>
            </a:r>
          </a:p>
          <a:p>
            <a:r>
              <a:rPr lang="es-ES" dirty="0"/>
              <a:t>El valor concreto de una propiedad de un objeto se llama </a:t>
            </a:r>
            <a:r>
              <a:rPr lang="es-ES" b="1" dirty="0"/>
              <a:t>estado</a:t>
            </a:r>
            <a:r>
              <a:rPr lang="es-ES" dirty="0"/>
              <a:t>.</a:t>
            </a:r>
          </a:p>
          <a:p>
            <a:endParaRPr lang="es-ES" dirty="0"/>
          </a:p>
          <a:p>
            <a:r>
              <a:rPr lang="es-ES" dirty="0"/>
              <a:t>Para acceder a un estado de un objeto para ver su valor o cambiarlo se utiliza el operador </a:t>
            </a:r>
            <a:r>
              <a:rPr lang="es-ES" b="1" dirty="0"/>
              <a:t>punto</a:t>
            </a:r>
            <a:r>
              <a:rPr lang="es-ES" dirty="0"/>
              <a:t>.</a:t>
            </a:r>
          </a:p>
          <a:p>
            <a:endParaRPr lang="es-ES" dirty="0"/>
          </a:p>
          <a:p>
            <a:r>
              <a:rPr lang="es-ES" dirty="0"/>
              <a:t>f1.NombreTitular=“Adrián Ramos”;</a:t>
            </a:r>
          </a:p>
          <a:p>
            <a:endParaRPr lang="es-ES" dirty="0"/>
          </a:p>
        </p:txBody>
      </p:sp>
    </p:spTree>
    <p:extLst>
      <p:ext uri="{BB962C8B-B14F-4D97-AF65-F5344CB8AC3E}">
        <p14:creationId xmlns:p14="http://schemas.microsoft.com/office/powerpoint/2010/main" val="42271041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975513-9628-4C7A-B850-7E5F1D6FCC5D}"/>
              </a:ext>
            </a:extLst>
          </p:cNvPr>
          <p:cNvSpPr>
            <a:spLocks noGrp="1"/>
          </p:cNvSpPr>
          <p:nvPr>
            <p:ph type="title"/>
          </p:nvPr>
        </p:nvSpPr>
        <p:spPr/>
        <p:txBody>
          <a:bodyPr/>
          <a:lstStyle/>
          <a:p>
            <a:r>
              <a:rPr lang="es-ES" dirty="0"/>
              <a:t>Mensajes en objetos</a:t>
            </a:r>
          </a:p>
        </p:txBody>
      </p:sp>
      <p:sp>
        <p:nvSpPr>
          <p:cNvPr id="3" name="Marcador de contenido 2">
            <a:extLst>
              <a:ext uri="{FF2B5EF4-FFF2-40B4-BE49-F238E27FC236}">
                <a16:creationId xmlns:a16="http://schemas.microsoft.com/office/drawing/2014/main" id="{5AEC63F9-F501-47A7-9D10-AD47C26D21C1}"/>
              </a:ext>
            </a:extLst>
          </p:cNvPr>
          <p:cNvSpPr>
            <a:spLocks noGrp="1"/>
          </p:cNvSpPr>
          <p:nvPr>
            <p:ph idx="1"/>
          </p:nvPr>
        </p:nvSpPr>
        <p:spPr/>
        <p:txBody>
          <a:bodyPr>
            <a:normAutofit/>
          </a:bodyPr>
          <a:lstStyle/>
          <a:p>
            <a:r>
              <a:rPr lang="es-ES" dirty="0"/>
              <a:t>Un mensaje en un objeto es la acción de efectuar una llamada a un método. </a:t>
            </a:r>
          </a:p>
          <a:p>
            <a:endParaRPr lang="es-ES" dirty="0"/>
          </a:p>
          <a:p>
            <a:r>
              <a:rPr lang="es-ES" dirty="0"/>
              <a:t>Para mandar mensajes a los objetos utilizamos el operador punto, seguido del método que deseamos invocar y los paréntesis, como en las llamadas a las funciones.</a:t>
            </a:r>
          </a:p>
          <a:p>
            <a:endParaRPr lang="es-ES" dirty="0"/>
          </a:p>
          <a:p>
            <a:r>
              <a:rPr lang="es-ES" dirty="0"/>
              <a:t>f1.calcularTotal();</a:t>
            </a:r>
          </a:p>
          <a:p>
            <a:endParaRPr lang="es-ES" dirty="0"/>
          </a:p>
        </p:txBody>
      </p:sp>
    </p:spTree>
    <p:extLst>
      <p:ext uri="{BB962C8B-B14F-4D97-AF65-F5344CB8AC3E}">
        <p14:creationId xmlns:p14="http://schemas.microsoft.com/office/powerpoint/2010/main" val="29375866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87F084-B92E-42AA-BEF1-878700846B34}"/>
              </a:ext>
            </a:extLst>
          </p:cNvPr>
          <p:cNvSpPr>
            <a:spLocks noGrp="1"/>
          </p:cNvSpPr>
          <p:nvPr>
            <p:ph type="ctrTitle"/>
          </p:nvPr>
        </p:nvSpPr>
        <p:spPr/>
        <p:txBody>
          <a:bodyPr/>
          <a:lstStyle/>
          <a:p>
            <a:r>
              <a:rPr lang="es-ES" dirty="0"/>
              <a:t>Herencia</a:t>
            </a:r>
          </a:p>
        </p:txBody>
      </p:sp>
      <p:sp>
        <p:nvSpPr>
          <p:cNvPr id="3" name="Subtítulo 2">
            <a:extLst>
              <a:ext uri="{FF2B5EF4-FFF2-40B4-BE49-F238E27FC236}">
                <a16:creationId xmlns:a16="http://schemas.microsoft.com/office/drawing/2014/main" id="{39FC2810-88DE-412E-87DE-99AB4E9B8D27}"/>
              </a:ext>
            </a:extLst>
          </p:cNvPr>
          <p:cNvSpPr>
            <a:spLocks noGrp="1"/>
          </p:cNvSpPr>
          <p:nvPr>
            <p:ph type="subTitle" idx="1"/>
          </p:nvPr>
        </p:nvSpPr>
        <p:spPr/>
        <p:txBody>
          <a:bodyPr/>
          <a:lstStyle/>
          <a:p>
            <a:r>
              <a:rPr lang="es-ES" dirty="0"/>
              <a:t>Fundamentos de Java</a:t>
            </a:r>
          </a:p>
        </p:txBody>
      </p:sp>
    </p:spTree>
    <p:extLst>
      <p:ext uri="{BB962C8B-B14F-4D97-AF65-F5344CB8AC3E}">
        <p14:creationId xmlns:p14="http://schemas.microsoft.com/office/powerpoint/2010/main" val="12406595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975513-9628-4C7A-B850-7E5F1D6FCC5D}"/>
              </a:ext>
            </a:extLst>
          </p:cNvPr>
          <p:cNvSpPr>
            <a:spLocks noGrp="1"/>
          </p:cNvSpPr>
          <p:nvPr>
            <p:ph type="title"/>
          </p:nvPr>
        </p:nvSpPr>
        <p:spPr/>
        <p:txBody>
          <a:bodyPr/>
          <a:lstStyle/>
          <a:p>
            <a:r>
              <a:rPr lang="es-ES" dirty="0"/>
              <a:t>Herencia</a:t>
            </a:r>
          </a:p>
        </p:txBody>
      </p:sp>
      <p:sp>
        <p:nvSpPr>
          <p:cNvPr id="3" name="Marcador de contenido 2">
            <a:extLst>
              <a:ext uri="{FF2B5EF4-FFF2-40B4-BE49-F238E27FC236}">
                <a16:creationId xmlns:a16="http://schemas.microsoft.com/office/drawing/2014/main" id="{5AEC63F9-F501-47A7-9D10-AD47C26D21C1}"/>
              </a:ext>
            </a:extLst>
          </p:cNvPr>
          <p:cNvSpPr>
            <a:spLocks noGrp="1"/>
          </p:cNvSpPr>
          <p:nvPr>
            <p:ph idx="1"/>
          </p:nvPr>
        </p:nvSpPr>
        <p:spPr/>
        <p:txBody>
          <a:bodyPr>
            <a:normAutofit/>
          </a:bodyPr>
          <a:lstStyle/>
          <a:p>
            <a:r>
              <a:rPr lang="es-ES" dirty="0"/>
              <a:t>La herencia es la propiedad que tienen todas las clases u objetos para compartir las propiedades o comportamiento de la clase a la cual extienden. </a:t>
            </a:r>
          </a:p>
          <a:p>
            <a:r>
              <a:rPr lang="es-ES" dirty="0"/>
              <a:t>Comportamiento se refiere a que tiene los mismos métodos, propiedades y que tiene un mismo ancestro en común.</a:t>
            </a:r>
          </a:p>
        </p:txBody>
      </p:sp>
    </p:spTree>
    <p:extLst>
      <p:ext uri="{BB962C8B-B14F-4D97-AF65-F5344CB8AC3E}">
        <p14:creationId xmlns:p14="http://schemas.microsoft.com/office/powerpoint/2010/main" val="13195244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975513-9628-4C7A-B850-7E5F1D6FCC5D}"/>
              </a:ext>
            </a:extLst>
          </p:cNvPr>
          <p:cNvSpPr>
            <a:spLocks noGrp="1"/>
          </p:cNvSpPr>
          <p:nvPr>
            <p:ph type="title"/>
          </p:nvPr>
        </p:nvSpPr>
        <p:spPr/>
        <p:txBody>
          <a:bodyPr/>
          <a:lstStyle/>
          <a:p>
            <a:r>
              <a:rPr lang="es-ES" dirty="0"/>
              <a:t>Herencia</a:t>
            </a:r>
          </a:p>
        </p:txBody>
      </p:sp>
      <p:sp>
        <p:nvSpPr>
          <p:cNvPr id="3" name="Marcador de contenido 2">
            <a:extLst>
              <a:ext uri="{FF2B5EF4-FFF2-40B4-BE49-F238E27FC236}">
                <a16:creationId xmlns:a16="http://schemas.microsoft.com/office/drawing/2014/main" id="{5AEC63F9-F501-47A7-9D10-AD47C26D21C1}"/>
              </a:ext>
            </a:extLst>
          </p:cNvPr>
          <p:cNvSpPr>
            <a:spLocks noGrp="1"/>
          </p:cNvSpPr>
          <p:nvPr>
            <p:ph idx="1"/>
          </p:nvPr>
        </p:nvSpPr>
        <p:spPr/>
        <p:txBody>
          <a:bodyPr>
            <a:normAutofit/>
          </a:bodyPr>
          <a:lstStyle/>
          <a:p>
            <a:endParaRPr lang="es-ES" dirty="0"/>
          </a:p>
        </p:txBody>
      </p:sp>
      <p:pic>
        <p:nvPicPr>
          <p:cNvPr id="1026" name="Picture 2">
            <a:extLst>
              <a:ext uri="{FF2B5EF4-FFF2-40B4-BE49-F238E27FC236}">
                <a16:creationId xmlns:a16="http://schemas.microsoft.com/office/drawing/2014/main" id="{7A92B2D0-51F0-4F28-A962-C4BF15B682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51997" y="1308696"/>
            <a:ext cx="7978714" cy="42406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94172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975513-9628-4C7A-B850-7E5F1D6FCC5D}"/>
              </a:ext>
            </a:extLst>
          </p:cNvPr>
          <p:cNvSpPr>
            <a:spLocks noGrp="1"/>
          </p:cNvSpPr>
          <p:nvPr>
            <p:ph type="title"/>
          </p:nvPr>
        </p:nvSpPr>
        <p:spPr/>
        <p:txBody>
          <a:bodyPr/>
          <a:lstStyle/>
          <a:p>
            <a:r>
              <a:rPr lang="es-ES" dirty="0"/>
              <a:t>Herencia</a:t>
            </a:r>
          </a:p>
        </p:txBody>
      </p:sp>
      <p:sp>
        <p:nvSpPr>
          <p:cNvPr id="3" name="Marcador de contenido 2">
            <a:extLst>
              <a:ext uri="{FF2B5EF4-FFF2-40B4-BE49-F238E27FC236}">
                <a16:creationId xmlns:a16="http://schemas.microsoft.com/office/drawing/2014/main" id="{5AEC63F9-F501-47A7-9D10-AD47C26D21C1}"/>
              </a:ext>
            </a:extLst>
          </p:cNvPr>
          <p:cNvSpPr>
            <a:spLocks noGrp="1"/>
          </p:cNvSpPr>
          <p:nvPr>
            <p:ph idx="1"/>
          </p:nvPr>
        </p:nvSpPr>
        <p:spPr/>
        <p:txBody>
          <a:bodyPr>
            <a:normAutofit/>
          </a:bodyPr>
          <a:lstStyle/>
          <a:p>
            <a:endParaRPr lang="es-ES" dirty="0"/>
          </a:p>
        </p:txBody>
      </p:sp>
      <p:pic>
        <p:nvPicPr>
          <p:cNvPr id="2050" name="Picture 2" descr="ClaseAnimal">
            <a:extLst>
              <a:ext uri="{FF2B5EF4-FFF2-40B4-BE49-F238E27FC236}">
                <a16:creationId xmlns:a16="http://schemas.microsoft.com/office/drawing/2014/main" id="{F81AF42C-749B-4A1D-B495-97C0234C71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87271" y="1304286"/>
            <a:ext cx="7612052" cy="42066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42038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975513-9628-4C7A-B850-7E5F1D6FCC5D}"/>
              </a:ext>
            </a:extLst>
          </p:cNvPr>
          <p:cNvSpPr>
            <a:spLocks noGrp="1"/>
          </p:cNvSpPr>
          <p:nvPr>
            <p:ph type="title"/>
          </p:nvPr>
        </p:nvSpPr>
        <p:spPr/>
        <p:txBody>
          <a:bodyPr/>
          <a:lstStyle/>
          <a:p>
            <a:r>
              <a:rPr lang="es-ES" dirty="0"/>
              <a:t>Herencia</a:t>
            </a:r>
          </a:p>
        </p:txBody>
      </p:sp>
      <p:sp>
        <p:nvSpPr>
          <p:cNvPr id="3" name="Marcador de contenido 2">
            <a:extLst>
              <a:ext uri="{FF2B5EF4-FFF2-40B4-BE49-F238E27FC236}">
                <a16:creationId xmlns:a16="http://schemas.microsoft.com/office/drawing/2014/main" id="{5AEC63F9-F501-47A7-9D10-AD47C26D21C1}"/>
              </a:ext>
            </a:extLst>
          </p:cNvPr>
          <p:cNvSpPr>
            <a:spLocks noGrp="1"/>
          </p:cNvSpPr>
          <p:nvPr>
            <p:ph idx="1"/>
          </p:nvPr>
        </p:nvSpPr>
        <p:spPr/>
        <p:txBody>
          <a:bodyPr>
            <a:normAutofit/>
          </a:bodyPr>
          <a:lstStyle/>
          <a:p>
            <a:endParaRPr lang="es-ES" dirty="0"/>
          </a:p>
        </p:txBody>
      </p:sp>
      <p:pic>
        <p:nvPicPr>
          <p:cNvPr id="4098" name="Picture 2" descr="ClaseAve">
            <a:extLst>
              <a:ext uri="{FF2B5EF4-FFF2-40B4-BE49-F238E27FC236}">
                <a16:creationId xmlns:a16="http://schemas.microsoft.com/office/drawing/2014/main" id="{8CA0300F-B667-44F4-B32A-8F53486480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50800" y="984391"/>
            <a:ext cx="6562404" cy="45737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19204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975513-9628-4C7A-B850-7E5F1D6FCC5D}"/>
              </a:ext>
            </a:extLst>
          </p:cNvPr>
          <p:cNvSpPr>
            <a:spLocks noGrp="1"/>
          </p:cNvSpPr>
          <p:nvPr>
            <p:ph type="title"/>
          </p:nvPr>
        </p:nvSpPr>
        <p:spPr/>
        <p:txBody>
          <a:bodyPr/>
          <a:lstStyle/>
          <a:p>
            <a:r>
              <a:rPr lang="es-ES" dirty="0"/>
              <a:t>Herencia</a:t>
            </a:r>
          </a:p>
        </p:txBody>
      </p:sp>
      <p:sp>
        <p:nvSpPr>
          <p:cNvPr id="3" name="Marcador de contenido 2">
            <a:extLst>
              <a:ext uri="{FF2B5EF4-FFF2-40B4-BE49-F238E27FC236}">
                <a16:creationId xmlns:a16="http://schemas.microsoft.com/office/drawing/2014/main" id="{5AEC63F9-F501-47A7-9D10-AD47C26D21C1}"/>
              </a:ext>
            </a:extLst>
          </p:cNvPr>
          <p:cNvSpPr>
            <a:spLocks noGrp="1"/>
          </p:cNvSpPr>
          <p:nvPr>
            <p:ph idx="1"/>
          </p:nvPr>
        </p:nvSpPr>
        <p:spPr/>
        <p:txBody>
          <a:bodyPr>
            <a:normAutofit/>
          </a:bodyPr>
          <a:lstStyle/>
          <a:p>
            <a:endParaRPr lang="es-ES" dirty="0"/>
          </a:p>
        </p:txBody>
      </p:sp>
      <p:pic>
        <p:nvPicPr>
          <p:cNvPr id="3074" name="Picture 2" descr="ClasePerro">
            <a:extLst>
              <a:ext uri="{FF2B5EF4-FFF2-40B4-BE49-F238E27FC236}">
                <a16:creationId xmlns:a16="http://schemas.microsoft.com/office/drawing/2014/main" id="{22D2EF1A-B6B7-4BCC-A6A1-5F2C875F4A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48697" y="1592493"/>
            <a:ext cx="6502516" cy="53138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21718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975513-9628-4C7A-B850-7E5F1D6FCC5D}"/>
              </a:ext>
            </a:extLst>
          </p:cNvPr>
          <p:cNvSpPr>
            <a:spLocks noGrp="1"/>
          </p:cNvSpPr>
          <p:nvPr>
            <p:ph type="title"/>
          </p:nvPr>
        </p:nvSpPr>
        <p:spPr/>
        <p:txBody>
          <a:bodyPr/>
          <a:lstStyle/>
          <a:p>
            <a:r>
              <a:rPr lang="es-ES" dirty="0"/>
              <a:t>Herencia</a:t>
            </a:r>
          </a:p>
        </p:txBody>
      </p:sp>
      <p:sp>
        <p:nvSpPr>
          <p:cNvPr id="3" name="Marcador de contenido 2">
            <a:extLst>
              <a:ext uri="{FF2B5EF4-FFF2-40B4-BE49-F238E27FC236}">
                <a16:creationId xmlns:a16="http://schemas.microsoft.com/office/drawing/2014/main" id="{5AEC63F9-F501-47A7-9D10-AD47C26D21C1}"/>
              </a:ext>
            </a:extLst>
          </p:cNvPr>
          <p:cNvSpPr>
            <a:spLocks noGrp="1"/>
          </p:cNvSpPr>
          <p:nvPr>
            <p:ph idx="1"/>
          </p:nvPr>
        </p:nvSpPr>
        <p:spPr/>
        <p:txBody>
          <a:bodyPr>
            <a:normAutofit/>
          </a:bodyPr>
          <a:lstStyle/>
          <a:p>
            <a:endParaRPr lang="es-ES" dirty="0"/>
          </a:p>
        </p:txBody>
      </p:sp>
      <p:pic>
        <p:nvPicPr>
          <p:cNvPr id="6146" name="Picture 2" descr="HerenciaClases">
            <a:extLst>
              <a:ext uri="{FF2B5EF4-FFF2-40B4-BE49-F238E27FC236}">
                <a16:creationId xmlns:a16="http://schemas.microsoft.com/office/drawing/2014/main" id="{78B3C4BD-7712-4A05-B0FB-B60B7534D7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0192" y="1757415"/>
            <a:ext cx="7271962" cy="33899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8458557"/>
      </p:ext>
    </p:extLst>
  </p:cSld>
  <p:clrMapOvr>
    <a:masterClrMapping/>
  </p:clrMapOvr>
</p:sld>
</file>

<file path=ppt/theme/theme1.xml><?xml version="1.0" encoding="utf-8"?>
<a:theme xmlns:a="http://schemas.openxmlformats.org/drawingml/2006/main" name="Marco">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docProps/app.xml><?xml version="1.0" encoding="utf-8"?>
<Properties xmlns="http://schemas.openxmlformats.org/officeDocument/2006/extended-properties" xmlns:vt="http://schemas.openxmlformats.org/officeDocument/2006/docPropsVTypes">
  <Template>TM03457475[[fn=Marco]]</Template>
  <TotalTime>4140</TotalTime>
  <Words>981</Words>
  <Application>Microsoft Office PowerPoint</Application>
  <PresentationFormat>Panorámica</PresentationFormat>
  <Paragraphs>87</Paragraphs>
  <Slides>18</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18</vt:i4>
      </vt:variant>
    </vt:vector>
  </HeadingPairs>
  <TitlesOfParts>
    <vt:vector size="21" baseType="lpstr">
      <vt:lpstr>Corbel</vt:lpstr>
      <vt:lpstr>Wingdings 2</vt:lpstr>
      <vt:lpstr>Marco</vt:lpstr>
      <vt:lpstr>Desarrollo de aplicaciones con Java</vt:lpstr>
      <vt:lpstr>Lenguaje de programación Java</vt:lpstr>
      <vt:lpstr>Lenguaje de programación Java</vt:lpstr>
      <vt:lpstr>Lenguaje de programación Java</vt:lpstr>
      <vt:lpstr>Programación Orientada a Objetos</vt:lpstr>
      <vt:lpstr>Programación Orientada a Objetos</vt:lpstr>
      <vt:lpstr>Programación Orientada a Objetos</vt:lpstr>
      <vt:lpstr>Programación Orientada a Objetos</vt:lpstr>
      <vt:lpstr>Objetos en POO</vt:lpstr>
      <vt:lpstr>Estados en objetos</vt:lpstr>
      <vt:lpstr>Mensajes en objetos</vt:lpstr>
      <vt:lpstr>Herencia</vt:lpstr>
      <vt:lpstr>Herencia</vt:lpstr>
      <vt:lpstr>Herencia</vt:lpstr>
      <vt:lpstr>Herencia</vt:lpstr>
      <vt:lpstr>Herencia</vt:lpstr>
      <vt:lpstr>Herencia</vt:lpstr>
      <vt:lpstr>Herencia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Desarrollo de aplicaciones móviles con Android</dc:title>
  <dc:creator>Victor Acosta</dc:creator>
  <cp:lastModifiedBy>Victor Acosta</cp:lastModifiedBy>
  <cp:revision>10</cp:revision>
  <dcterms:created xsi:type="dcterms:W3CDTF">2021-02-10T09:46:12Z</dcterms:created>
  <dcterms:modified xsi:type="dcterms:W3CDTF">2021-05-22T04:48:23Z</dcterms:modified>
</cp:coreProperties>
</file>